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7" d="100"/>
          <a:sy n="87" d="100"/>
        </p:scale>
        <p:origin x="24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Hello everyone. I'm Haichao Zhang from Xi'an Jiaotong-Liverpool University. Today I'll present our work on recommendation unlearning under limited model access.</a:t>
            </a:r>
          </a:p>
          <a:p/>
          <a:p>
            <a:r>
              <a:t xml:space="preserve">We look at a practical problem: a user wants us to forget an interaction, but we don't control the model that uses it. Our approach first explains the recommendation, then uses that explanation to adjust the ranking.</a:t>
            </a:r>
          </a:p>
          <a:p/>
          <a:p>
            <a:r>
              <a:t xml:space="preserve">SOURCE / VERIFICATION (not spoken)</a:t>
            </a:r>
          </a:p>
          <a:p>
            <a:r>
              <a:t xml:space="preserve">Paper p. 1, title and author block.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I'll start with the access problem and our contributions, then spend most of the talk on the method. I'll explain how we identify the interactions behind a recommendation and how we use that information when a forgetting request arrives.</a:t>
            </a:r>
          </a:p>
          <a:p/>
          <a:p>
            <a:r>
              <a:t xml:space="preserve">After that, I'll briefly cover the experiments and discuss the limits of the approach.</a:t>
            </a:r>
          </a:p>
          <a:p/>
          <a:p>
            <a:r>
              <a:t xml:space="preserve">SOURCE / VERIFICATION (not spoken)</a:t>
            </a:r>
          </a:p>
          <a:p>
            <a:r>
              <a:t xml:space="preserve">Paper Sections I–V.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Imagine a user clicks on a computer mouse by mistake. The recommender may interpret that click as an interest in gaming accessories and start suggesting related products.</a:t>
            </a:r>
          </a:p>
          <a:p/>
          <a:p>
            <a:r>
              <a:t xml:space="preserve">Later, the user asks us to forget the click. Simply hiding that mouse leaves a problem: the same interaction may still be supporting other recommendations.</a:t>
            </a:r>
          </a:p>
          <a:p/>
          <a:p>
            <a:r>
              <a:t xml:space="preserve">We want to reduce that influence while keeping the user's other interests intact. That means identifying which recommendations actually depend on the unwanted interaction, rather than changing the whole list.</a:t>
            </a:r>
          </a:p>
          <a:p/>
          <a:p>
            <a:r>
              <a:t xml:space="preserve">SOURCE / VERIFICATION (not spoken)</a:t>
            </a:r>
          </a:p>
          <a:p>
            <a:r>
              <a:t xml:space="preserve">Paper §I and Fig. 1; supplied introduction.pdf.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Now consider a platform that uses a remotely hosted recommendation model. The model provider trains and hosts it. The service operator runs the application and gets recommendations through an API.</a:t>
            </a:r>
          </a:p>
          <a:p/>
          <a:p>
            <a:r>
              <a:t xml:space="preserve">The user sends the forgetting request to the operator, but the operator cannot update the model's parameters. The request and the ability to change the model sit with different parties. This is the asymmetric access constraint.</a:t>
            </a:r>
          </a:p>
          <a:p/>
          <a:p>
            <a:r>
              <a:t xml:space="preserve">Our approach assumes that the provider cooperates by supplying explanations through an attribution API. The operator can use those explanations to change the final ranking without receiving the model's weights or gradients.</a:t>
            </a:r>
          </a:p>
          <a:p/>
          <a:p>
            <a:r>
              <a:t xml:space="preserve">SOURCE / VERIFICATION (not spoken)</a:t>
            </a:r>
          </a:p>
          <a:p>
            <a:r>
              <a:t xml:space="preserve">Paper §I and §III-A. CCI is hosted by the model provider and exposed through a dedicated attribution API.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Most existing methods need some form of model update. Retraining rebuilds the model or the affected partitions. Fine tuning changes selected components. Influence-based methods estimate a correction to the parameters.</a:t>
            </a:r>
          </a:p>
          <a:p/>
          <a:p>
            <a:r>
              <a:t xml:space="preserve">These approaches have different costs, but each requires access the operator does not have. We therefore focus on the ranking scores, which the operator can control. The remaining question is how to decide which scores to change, and by how much.</a:t>
            </a:r>
          </a:p>
          <a:p/>
          <a:p>
            <a:r>
              <a:t xml:space="preserve">SOURCE / VERIFICATION (not spoken)</a:t>
            </a:r>
          </a:p>
          <a:p>
            <a:r>
              <a:t xml:space="preserve">Paper §I and §IV-A baselines. The categories require parameter access or provider-side updates. Output control and explanatory API motivate CEU.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We propose an explain-then-forget framework that separates provider-side explanation from operator-side score adjustment.</a:t>
            </a:r>
          </a:p>
          <a:p/>
          <a:p>
            <a:r>
              <a:t xml:space="preserve">The Causal Contribution Identifier, or CCI, finds a small set of historical interactions that support each recommendation. It also assigns a contribution weight to each interaction.</a:t>
            </a:r>
          </a:p>
          <a:p/>
          <a:p>
            <a:r>
              <a:t xml:space="preserve">The Unlearning-driven Rank Adjuster, or URA, uses those weights when a user asks to forget an interaction. It adjusts the affected scores and produces a new ranking. The experiments examine whether this division of work preserves useful recommendations while reducing membership evidence and online cost.</a:t>
            </a:r>
          </a:p>
          <a:p/>
          <a:p>
            <a:r>
              <a:t xml:space="preserve">SOURCE / VERIFICATION (not spoken)</a:t>
            </a:r>
          </a:p>
          <a:p>
            <a:r>
              <a:t xml:space="preserve">Paper §I contributions and §III-A–C. Contribution wording is a talk-level synthesis, not a formal guarantee of deletion.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We split the training interactions into those to forget and those to retain. A model retrained on the retained interactions gives us a reference for comparison.</a:t>
            </a:r>
          </a:p>
          <a:p/>
          <a:p>
            <a:r>
              <a:t xml:space="preserve">We assess forgetting, recommendation utility, and computation time together. For forgetting, we test whether an attacker can still infer that a forgotten interaction was part of the training data. For utility, we check whether the remaining recommendations are useful.</a:t>
            </a:r>
          </a:p>
          <a:p/>
          <a:p>
            <a:r>
              <a:t xml:space="preserve">That joint evaluation matters. An attack can become less accurate simply because the ranking has been badly damaged. We need to reduce the unwanted signal while preserving the information we still want to use.</a:t>
            </a:r>
          </a:p>
          <a:p/>
          <a:p>
            <a:r>
              <a:t xml:space="preserve">SOURCE / VERIFICATION (not spoken)</a:t>
            </a:r>
          </a:p>
          <a:p>
            <a:r>
              <a:t xml:space="preserve">Paper §II-A, G1–G3. Retraining on the retained set is an empirical reference.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This diagram shows the full framework, which we call Causal Explanation-based Unlearning, or CEU.</a:t>
            </a:r>
          </a:p>
          <a:p/>
          <a:p>
            <a:r>
              <a:t xml:space="preserve">The provider starts with a user and a candidate item. It identifies the historical interactions supporting that recommendation and returns their contribution weights. When a forgetting request arrives, the operator checks those explanations, adjusts the relevant scores, and sorts the candidates again.</a:t>
            </a:r>
          </a:p>
          <a:p/>
          <a:p>
            <a:r>
              <a:t xml:space="preserve">The pretrained recommender stays fixed throughout. I'll now go through the explanation stage, then show how its output determines the ranking adjustment.</a:t>
            </a:r>
          </a:p>
          <a:p/>
          <a:p>
            <a:r>
              <a:t xml:space="preserve">SOURCE / VERIFICATION (not spoken)</a:t>
            </a:r>
          </a:p>
          <a:p>
            <a:r>
              <a:t xml:space="preserve">Paper §III-A and Fig. 3; supplied framework.pdf.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For one recommended item, we ask what would happen if we suppressed part of the user's history. Would its score change enough for it to leave the top-K list?</a:t>
            </a:r>
          </a:p>
          <a:p/>
          <a:p>
            <a:r>
              <a:t xml:space="preserve">We look for a small set of interactions that can produce that change. This gives us a counterfactual explanation of the recommendation, relative to the fixed model.</a:t>
            </a:r>
          </a:p>
          <a:p/>
          <a:p>
            <a:r>
              <a:t xml:space="preserve">Searching every possible subset would be expensive. We approximate that search with a continuous mask and a sparsity objective. The support set comes from this optimization, rather than from an exhaustive search or a guarantee of fully identified causality.</a:t>
            </a:r>
          </a:p>
          <a:p/>
          <a:p>
            <a:r>
              <a:t xml:space="preserve">SOURCE / VERIFICATION (not spoken)</a:t>
            </a:r>
          </a:p>
          <a:p>
            <a:r>
              <a:t xml:space="preserve">Paper §III-B1. The implementation uses a sparse continuous-mask approximation to the minimum-support objective.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Each historical interaction gets a mask value between zero and one. A value of one keeps it fully active. Lower values suppress its contribution to the counterfactual user representation.</a:t>
            </a:r>
          </a:p>
          <a:p/>
          <a:p>
            <a:r>
              <a:t xml:space="preserve">The table gives a simple example. The masks are one, zero point eight, and zero point two. Subtracting each from one gives contribution weights of zero, zero point two, and zero point eight.</a:t>
            </a:r>
          </a:p>
          <a:p/>
          <a:p>
            <a:r>
              <a:t xml:space="preserve">We optimize these mask values to explain one candidate item. The recommender's parameters stay fixed. The provider still needs model access to compute the explanation, even though it does not update the model.</a:t>
            </a:r>
          </a:p>
          <a:p/>
          <a:p>
            <a:r>
              <a:t xml:space="preserve">SOURCE / VERIFICATION (not spoken)</a:t>
            </a:r>
          </a:p>
          <a:p>
            <a:r>
              <a:t xml:space="preserve">Paper §III-B2. Mask example [1.0,0.8,0.2] is illustrative, not fitted data; contribution w=1−P.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The objective balances a change in the recommendation against the size of the change to the history.</a:t>
            </a:r>
          </a:p>
          <a:p/>
          <a:p>
            <a:r>
              <a:t xml:space="preserve">The flip loss pushes the masked target score below a boundary with a positive margin. We use the original score at rank K plus one as that boundary. Once the margin condition is met, this part of the loss becomes zero.</a:t>
            </a:r>
          </a:p>
          <a:p/>
          <a:p>
            <a:r>
              <a:t xml:space="preserve">The L-one penalty discourages large or widespread changes to the mask. Lambda controls its weight relative to the flip loss. The provider minimizes the combined objective using gradients, updating only the mask.</a:t>
            </a:r>
          </a:p>
          <a:p/>
          <a:p>
            <a:r>
              <a:t xml:space="preserve">SOURCE / VERIFICATION (not spoken)</a:t>
            </a:r>
          </a:p>
          <a:p>
            <a:r>
              <a:t xml:space="preserve">Paper §III-B2 and Algorithm1: max(0,m+f(u^(P),i|θ)−f(u,i_K+1|θ))+λ||1−P||1.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After optimization, we turn the mask into an explanation the operator can use. Each contribution weight is one minus the corresponding mask value. We include an interaction in the support set when its weight exceeds the small threshold delta.</a:t>
            </a:r>
          </a:p>
          <a:p/>
          <a:p>
            <a:r>
              <a:t xml:space="preserve">The threshold decides membership of the set. The weight describes the strength of the attributed contribution. These serve different purposes.</a:t>
            </a:r>
          </a:p>
          <a:p/>
          <a:p>
            <a:r>
              <a:t xml:space="preserve">The API returns both for each user and candidate item. The operator can then check whether the interaction to be forgotten belongs to the support set, and retrieve its weight. It does not need the underlying parameters or gradients.</a:t>
            </a:r>
          </a:p>
          <a:p/>
          <a:p>
            <a:r>
              <a:t xml:space="preserve">SOURCE / VERIFICATION (not spoken)</a:t>
            </a:r>
          </a:p>
          <a:p>
            <a:r>
              <a:t xml:space="preserve">Paper §III-B2, Eq. support threshold P_uh&lt;1−δ, w_ui(h)=1−P_uh. E_ui=(S*_ui,w_ui).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Suppose a user now asks us to forget one interaction. For each candidate item, the operator checks its support set. If the interaction is outside that set, the score stays unchanged.</a:t>
            </a:r>
          </a:p>
          <a:p/>
          <a:p>
            <a:r>
              <a:t xml:space="preserve">If it belongs to the set, we multiply the original score by one minus alpha times its contribution weight. A larger weight produces a stronger adjustment, and alpha sets the overall intervention strength.</a:t>
            </a:r>
          </a:p>
          <a:p/>
          <a:p>
            <a:r>
              <a:t xml:space="preserve">We then sort the adjusted scores to obtain the new ranking. With the explanations available, this stage needs only score calculations and sorting. It does not require another model update.</a:t>
            </a:r>
          </a:p>
          <a:p/>
          <a:p>
            <a:r>
              <a:t xml:space="preserve">SOURCE / VERIFICATION (not spoken)</a:t>
            </a:r>
          </a:p>
          <a:p>
            <a:r>
              <a:t xml:space="preserve">Paper §III-C and Appendix Algorithm 2. The displayed multiplicative rule applies when h_f is in S*_ui.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Here alpha is one half. Start with candidate A. Its original score is zero point nine, and its contribution weight is zero point eight. Applying the rule gives an adjusted score of zero point five four.</a:t>
            </a:r>
          </a:p>
          <a:p/>
          <a:p>
            <a:r>
              <a:t xml:space="preserve">Candidate B has weight zero, so it keeps its score of zero point eight.</a:t>
            </a:r>
          </a:p>
          <a:p/>
          <a:p>
            <a:r>
              <a:t xml:space="preserve">For candidate C, a score of zero point seven and a weight of zero point two give zero point six three.</a:t>
            </a:r>
          </a:p>
          <a:p/>
          <a:p>
            <a:r>
              <a:t xml:space="preserve">The ranking changes from A, B, C to B, C, A. B is preserved because the forgotten interaction does not support it. This is an illustrative example of the rule.</a:t>
            </a:r>
          </a:p>
          <a:p/>
          <a:p>
            <a:r>
              <a:t xml:space="preserve">SOURCE / VERIFICATION (not spoken)</a:t>
            </a:r>
          </a:p>
          <a:p>
            <a:r>
              <a:t xml:space="preserve">Illustrative arithmetic, not an experimental result. α=0.5; y′=y(1−αw). A: 0.9→0.54; B: 0.8→0.8; C: 0.7→0.63.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In deployment, the provider produces the candidate scores and explanations. It can prepare explanations ahead of time and cache them, or compute them when needed.</a:t>
            </a:r>
          </a:p>
          <a:p/>
          <a:p>
            <a:r>
              <a:t xml:space="preserve">When a request arrives, the operator retrieves the explanations for the current candidates, checks the support sets, adjusts the relevant scores, and returns the new ranking.</a:t>
            </a:r>
          </a:p>
          <a:p/>
          <a:p>
            <a:r>
              <a:t xml:space="preserve">Caching makes that online path inexpensive, but explanation preparation still has a cost. The explanations must also match the current model and candidate context. If that context changes, the cache may need to be refreshed.</a:t>
            </a:r>
          </a:p>
          <a:p/>
          <a:p>
            <a:r>
              <a:t xml:space="preserve">SOURCE / VERIFICATION (not spoken)</a:t>
            </a:r>
          </a:p>
          <a:p>
            <a:r>
              <a:t xml:space="preserve">Paper §III-C and §IV-D, CCI offline/on-demand deployment. Cache freshness is a practical implication, not a reported experiment.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I'll keep the experimental summary brief. We evaluate BPR and LightGCN on three datasets. The two rows here use LightGCN with one percent of interactions forgotten.</a:t>
            </a:r>
          </a:p>
          <a:p/>
          <a:p>
            <a:r>
              <a:t xml:space="preserve">On MovieLens one M, hit ratio at ten changes from about seventy-six point eight percent to seventy-five point eight percent. Membership-attack accuracy falls from about ninety-six point eight percent to forty-seven point nine percent.</a:t>
            </a:r>
          </a:p>
          <a:p/>
          <a:p>
            <a:r>
              <a:t xml:space="preserve">Netflix also shows little change in recommendation utility and much lower attack accuracy. Its attack accuracy remains above the fifty-percent chance reference, however. The results show a useful balance between utility and forgetting, with residual gaps in some settings.</a:t>
            </a:r>
          </a:p>
          <a:p/>
          <a:p>
            <a:r>
              <a:t xml:space="preserve">SOURCE / VERIFICATION (not spoken)</a:t>
            </a:r>
          </a:p>
          <a:p>
            <a:r>
              <a:t xml:space="preserve">Paper TablesI andIII. LightGCN1% ML1M HR .7680→.7584, ACC .9678→.4789; Netflix HR .8647→.8627, ACC .9885→.5581. ML100K LightGCN1%ACC .7370 vsRetrain .5342.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With explanations already available, online latency ranges from zero point three four to six point three seven seconds. In the latency table, that is roughly nine to fifty-three times faster than the next best method, depending on the setting.</a:t>
            </a:r>
          </a:p>
          <a:p/>
          <a:p>
            <a:r>
              <a:t xml:space="preserve">Preparation is measured separately. Computing the explanations takes about three to ten seconds per user on an RTX forty ninety. Those costs should be kept separate when interpreting the online speedup.</a:t>
            </a:r>
          </a:p>
          <a:p/>
          <a:p>
            <a:r>
              <a:t xml:space="preserve">The ablation compares our targeting with random penalties and penalties on unrelated candidates. Those alternatives damage recommendation utility much more. The explanation matters because it helps the operator choose where to intervene.</a:t>
            </a:r>
          </a:p>
          <a:p/>
          <a:p>
            <a:r>
              <a:t xml:space="preserve">SOURCE / VERIFICATION (not spoken)</a:t>
            </a:r>
          </a:p>
          <a:p>
            <a:r>
              <a:t xml:space="preserve">Paper TableV online0.34–6.37s, speedup9.31–52.74x; TableIV per-userCCI3.10–10.10s onRTX4090. Fig4 exp4_utility axesK1,3,5; trends only.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This framework requires the provider to supply attributions. An API that returns scores alone is not enough.</a:t>
            </a:r>
          </a:p>
          <a:p/>
          <a:p>
            <a:r>
              <a:t xml:space="preserve">The intervention changes observable scores and rankings while leaving model parameters in place. The causal explanation motivates the adjustment, but the paper does not establish full causal identification or certified deletion from the weights.</a:t>
            </a:r>
          </a:p>
          <a:p/>
          <a:p>
            <a:r>
              <a:t xml:space="preserve">Our evidence comes from recommendation quality, membership attacks, timing, and ablations. Stronger attackers, cache refresh, and long sequences of forgetting requests remain questions for further evaluation.</a:t>
            </a:r>
          </a:p>
          <a:p/>
          <a:p>
            <a:r>
              <a:t xml:space="preserve">SOURCE / VERIFICATION (not spoken)</a:t>
            </a:r>
          </a:p>
          <a:p>
            <a:r>
              <a:t xml:space="preserve">Paper §II-B explicitly says causally motivated rather than fully identified. §III-A provider-hosted CCI. TableIII residual gaps. Appendix ratios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The main idea is to explain the recommendation before changing it. When model access is split between a provider and an operator, those explanations give the operator information it can act on.</a:t>
            </a:r>
          </a:p>
          <a:p/>
          <a:p>
            <a:r>
              <a:t xml:space="preserve">They identify the candidates supported by the unwanted interaction and guide the size of the score adjustment. In our experiments, this preserves useful recommendations while reducing membership evidence and keeping the online stage inexpensive.</a:t>
            </a:r>
          </a:p>
          <a:p/>
          <a:p>
            <a:r>
              <a:t xml:space="preserve">The quality of the explanation is central to that balance. With that interface, the operator has a way to respond to a forgetting request without updating the model.</a:t>
            </a:r>
          </a:p>
          <a:p/>
          <a:p>
            <a:r>
              <a:t xml:space="preserve">SOURCE / VERIFICATION (not spoken)</a:t>
            </a:r>
          </a:p>
          <a:p>
            <a:r>
              <a:t xml:space="preserve">Paper §V; synthesis grounded in method and reported experiments.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 xml:space="preserve">Thank you for listening. The code and my contact details are shown here.</a:t>
            </a:r>
          </a:p>
          <a:p/>
          <a:p>
            <a:r>
              <a:t xml:space="preserve">SOURCE / VERIFICATION (not spoken)</a:t>
            </a:r>
          </a:p>
          <a:p>
            <a:r>
              <a:t xml:space="preserve">Paper author/contact block and code URL. GitHub link is from the supplied paper, not an independent implementation verification.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4597DF-900D-40C2-9C80-7C27872254A6}"/>
              </a:ext>
            </a:extLst>
          </p:cNvPr>
          <p:cNvSpPr>
            <a:spLocks noGrp="1"/>
          </p:cNvSpPr>
          <p:nvPr>
            <p:ph type="ctrTitle"/>
          </p:nvPr>
        </p:nvSpPr>
        <p:spPr>
          <a:xfrm>
            <a:off x="1524000" y="1122363"/>
            <a:ext cx="9144000" cy="2387600"/>
          </a:xfrm>
          <a:prstGeom prst="rect">
            <a:avLst/>
          </a:prstGeom>
        </p:spPr>
        <p:txBody>
          <a:bodyPr anchor="b"/>
          <a:lstStyle>
            <a:lvl1pPr algn="ctr">
              <a:buNone/>
              <a:defRPr sz="6000"/>
            </a:lvl1pPr>
          </a:lstStyle>
          <a:p>
            <a:r>
              <a:t>单击此处编辑母版标题样式</a:t>
            </a:r>
          </a:p>
        </p:txBody>
      </p:sp>
      <p:sp>
        <p:nvSpPr>
          <p:cNvPr id="3" name="副标题 2">
            <a:extLst>
              <a:ext uri="{FF2B5EF4-FFF2-40B4-BE49-F238E27FC236}">
                <a16:creationId xmlns:a16="http://schemas.microsoft.com/office/drawing/2014/main" id="{BDCCFBC8-D61C-4C54-A213-586239DCF3A6}"/>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a:extLst>
              <a:ext uri="{FF2B5EF4-FFF2-40B4-BE49-F238E27FC236}">
                <a16:creationId xmlns:a16="http://schemas.microsoft.com/office/drawing/2014/main" id="{A471646C-4C97-4555-A657-93CDC560C626}"/>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5" name="页脚占位符 4">
            <a:extLst>
              <a:ext uri="{FF2B5EF4-FFF2-40B4-BE49-F238E27FC236}">
                <a16:creationId xmlns:a16="http://schemas.microsoft.com/office/drawing/2014/main" id="{C9A5BA86-730E-47BC-BC87-6F8987EA2125}"/>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灯片编号占位符 5">
            <a:extLst>
              <a:ext uri="{FF2B5EF4-FFF2-40B4-BE49-F238E27FC236}">
                <a16:creationId xmlns:a16="http://schemas.microsoft.com/office/drawing/2014/main" id="{B7D5F1B8-DD64-4173-86A3-D390093855F5}"/>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F701D1-CD57-4CC4-BE1C-E54F3A3130A7}"/>
              </a:ext>
            </a:extLst>
          </p:cNvPr>
          <p:cNvSpPr>
            <a:spLocks noGrp="1"/>
          </p:cNvSpPr>
          <p:nvPr>
            <p:ph type="title"/>
          </p:nvPr>
        </p:nvSpPr>
        <p:spPr>
          <a:xfrm>
            <a:off x="838200" y="365125"/>
            <a:ext cx="10515600" cy="1325563"/>
          </a:xfrm>
          <a:prstGeom prst="rect">
            <a:avLst/>
          </a:prstGeom>
        </p:spPr>
        <p:txBody>
          <a:bodyPr/>
          <a:lstStyle/>
          <a:p>
            <a:r>
              <a:t>单击此处编辑母版标题样式</a:t>
            </a:r>
          </a:p>
        </p:txBody>
      </p:sp>
      <p:sp>
        <p:nvSpPr>
          <p:cNvPr id="3" name="内容占位符 2">
            <a:extLst>
              <a:ext uri="{FF2B5EF4-FFF2-40B4-BE49-F238E27FC236}">
                <a16:creationId xmlns:a16="http://schemas.microsoft.com/office/drawing/2014/main" id="{48BE6145-7A5E-48B2-944E-107DE56FF7CA}"/>
              </a:ext>
            </a:extLst>
          </p:cNvPr>
          <p:cNvSpPr>
            <a:spLocks noGrp="1"/>
          </p:cNvSpPr>
          <p:nvPr>
            <p:ph idx="1"/>
          </p:nvPr>
        </p:nvSpPr>
        <p:spPr>
          <a:xfrm>
            <a:off x="838200" y="1825625"/>
            <a:ext cx="10515600" cy="4351338"/>
          </a:xfrm>
          <a:prstGeom prst="rect">
            <a:avLst/>
          </a:prstGeo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8AA99145-C2C9-4965-A177-3E223D384E15}"/>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5" name="页脚占位符 4">
            <a:extLst>
              <a:ext uri="{FF2B5EF4-FFF2-40B4-BE49-F238E27FC236}">
                <a16:creationId xmlns:a16="http://schemas.microsoft.com/office/drawing/2014/main" id="{D06AA053-C1F2-45BF-8459-7E45A6DE8B4E}"/>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灯片编号占位符 5">
            <a:extLst>
              <a:ext uri="{FF2B5EF4-FFF2-40B4-BE49-F238E27FC236}">
                <a16:creationId xmlns:a16="http://schemas.microsoft.com/office/drawing/2014/main" id="{76C98695-2BBA-4D59-98DB-26D5CCB1FFB9}"/>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F6DF27F-7A90-4C72-AEEB-F777BE76ACFE}"/>
              </a:ext>
            </a:extLst>
          </p:cNvPr>
          <p:cNvSpPr>
            <a:spLocks noGrp="1"/>
          </p:cNvSpPr>
          <p:nvPr>
            <p:ph type="title"/>
          </p:nvPr>
        </p:nvSpPr>
        <p:spPr>
          <a:xfrm>
            <a:off x="831850" y="1709738"/>
            <a:ext cx="10515600" cy="2852737"/>
          </a:xfrm>
          <a:prstGeom prst="rect">
            <a:avLst/>
          </a:prstGeom>
        </p:spPr>
        <p:txBody>
          <a:bodyPr anchor="b"/>
          <a:lstStyle>
            <a:lvl1pPr>
              <a:buNone/>
              <a:defRPr sz="6000"/>
            </a:lvl1pPr>
          </a:lstStyle>
          <a:p>
            <a:r>
              <a:t>单击此处编辑母版标题样式</a:t>
            </a:r>
          </a:p>
        </p:txBody>
      </p:sp>
      <p:sp>
        <p:nvSpPr>
          <p:cNvPr id="3" name="文本占位符 2">
            <a:extLst>
              <a:ext uri="{FF2B5EF4-FFF2-40B4-BE49-F238E27FC236}">
                <a16:creationId xmlns:a16="http://schemas.microsoft.com/office/drawing/2014/main" id="{07DB1330-E2FD-432A-851F-8DF9B55DD4B2}"/>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单击此处编辑母版文本样式</a:t>
            </a:r>
          </a:p>
        </p:txBody>
      </p:sp>
      <p:sp>
        <p:nvSpPr>
          <p:cNvPr id="4" name="日期占位符 3">
            <a:extLst>
              <a:ext uri="{FF2B5EF4-FFF2-40B4-BE49-F238E27FC236}">
                <a16:creationId xmlns:a16="http://schemas.microsoft.com/office/drawing/2014/main" id="{491E4A47-B24C-4FF6-8C93-A0BC7C6209C9}"/>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5" name="页脚占位符 4">
            <a:extLst>
              <a:ext uri="{FF2B5EF4-FFF2-40B4-BE49-F238E27FC236}">
                <a16:creationId xmlns:a16="http://schemas.microsoft.com/office/drawing/2014/main" id="{4AEF7301-6A6E-4B54-9AC8-22D7B8B8273A}"/>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灯片编号占位符 5">
            <a:extLst>
              <a:ext uri="{FF2B5EF4-FFF2-40B4-BE49-F238E27FC236}">
                <a16:creationId xmlns:a16="http://schemas.microsoft.com/office/drawing/2014/main" id="{03028F6D-E2FA-40FC-AD8C-7B2F11126898}"/>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4CF33-F244-418F-A9D3-A2D4205F9C57}"/>
              </a:ext>
            </a:extLst>
          </p:cNvPr>
          <p:cNvSpPr>
            <a:spLocks noGrp="1"/>
          </p:cNvSpPr>
          <p:nvPr>
            <p:ph type="title"/>
          </p:nvPr>
        </p:nvSpPr>
        <p:spPr>
          <a:xfrm>
            <a:off x="838200" y="365125"/>
            <a:ext cx="10515600" cy="1325563"/>
          </a:xfrm>
          <a:prstGeom prst="rect">
            <a:avLst/>
          </a:prstGeom>
        </p:spPr>
        <p:txBody>
          <a:bodyPr/>
          <a:lstStyle/>
          <a:p>
            <a:r>
              <a:t>单击此处编辑母版标题样式</a:t>
            </a:r>
          </a:p>
        </p:txBody>
      </p:sp>
      <p:sp>
        <p:nvSpPr>
          <p:cNvPr id="3" name="内容占位符 2">
            <a:extLst>
              <a:ext uri="{FF2B5EF4-FFF2-40B4-BE49-F238E27FC236}">
                <a16:creationId xmlns:a16="http://schemas.microsoft.com/office/drawing/2014/main" id="{5942D610-7800-417E-A156-43607FE7B6B4}"/>
              </a:ext>
            </a:extLst>
          </p:cNvPr>
          <p:cNvSpPr>
            <a:spLocks noGrp="1"/>
          </p:cNvSpPr>
          <p:nvPr>
            <p:ph idx="1"/>
          </p:nvPr>
        </p:nvSpPr>
        <p:spPr>
          <a:xfrm>
            <a:off x="838200" y="1825625"/>
            <a:ext cx="5181600" cy="4351338"/>
          </a:xfrm>
          <a:prstGeom prst="rect">
            <a:avLst/>
          </a:prstGeo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a:extLst>
              <a:ext uri="{FF2B5EF4-FFF2-40B4-BE49-F238E27FC236}">
                <a16:creationId xmlns:a16="http://schemas.microsoft.com/office/drawing/2014/main" id="{3A92864E-8E3C-4830-96C9-0816BF1DB5EC}"/>
              </a:ext>
            </a:extLst>
          </p:cNvPr>
          <p:cNvSpPr>
            <a:spLocks noGrp="1"/>
          </p:cNvSpPr>
          <p:nvPr>
            <p:ph idx="2"/>
          </p:nvPr>
        </p:nvSpPr>
        <p:spPr>
          <a:xfrm>
            <a:off x="6172200" y="1825625"/>
            <a:ext cx="5181600" cy="4351338"/>
          </a:xfrm>
          <a:prstGeom prst="rect">
            <a:avLst/>
          </a:prstGeo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a:extLst>
              <a:ext uri="{FF2B5EF4-FFF2-40B4-BE49-F238E27FC236}">
                <a16:creationId xmlns:a16="http://schemas.microsoft.com/office/drawing/2014/main" id="{0364B9C8-0190-4908-ACA0-96845A636E08}"/>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6" name="页脚占位符 5">
            <a:extLst>
              <a:ext uri="{FF2B5EF4-FFF2-40B4-BE49-F238E27FC236}">
                <a16:creationId xmlns:a16="http://schemas.microsoft.com/office/drawing/2014/main" id="{F3B57398-C126-49D0-AB70-31B77E388236}"/>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灯片编号占位符 6">
            <a:extLst>
              <a:ext uri="{FF2B5EF4-FFF2-40B4-BE49-F238E27FC236}">
                <a16:creationId xmlns:a16="http://schemas.microsoft.com/office/drawing/2014/main" id="{9749D6D0-D1EA-4F56-9AD0-C2E75FFD4807}"/>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1B9BDC-0EBD-4C12-A0AD-DA22A824DB52}"/>
              </a:ext>
            </a:extLst>
          </p:cNvPr>
          <p:cNvSpPr>
            <a:spLocks noGrp="1"/>
          </p:cNvSpPr>
          <p:nvPr>
            <p:ph type="title"/>
          </p:nvPr>
        </p:nvSpPr>
        <p:spPr>
          <a:xfrm>
            <a:off x="839788" y="365125"/>
            <a:ext cx="10515600" cy="1325563"/>
          </a:xfrm>
          <a:prstGeom prst="rect">
            <a:avLst/>
          </a:prstGeom>
        </p:spPr>
        <p:txBody>
          <a:bodyPr/>
          <a:lstStyle/>
          <a:p>
            <a:r>
              <a:t>单击此处编辑母版标题样式</a:t>
            </a:r>
          </a:p>
        </p:txBody>
      </p:sp>
      <p:sp>
        <p:nvSpPr>
          <p:cNvPr id="3" name="文本占位符 2">
            <a:extLst>
              <a:ext uri="{FF2B5EF4-FFF2-40B4-BE49-F238E27FC236}">
                <a16:creationId xmlns:a16="http://schemas.microsoft.com/office/drawing/2014/main" id="{4BC88218-17AF-46B8-B60A-46BFB22FA71C}"/>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4" name="内容占位符 3">
            <a:extLst>
              <a:ext uri="{FF2B5EF4-FFF2-40B4-BE49-F238E27FC236}">
                <a16:creationId xmlns:a16="http://schemas.microsoft.com/office/drawing/2014/main" id="{F29B60E8-B31F-4F95-88AE-12E5CA7B8859}"/>
              </a:ext>
            </a:extLst>
          </p:cNvPr>
          <p:cNvSpPr>
            <a:spLocks noGrp="1"/>
          </p:cNvSpPr>
          <p:nvPr>
            <p:ph idx="2"/>
          </p:nvPr>
        </p:nvSpPr>
        <p:spPr>
          <a:xfrm>
            <a:off x="839788" y="2505075"/>
            <a:ext cx="5157787" cy="3684588"/>
          </a:xfrm>
          <a:prstGeom prst="rect">
            <a:avLst/>
          </a:prstGeo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a:extLst>
              <a:ext uri="{FF2B5EF4-FFF2-40B4-BE49-F238E27FC236}">
                <a16:creationId xmlns:a16="http://schemas.microsoft.com/office/drawing/2014/main" id="{F2215176-B987-4BAC-8FCF-E2A2E0C2132A}"/>
              </a:ext>
            </a:extLst>
          </p:cNvPr>
          <p:cNvSpPr>
            <a:spLocks noGrp="1"/>
          </p:cNvSpPr>
          <p:nvPr>
            <p:ph type="body"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单击此处编辑母版文本样式</a:t>
            </a:r>
          </a:p>
        </p:txBody>
      </p:sp>
      <p:sp>
        <p:nvSpPr>
          <p:cNvPr id="6" name="内容占位符 5">
            <a:extLst>
              <a:ext uri="{FF2B5EF4-FFF2-40B4-BE49-F238E27FC236}">
                <a16:creationId xmlns:a16="http://schemas.microsoft.com/office/drawing/2014/main" id="{3FDC5BB6-CE26-4A38-89BB-4611A5A04FD8}"/>
              </a:ext>
            </a:extLst>
          </p:cNvPr>
          <p:cNvSpPr>
            <a:spLocks noGrp="1"/>
          </p:cNvSpPr>
          <p:nvPr>
            <p:ph idx="4"/>
          </p:nvPr>
        </p:nvSpPr>
        <p:spPr>
          <a:xfrm>
            <a:off x="6172200" y="2505075"/>
            <a:ext cx="5183188" cy="3684588"/>
          </a:xfrm>
          <a:prstGeom prst="rect">
            <a:avLst/>
          </a:prstGeo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a:extLst>
              <a:ext uri="{FF2B5EF4-FFF2-40B4-BE49-F238E27FC236}">
                <a16:creationId xmlns:a16="http://schemas.microsoft.com/office/drawing/2014/main" id="{AE84B3E1-3D71-4241-8270-593B0C2CE18D}"/>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8" name="页脚占位符 7">
            <a:extLst>
              <a:ext uri="{FF2B5EF4-FFF2-40B4-BE49-F238E27FC236}">
                <a16:creationId xmlns:a16="http://schemas.microsoft.com/office/drawing/2014/main" id="{67ADD86F-2AE6-4CE8-A62D-4086CB05A413}"/>
              </a:ext>
            </a:extLst>
          </p:cNvPr>
          <p:cNvSpPr>
            <a:spLocks noGrp="1"/>
          </p:cNvSpPr>
          <p:nvPr>
            <p:ph type="ftr" idx="11"/>
          </p:nvPr>
        </p:nvSpPr>
        <p:spPr>
          <a:xfrm>
            <a:off x="4038600" y="6356350"/>
            <a:ext cx="4114800" cy="365125"/>
          </a:xfrm>
          <a:prstGeom prst="rect">
            <a:avLst/>
          </a:prstGeom>
        </p:spPr>
        <p:txBody>
          <a:bodyPr/>
          <a:lstStyle/>
          <a:p>
            <a:endParaRPr/>
          </a:p>
        </p:txBody>
      </p:sp>
      <p:sp>
        <p:nvSpPr>
          <p:cNvPr id="9" name="灯片编号占位符 8">
            <a:extLst>
              <a:ext uri="{FF2B5EF4-FFF2-40B4-BE49-F238E27FC236}">
                <a16:creationId xmlns:a16="http://schemas.microsoft.com/office/drawing/2014/main" id="{ED6394EA-9BB7-415E-A314-6A86C89DFF51}"/>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40E197-02DF-40CD-933E-B19783A3F85F}"/>
              </a:ext>
            </a:extLst>
          </p:cNvPr>
          <p:cNvSpPr>
            <a:spLocks noGrp="1"/>
          </p:cNvSpPr>
          <p:nvPr>
            <p:ph type="title"/>
          </p:nvPr>
        </p:nvSpPr>
        <p:spPr>
          <a:xfrm>
            <a:off x="838200" y="365125"/>
            <a:ext cx="10515600" cy="1325563"/>
          </a:xfrm>
          <a:prstGeom prst="rect">
            <a:avLst/>
          </a:prstGeom>
        </p:spPr>
        <p:txBody>
          <a:bodyPr/>
          <a:lstStyle/>
          <a:p>
            <a:r>
              <a:t>单击此处编辑母版标题样式</a:t>
            </a:r>
          </a:p>
        </p:txBody>
      </p:sp>
      <p:sp>
        <p:nvSpPr>
          <p:cNvPr id="3" name="日期占位符 2">
            <a:extLst>
              <a:ext uri="{FF2B5EF4-FFF2-40B4-BE49-F238E27FC236}">
                <a16:creationId xmlns:a16="http://schemas.microsoft.com/office/drawing/2014/main" id="{F4DF1A49-BEC4-4C87-90D6-9D35B0D614BF}"/>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4" name="页脚占位符 3">
            <a:extLst>
              <a:ext uri="{FF2B5EF4-FFF2-40B4-BE49-F238E27FC236}">
                <a16:creationId xmlns:a16="http://schemas.microsoft.com/office/drawing/2014/main" id="{AF558F9F-8469-4DFC-9957-07BD071A2054}"/>
              </a:ext>
            </a:extLst>
          </p:cNvPr>
          <p:cNvSpPr>
            <a:spLocks noGrp="1"/>
          </p:cNvSpPr>
          <p:nvPr>
            <p:ph type="ftr" idx="11"/>
          </p:nvPr>
        </p:nvSpPr>
        <p:spPr>
          <a:xfrm>
            <a:off x="4038600" y="6356350"/>
            <a:ext cx="4114800" cy="365125"/>
          </a:xfrm>
          <a:prstGeom prst="rect">
            <a:avLst/>
          </a:prstGeom>
        </p:spPr>
        <p:txBody>
          <a:bodyPr/>
          <a:lstStyle/>
          <a:p>
            <a:endParaRPr/>
          </a:p>
        </p:txBody>
      </p:sp>
      <p:sp>
        <p:nvSpPr>
          <p:cNvPr id="5" name="灯片编号占位符 4">
            <a:extLst>
              <a:ext uri="{FF2B5EF4-FFF2-40B4-BE49-F238E27FC236}">
                <a16:creationId xmlns:a16="http://schemas.microsoft.com/office/drawing/2014/main" id="{8B353F97-4979-4847-8ED0-C0CF1E84D14A}"/>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B180301-5C4E-41F3-953F-8DCFA9EAE2DB}"/>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3" name="页脚占位符 2">
            <a:extLst>
              <a:ext uri="{FF2B5EF4-FFF2-40B4-BE49-F238E27FC236}">
                <a16:creationId xmlns:a16="http://schemas.microsoft.com/office/drawing/2014/main" id="{35DA703F-B093-4A09-AF3C-8025797F66E6}"/>
              </a:ext>
            </a:extLst>
          </p:cNvPr>
          <p:cNvSpPr>
            <a:spLocks noGrp="1"/>
          </p:cNvSpPr>
          <p:nvPr>
            <p:ph type="ftr" idx="11"/>
          </p:nvPr>
        </p:nvSpPr>
        <p:spPr>
          <a:xfrm>
            <a:off x="4038600" y="6356350"/>
            <a:ext cx="4114800" cy="365125"/>
          </a:xfrm>
          <a:prstGeom prst="rect">
            <a:avLst/>
          </a:prstGeom>
        </p:spPr>
        <p:txBody>
          <a:bodyPr/>
          <a:lstStyle/>
          <a:p>
            <a:endParaRPr/>
          </a:p>
        </p:txBody>
      </p:sp>
      <p:sp>
        <p:nvSpPr>
          <p:cNvPr id="4" name="灯片编号占位符 3">
            <a:extLst>
              <a:ext uri="{FF2B5EF4-FFF2-40B4-BE49-F238E27FC236}">
                <a16:creationId xmlns:a16="http://schemas.microsoft.com/office/drawing/2014/main" id="{934442A8-948A-475F-8618-55DD7A38C155}"/>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376CBB-944C-42B9-9F9F-810B35012281}"/>
              </a:ext>
            </a:extLst>
          </p:cNvPr>
          <p:cNvSpPr>
            <a:spLocks noGrp="1"/>
          </p:cNvSpPr>
          <p:nvPr>
            <p:ph type="title"/>
          </p:nvPr>
        </p:nvSpPr>
        <p:spPr>
          <a:xfrm>
            <a:off x="839788" y="457200"/>
            <a:ext cx="3932237" cy="1600200"/>
          </a:xfrm>
          <a:prstGeom prst="rect">
            <a:avLst/>
          </a:prstGeom>
        </p:spPr>
        <p:txBody>
          <a:bodyPr anchor="b"/>
          <a:lstStyle>
            <a:lvl1pPr>
              <a:buNone/>
              <a:defRPr sz="3200"/>
            </a:lvl1pPr>
          </a:lstStyle>
          <a:p>
            <a:r>
              <a:t>单击此处编辑母版标题样式</a:t>
            </a:r>
          </a:p>
        </p:txBody>
      </p:sp>
      <p:sp>
        <p:nvSpPr>
          <p:cNvPr id="3" name="内容占位符 2">
            <a:extLst>
              <a:ext uri="{FF2B5EF4-FFF2-40B4-BE49-F238E27FC236}">
                <a16:creationId xmlns:a16="http://schemas.microsoft.com/office/drawing/2014/main" id="{220EF8D2-4A8C-4F64-8624-9822DD5BCA08}"/>
              </a:ext>
            </a:extLst>
          </p:cNvPr>
          <p:cNvSpPr>
            <a:spLocks noGrp="1"/>
          </p:cNvSpPr>
          <p:nvPr>
            <p:ph idx="1"/>
          </p:nvPr>
        </p:nvSpPr>
        <p:spPr>
          <a:xfrm>
            <a:off x="5183188" y="987425"/>
            <a:ext cx="6172200" cy="4873625"/>
          </a:xfrm>
          <a:prstGeom prst="rect">
            <a:avLst/>
          </a:prstGeo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文本占位符 3">
            <a:extLst>
              <a:ext uri="{FF2B5EF4-FFF2-40B4-BE49-F238E27FC236}">
                <a16:creationId xmlns:a16="http://schemas.microsoft.com/office/drawing/2014/main" id="{DA5091BD-D389-42DF-B932-D2479E588825}"/>
              </a:ext>
            </a:extLst>
          </p:cNvPr>
          <p:cNvSpPr>
            <a:spLocks noGrp="1"/>
          </p:cNvSpPr>
          <p:nvPr>
            <p:ph type="body"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098A8C8F-FC8F-4CFB-8419-B762174B036F}"/>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6" name="页脚占位符 5">
            <a:extLst>
              <a:ext uri="{FF2B5EF4-FFF2-40B4-BE49-F238E27FC236}">
                <a16:creationId xmlns:a16="http://schemas.microsoft.com/office/drawing/2014/main" id="{A87A41F2-F9A8-44B4-85E3-76AE782926C3}"/>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灯片编号占位符 6">
            <a:extLst>
              <a:ext uri="{FF2B5EF4-FFF2-40B4-BE49-F238E27FC236}">
                <a16:creationId xmlns:a16="http://schemas.microsoft.com/office/drawing/2014/main" id="{E68627B7-FB8A-49A6-93F5-CADD0E8363AC}"/>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0D177F-DB1E-43F6-923C-66AD6199C253}"/>
              </a:ext>
            </a:extLst>
          </p:cNvPr>
          <p:cNvSpPr>
            <a:spLocks noGrp="1"/>
          </p:cNvSpPr>
          <p:nvPr>
            <p:ph type="title"/>
          </p:nvPr>
        </p:nvSpPr>
        <p:spPr>
          <a:xfrm>
            <a:off x="839788" y="457200"/>
            <a:ext cx="3932237" cy="1600200"/>
          </a:xfrm>
          <a:prstGeom prst="rect">
            <a:avLst/>
          </a:prstGeom>
        </p:spPr>
        <p:txBody>
          <a:bodyPr anchor="b"/>
          <a:lstStyle>
            <a:lvl1pPr>
              <a:buNone/>
              <a:defRPr sz="3200"/>
            </a:lvl1pPr>
          </a:lstStyle>
          <a:p>
            <a:r>
              <a:t>单击此处编辑母版标题样式</a:t>
            </a:r>
          </a:p>
        </p:txBody>
      </p:sp>
      <p:sp>
        <p:nvSpPr>
          <p:cNvPr id="3" name="图片占位符 2">
            <a:extLst>
              <a:ext uri="{FF2B5EF4-FFF2-40B4-BE49-F238E27FC236}">
                <a16:creationId xmlns:a16="http://schemas.microsoft.com/office/drawing/2014/main" id="{24875E0B-718C-48A6-A420-353DCCB609BC}"/>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文本占位符 3">
            <a:extLst>
              <a:ext uri="{FF2B5EF4-FFF2-40B4-BE49-F238E27FC236}">
                <a16:creationId xmlns:a16="http://schemas.microsoft.com/office/drawing/2014/main" id="{7D3BF409-D01F-48C0-9A47-F1FBC93408F3}"/>
              </a:ext>
            </a:extLst>
          </p:cNvPr>
          <p:cNvSpPr>
            <a:spLocks noGrp="1"/>
          </p:cNvSpPr>
          <p:nvPr>
            <p:ph type="body"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单击此处编辑母版文本样式</a:t>
            </a:r>
          </a:p>
        </p:txBody>
      </p:sp>
      <p:sp>
        <p:nvSpPr>
          <p:cNvPr id="5" name="日期占位符 4">
            <a:extLst>
              <a:ext uri="{FF2B5EF4-FFF2-40B4-BE49-F238E27FC236}">
                <a16:creationId xmlns:a16="http://schemas.microsoft.com/office/drawing/2014/main" id="{45B84F9C-3E3F-4ECC-9D3E-61C9C04A74D2}"/>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6" name="页脚占位符 5">
            <a:extLst>
              <a:ext uri="{FF2B5EF4-FFF2-40B4-BE49-F238E27FC236}">
                <a16:creationId xmlns:a16="http://schemas.microsoft.com/office/drawing/2014/main" id="{A855F07E-3B40-45C7-9802-62A11759A962}"/>
              </a:ext>
            </a:extLst>
          </p:cNvPr>
          <p:cNvSpPr>
            <a:spLocks noGrp="1"/>
          </p:cNvSpPr>
          <p:nvPr>
            <p:ph type="ftr" idx="11"/>
          </p:nvPr>
        </p:nvSpPr>
        <p:spPr>
          <a:xfrm>
            <a:off x="4038600" y="6356350"/>
            <a:ext cx="4114800" cy="365125"/>
          </a:xfrm>
          <a:prstGeom prst="rect">
            <a:avLst/>
          </a:prstGeom>
        </p:spPr>
        <p:txBody>
          <a:bodyPr/>
          <a:lstStyle/>
          <a:p>
            <a:endParaRPr/>
          </a:p>
        </p:txBody>
      </p:sp>
      <p:sp>
        <p:nvSpPr>
          <p:cNvPr id="7" name="灯片编号占位符 6">
            <a:extLst>
              <a:ext uri="{FF2B5EF4-FFF2-40B4-BE49-F238E27FC236}">
                <a16:creationId xmlns:a16="http://schemas.microsoft.com/office/drawing/2014/main" id="{2F641269-06BE-4AD1-99DD-8E62779293EB}"/>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316878-3437-4BCB-AE06-199BBDEEDA9C}"/>
              </a:ext>
            </a:extLst>
          </p:cNvPr>
          <p:cNvSpPr>
            <a:spLocks noGrp="1"/>
          </p:cNvSpPr>
          <p:nvPr>
            <p:ph type="title"/>
          </p:nvPr>
        </p:nvSpPr>
        <p:spPr>
          <a:xfrm>
            <a:off x="838200" y="365125"/>
            <a:ext cx="10515600" cy="1325563"/>
          </a:xfrm>
          <a:prstGeom prst="rect">
            <a:avLst/>
          </a:prstGeom>
        </p:spPr>
        <p:txBody>
          <a:bodyPr/>
          <a:lstStyle/>
          <a:p>
            <a:r>
              <a:t>单击此处编辑母版标题样式</a:t>
            </a:r>
          </a:p>
        </p:txBody>
      </p:sp>
      <p:sp>
        <p:nvSpPr>
          <p:cNvPr id="3" name="竖排文字占位符 2">
            <a:extLst>
              <a:ext uri="{FF2B5EF4-FFF2-40B4-BE49-F238E27FC236}">
                <a16:creationId xmlns:a16="http://schemas.microsoft.com/office/drawing/2014/main" id="{08E27870-98CB-4BD9-BC74-471B800DF3F8}"/>
              </a:ext>
            </a:extLst>
          </p:cNvPr>
          <p:cNvSpPr>
            <a:spLocks noGrp="1"/>
          </p:cNvSpPr>
          <p:nvPr>
            <p:ph type="body" idx="1"/>
          </p:nvPr>
        </p:nvSpPr>
        <p:spPr>
          <a:xfrm>
            <a:off x="838200" y="1825625"/>
            <a:ext cx="10515600" cy="4351338"/>
          </a:xfrm>
          <a:prstGeom prst="rect">
            <a:avLst/>
          </a:prstGeom>
        </p:spPr>
        <p:txBody>
          <a:bodyPr vert="eaVe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B23F1962-97D0-417E-AEBD-7067FE674A33}"/>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5" name="页脚占位符 4">
            <a:extLst>
              <a:ext uri="{FF2B5EF4-FFF2-40B4-BE49-F238E27FC236}">
                <a16:creationId xmlns:a16="http://schemas.microsoft.com/office/drawing/2014/main" id="{4E8CC226-CD4B-422B-A752-F9234D2B329E}"/>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灯片编号占位符 5">
            <a:extLst>
              <a:ext uri="{FF2B5EF4-FFF2-40B4-BE49-F238E27FC236}">
                <a16:creationId xmlns:a16="http://schemas.microsoft.com/office/drawing/2014/main" id="{00E67C62-1EDB-4FEA-952A-C59E7F78C434}"/>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552D7DE-466F-47FD-AAF7-1B4D8A33B934}"/>
              </a:ext>
            </a:extLst>
          </p:cNvPr>
          <p:cNvSpPr>
            <a:spLocks noGrp="1"/>
          </p:cNvSpPr>
          <p:nvPr>
            <p:ph type="title"/>
          </p:nvPr>
        </p:nvSpPr>
        <p:spPr>
          <a:xfrm>
            <a:off x="8724900" y="365125"/>
            <a:ext cx="2628900" cy="5811838"/>
          </a:xfrm>
          <a:prstGeom prst="rect">
            <a:avLst/>
          </a:prstGeom>
        </p:spPr>
        <p:txBody>
          <a:bodyPr vert="eaVert"/>
          <a:lstStyle/>
          <a:p>
            <a:r>
              <a:t>单击此处编辑母版标题样式</a:t>
            </a:r>
          </a:p>
        </p:txBody>
      </p:sp>
      <p:sp>
        <p:nvSpPr>
          <p:cNvPr id="3" name="竖排文字占位符 2">
            <a:extLst>
              <a:ext uri="{FF2B5EF4-FFF2-40B4-BE49-F238E27FC236}">
                <a16:creationId xmlns:a16="http://schemas.microsoft.com/office/drawing/2014/main" id="{A09B4541-0DA2-4CC4-9B42-8BA180133E8B}"/>
              </a:ext>
            </a:extLst>
          </p:cNvPr>
          <p:cNvSpPr>
            <a:spLocks noGrp="1"/>
          </p:cNvSpPr>
          <p:nvPr>
            <p:ph type="body" idx="1"/>
          </p:nvPr>
        </p:nvSpPr>
        <p:spPr>
          <a:xfrm>
            <a:off x="838200" y="365125"/>
            <a:ext cx="7734300" cy="5811838"/>
          </a:xfrm>
          <a:prstGeom prst="rect">
            <a:avLst/>
          </a:prstGeom>
        </p:spPr>
        <p:txBody>
          <a:bodyPr vert="eaVert"/>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a:extLst>
              <a:ext uri="{FF2B5EF4-FFF2-40B4-BE49-F238E27FC236}">
                <a16:creationId xmlns:a16="http://schemas.microsoft.com/office/drawing/2014/main" id="{948BE163-8329-4892-91DD-32A90AF01272}"/>
              </a:ext>
            </a:extLst>
          </p:cNvPr>
          <p:cNvSpPr>
            <a:spLocks noGrp="1"/>
          </p:cNvSpPr>
          <p:nvPr>
            <p:ph type="dt" idx="10"/>
          </p:nvPr>
        </p:nvSpPr>
        <p:spPr>
          <a:xfrm>
            <a:off x="838200" y="6356350"/>
            <a:ext cx="2743200" cy="365125"/>
          </a:xfrm>
          <a:prstGeom prst="rect">
            <a:avLst/>
          </a:prstGeom>
        </p:spPr>
        <p:txBody>
          <a:bodyPr/>
          <a:lstStyle/>
          <a:p>
            <a:fld id="{D997B5FA-0921-464F-AAE1-844C04324D75}" type="datetimeFigureOut">
              <a:t>2026/10/17</a:t>
            </a:fld>
            <a:endParaRPr/>
          </a:p>
        </p:txBody>
      </p:sp>
      <p:sp>
        <p:nvSpPr>
          <p:cNvPr id="5" name="页脚占位符 4">
            <a:extLst>
              <a:ext uri="{FF2B5EF4-FFF2-40B4-BE49-F238E27FC236}">
                <a16:creationId xmlns:a16="http://schemas.microsoft.com/office/drawing/2014/main" id="{228D75EC-5524-4131-9239-EC954C5890CE}"/>
              </a:ext>
            </a:extLst>
          </p:cNvPr>
          <p:cNvSpPr>
            <a:spLocks noGrp="1"/>
          </p:cNvSpPr>
          <p:nvPr>
            <p:ph type="ftr" idx="11"/>
          </p:nvPr>
        </p:nvSpPr>
        <p:spPr>
          <a:xfrm>
            <a:off x="4038600" y="6356350"/>
            <a:ext cx="4114800" cy="365125"/>
          </a:xfrm>
          <a:prstGeom prst="rect">
            <a:avLst/>
          </a:prstGeom>
        </p:spPr>
        <p:txBody>
          <a:bodyPr/>
          <a:lstStyle/>
          <a:p>
            <a:endParaRPr/>
          </a:p>
        </p:txBody>
      </p:sp>
      <p:sp>
        <p:nvSpPr>
          <p:cNvPr id="6" name="灯片编号占位符 5">
            <a:extLst>
              <a:ext uri="{FF2B5EF4-FFF2-40B4-BE49-F238E27FC236}">
                <a16:creationId xmlns:a16="http://schemas.microsoft.com/office/drawing/2014/main" id="{473C2EB4-CA19-4571-B3D3-C7EE56F0CD5E}"/>
              </a:ext>
            </a:extLst>
          </p:cNvPr>
          <p:cNvSpPr>
            <a:spLocks noGrp="1"/>
          </p:cNvSpPr>
          <p:nvPr>
            <p:ph type="sldNum" idx="12"/>
          </p:nvPr>
        </p:nvSpPr>
        <p:spPr>
          <a:xfrm>
            <a:off x="8610600" y="6356350"/>
            <a:ext cx="2743200" cy="365125"/>
          </a:xfrm>
          <a:prstGeom prst="rect">
            <a:avLst/>
          </a:prstGeom>
        </p:spPr>
        <p:txBody>
          <a:bodyPr/>
          <a:lstStyle/>
          <a:p>
            <a:fld id="{565CE74E-AB26-4998-AD42-012C4C1AD07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3E97E250-DDD6-5982-D476-149BABA29D9A}"/>
              </a:ext>
            </a:extLst>
          </p:cNvPr>
          <p:cNvSpPr>
            <a:spLocks noGrp="1"/>
          </p:cNvSpPr>
          <p:nvPr/>
        </p:nvSpPr>
        <p:spPr>
          <a:xfrm>
            <a:off x="19879" y="-19878"/>
            <a:ext cx="119270" cy="169277"/>
          </a:xfrm>
          <a:prstGeom prst="rect">
            <a:avLst/>
          </a:prstGeom>
          <a:noFill/>
        </p:spPr>
        <p:txBody>
          <a:bodyPr wrap="square">
            <a:spAutoFit/>
          </a:bodyPr>
          <a:lstStyle/>
          <a:p>
            <a:pPr algn="l">
              <a:buNone/>
            </a:pPr>
            <a:r>
              <a:rPr sz="100" b="1">
                <a:solidFill>
                  <a:schemeClr val="bg1"/>
                </a:solidFill>
                <a:latin typeface="OPPOSans R"/>
                <a:ea typeface="OPPOSans R"/>
                <a:cs typeface="OPPOSans R"/>
              </a:rPr>
              <a:t>作者:滕婷</a:t>
            </a:r>
          </a:p>
        </p:txBody>
      </p:sp>
      <p:sp>
        <p:nvSpPr>
          <p:cNvPr id="2" name="文本框 1">
            <a:extLst>
              <a:ext uri="{FF2B5EF4-FFF2-40B4-BE49-F238E27FC236}">
                <a16:creationId xmlns:a16="http://schemas.microsoft.com/office/drawing/2014/main" id="{17EFD05E-1B7D-2B86-B00A-AF3A5902BD05}"/>
              </a:ext>
            </a:extLst>
          </p:cNvPr>
          <p:cNvSpPr>
            <a:spLocks noGrp="1"/>
          </p:cNvSpPr>
          <p:nvPr/>
        </p:nvSpPr>
        <p:spPr>
          <a:xfrm>
            <a:off x="0" y="-19878"/>
            <a:ext cx="706056" cy="107722"/>
          </a:xfrm>
          <a:prstGeom prst="rect">
            <a:avLst/>
          </a:prstGeom>
          <a:noFill/>
        </p:spPr>
        <p:txBody>
          <a:bodyPr wrap="square">
            <a:spAutoFit/>
          </a:bodyPr>
          <a:lstStyle/>
          <a:p>
            <a:pPr algn="l">
              <a:buNone/>
            </a:pPr>
            <a:r>
              <a:rPr sz="100" b="1">
                <a:solidFill>
                  <a:schemeClr val="bg1"/>
                </a:solidFill>
                <a:latin typeface="OPPOSans R"/>
                <a:ea typeface="OPPOSans R"/>
                <a:cs typeface="OPPOSans R"/>
              </a:rPr>
              <a:t>木卫林专属</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hyperlink" Target="https://github.com/zhang-haichao/Explain-and-Forget" TargetMode="Externa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ṡ1íḋe">
            <a:extLst>
              <a:ext uri="{FF2B5EF4-FFF2-40B4-BE49-F238E27FC236}">
                <a16:creationId xmlns:a16="http://schemas.microsoft.com/office/drawing/2014/main" id="{9FCD9BF1-A1CC-4FBD-8279-6DFB9E8B90B0}"/>
              </a:ext>
            </a:extLst>
          </p:cNvPr>
          <p:cNvSpPr>
            <a:spLocks noGrp="1"/>
          </p:cNvSpPr>
          <p:nvPr/>
        </p:nvSpPr>
        <p:spPr>
          <a:xfrm>
            <a:off x="0" y="1790795"/>
            <a:ext cx="12192000" cy="3276410"/>
          </a:xfrm>
          <a:prstGeom prst="rect">
            <a:avLst/>
          </a:prstGeom>
          <a:solidFill>
            <a:srgbClr val="122E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strike="noStrike" kern="1200" cap="none" spc="0" baseline="0">
              <a:ln>
                <a:noFill/>
              </a:ln>
              <a:solidFill>
                <a:srgbClr val="122E66"/>
              </a:solidFill>
              <a:latin typeface="Arial"/>
              <a:ea typeface="Arial"/>
              <a:cs typeface="Arial"/>
            </a:endParaRPr>
          </a:p>
        </p:txBody>
      </p:sp>
      <p:sp>
        <p:nvSpPr>
          <p:cNvPr id="8" name="直接连接符 7">
            <a:extLst>
              <a:ext uri="{FF2B5EF4-FFF2-40B4-BE49-F238E27FC236}">
                <a16:creationId xmlns:a16="http://schemas.microsoft.com/office/drawing/2014/main" id="{9F0C89AA-E7D2-4BA0-951D-9A5F8EED65F2}"/>
              </a:ext>
            </a:extLst>
          </p:cNvPr>
          <p:cNvSpPr>
            <a:spLocks noGrp="1"/>
          </p:cNvSpPr>
          <p:nvPr/>
        </p:nvSpPr>
        <p:spPr>
          <a:xfrm>
            <a:off x="0" y="4941168"/>
            <a:ext cx="12192000"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9" name="直接连接符 8">
            <a:extLst>
              <a:ext uri="{FF2B5EF4-FFF2-40B4-BE49-F238E27FC236}">
                <a16:creationId xmlns:a16="http://schemas.microsoft.com/office/drawing/2014/main" id="{7449EAB5-322D-459A-B76E-5FC9574D6929}"/>
              </a:ext>
            </a:extLst>
          </p:cNvPr>
          <p:cNvSpPr>
            <a:spLocks noGrp="1"/>
          </p:cNvSpPr>
          <p:nvPr/>
        </p:nvSpPr>
        <p:spPr>
          <a:xfrm>
            <a:off x="0" y="1916811"/>
            <a:ext cx="12192000"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10" name="图片 9">
            <a:extLst>
              <a:ext uri="{FF2B5EF4-FFF2-40B4-BE49-F238E27FC236}">
                <a16:creationId xmlns:a16="http://schemas.microsoft.com/office/drawing/2014/main" id="{CC4A8F16-FCFD-4D0C-A676-E0AA97CA4B1C}"/>
              </a:ext>
            </a:extLst>
          </p:cNvPr>
          <p:cNvPicPr>
            <a:picLocks noChangeAspect="1"/>
          </p:cNvPicPr>
          <p:nvPr/>
        </p:nvPicPr>
        <p:blipFill>
          <a:blip r:embed="rId3"/>
          <a:stretch/>
        </p:blipFill>
        <p:spPr>
          <a:xfrm>
            <a:off x="428625" y="362446"/>
            <a:ext cx="5048250" cy="999133"/>
          </a:xfrm>
          <a:prstGeom prst="rect">
            <a:avLst/>
          </a:prstGeom>
        </p:spPr>
      </p:pic>
      <p:sp>
        <p:nvSpPr>
          <p:cNvPr id="13" name="content-5">
            <a:extLst>
              <a:ext uri="{FF2B5EF4-FFF2-40B4-BE49-F238E27FC236}">
                <a16:creationId xmlns:a16="http://schemas.microsoft.com/office/drawing/2014/main" id="{C1DB91CA-A6D2-4FF7-A243-2D1D9EBA66D8}"/>
              </a:ext>
            </a:extLst>
          </p:cNvPr>
          <p:cNvSpPr>
            <a:spLocks noGrp="1"/>
          </p:cNvSpPr>
          <p:nvPr/>
        </p:nvSpPr>
        <p:spPr>
          <a:xfrm>
            <a:off x="762000" y="5381625"/>
            <a:ext cx="10668000" cy="428625"/>
          </a:xfrm>
          <a:prstGeom prst="rect">
            <a:avLst/>
          </a:prstGeom>
          <a:noFill/>
          <a:ln w="0">
            <a:noFill/>
          </a:ln>
        </p:spPr>
        <p:txBody>
          <a:bodyPr wrap="square" lIns="0" tIns="0" rIns="0" bIns="0" anchor="t">
            <a:noAutofit/>
          </a:bodyPr>
          <a:lstStyle>
            <a:defPPr algn="ctr">
              <a:defRPr sz="1875" b="0" i="0">
                <a:solidFill>
                  <a:srgbClr val="122E66"/>
                </a:solidFill>
                <a:latin typeface="Arial"/>
                <a:ea typeface="Arial"/>
                <a:cs typeface="Arial"/>
              </a:defRPr>
            </a:defPPr>
          </a:lstStyle>
          <a:p>
            <a:pPr algn="ctr">
              <a:buNone/>
              <a:defRPr sz="1875" b="0" i="0">
                <a:solidFill>
                  <a:srgbClr val="122E66"/>
                </a:solidFill>
                <a:latin typeface="Arial"/>
                <a:ea typeface="Arial"/>
                <a:cs typeface="Arial"/>
              </a:defRPr>
            </a:pPr>
            <a:r>
              <a:rPr sz="1875" b="0" i="0">
                <a:solidFill>
                  <a:srgbClr val="122E66"/>
                </a:solidFill>
                <a:latin typeface="Arial"/>
                <a:ea typeface="Arial"/>
                <a:cs typeface="Arial"/>
              </a:rPr>
              <a:t xml:space="preserve">Haichao Zhang</a:t>
            </a:r>
            <a:r>
              <a:rPr baseline="30000" sz="1250" b="0" i="0">
                <a:solidFill>
                  <a:srgbClr val="122E66"/>
                </a:solidFill>
                <a:latin typeface="Arial"/>
                <a:ea typeface="Arial"/>
                <a:cs typeface="Arial"/>
              </a:rPr>
              <a:t xml:space="preserve">1,2</a:t>
            </a:r>
            <a:r>
              <a:rPr sz="1875" b="0" i="0">
                <a:solidFill>
                  <a:srgbClr val="122E66"/>
                </a:solidFill>
                <a:latin typeface="Arial"/>
                <a:ea typeface="Arial"/>
                <a:cs typeface="Arial"/>
              </a:rPr>
              <a:t xml:space="preserve">, </a:t>
            </a:r>
            <a:r>
              <a:rPr sz="1875" b="0" i="0">
                <a:solidFill>
                  <a:srgbClr val="122E66"/>
                </a:solidFill>
                <a:latin typeface="Arial"/>
                <a:ea typeface="Arial"/>
                <a:cs typeface="Arial"/>
              </a:rPr>
              <a:t xml:space="preserve">Chong Zhang</a:t>
            </a:r>
            <a:r>
              <a:rPr baseline="30000" sz="1250" b="0" i="0">
                <a:solidFill>
                  <a:srgbClr val="122E66"/>
                </a:solidFill>
                <a:latin typeface="Arial"/>
                <a:ea typeface="Arial"/>
                <a:cs typeface="Arial"/>
              </a:rPr>
              <a:t xml:space="preserve">1,2</a:t>
            </a:r>
            <a:r>
              <a:rPr sz="1875" b="0" i="0">
                <a:solidFill>
                  <a:srgbClr val="122E66"/>
                </a:solidFill>
                <a:latin typeface="Arial"/>
                <a:ea typeface="Arial"/>
                <a:cs typeface="Arial"/>
              </a:rPr>
              <a:t xml:space="preserve">, </a:t>
            </a:r>
            <a:r>
              <a:rPr sz="1875" b="0" i="0">
                <a:solidFill>
                  <a:srgbClr val="122E66"/>
                </a:solidFill>
                <a:latin typeface="Arial"/>
                <a:ea typeface="Arial"/>
                <a:cs typeface="Arial"/>
              </a:rPr>
              <a:t xml:space="preserve">Wen Wang</a:t>
            </a:r>
            <a:r>
              <a:rPr baseline="30000" sz="1250" b="0" i="0">
                <a:solidFill>
                  <a:srgbClr val="122E66"/>
                </a:solidFill>
                <a:latin typeface="Arial"/>
                <a:ea typeface="Arial"/>
                <a:cs typeface="Arial"/>
              </a:rPr>
              <a:t xml:space="preserve">1</a:t>
            </a:r>
            <a:r>
              <a:rPr sz="1875" b="0" i="0">
                <a:solidFill>
                  <a:srgbClr val="122E66"/>
                </a:solidFill>
                <a:latin typeface="Arial"/>
                <a:ea typeface="Arial"/>
                <a:cs typeface="Arial"/>
              </a:rPr>
              <a:t xml:space="preserve">, </a:t>
            </a:r>
            <a:r>
              <a:rPr sz="1875" b="0" i="0">
                <a:solidFill>
                  <a:srgbClr val="122E66"/>
                </a:solidFill>
                <a:latin typeface="Arial"/>
                <a:ea typeface="Arial"/>
                <a:cs typeface="Arial"/>
              </a:rPr>
              <a:t xml:space="preserve">Shi Qiu</a:t>
            </a:r>
            <a:r>
              <a:rPr baseline="30000" sz="1250" b="0" i="0">
                <a:solidFill>
                  <a:srgbClr val="122E66"/>
                </a:solidFill>
                <a:latin typeface="Arial"/>
                <a:ea typeface="Arial"/>
                <a:cs typeface="Arial"/>
              </a:rPr>
              <a:t xml:space="preserve">1</a:t>
            </a:r>
            <a:r>
              <a:rPr sz="1875" b="0" i="0">
                <a:solidFill>
                  <a:srgbClr val="122E66"/>
                </a:solidFill>
                <a:latin typeface="Arial"/>
                <a:ea typeface="Arial"/>
                <a:cs typeface="Arial"/>
              </a:rPr>
              <a:t xml:space="preserve">, </a:t>
            </a:r>
            <a:r>
              <a:rPr sz="1875" b="0" i="0">
                <a:solidFill>
                  <a:srgbClr val="122E66"/>
                </a:solidFill>
                <a:latin typeface="Arial"/>
                <a:ea typeface="Arial"/>
                <a:cs typeface="Arial"/>
              </a:rPr>
              <a:t xml:space="preserve">Peiyu Hu</a:t>
            </a:r>
            <a:r>
              <a:rPr baseline="30000" sz="1250" b="0" i="0">
                <a:solidFill>
                  <a:srgbClr val="122E66"/>
                </a:solidFill>
                <a:latin typeface="Arial"/>
                <a:ea typeface="Arial"/>
                <a:cs typeface="Arial"/>
              </a:rPr>
              <a:t xml:space="preserve">1,2</a:t>
            </a:r>
            <a:r>
              <a:rPr sz="1875" b="0" i="0">
                <a:solidFill>
                  <a:srgbClr val="122E66"/>
                </a:solidFill>
                <a:latin typeface="Arial"/>
                <a:ea typeface="Arial"/>
                <a:cs typeface="Arial"/>
              </a:rPr>
              <a:t xml:space="preserve">, </a:t>
            </a:r>
            <a:r>
              <a:rPr sz="1875" b="0" i="0">
                <a:solidFill>
                  <a:srgbClr val="122E66"/>
                </a:solidFill>
                <a:latin typeface="Arial"/>
                <a:ea typeface="Arial"/>
                <a:cs typeface="Arial"/>
              </a:rPr>
              <a:t xml:space="preserve">Jia Wang</a:t>
            </a:r>
            <a:r>
              <a:rPr baseline="30000" sz="1250" b="0" i="0">
                <a:solidFill>
                  <a:srgbClr val="122E66"/>
                </a:solidFill>
                <a:latin typeface="Arial"/>
                <a:ea typeface="Arial"/>
                <a:cs typeface="Arial"/>
              </a:rPr>
              <a:t xml:space="preserve">1,2†</a:t>
            </a:r>
          </a:p>
        </p:txBody>
      </p:sp>
      <p:sp>
        <p:nvSpPr>
          <p:cNvPr id="14" name="content-6">
            <a:extLst>
              <a:ext uri="{FF2B5EF4-FFF2-40B4-BE49-F238E27FC236}">
                <a16:creationId xmlns:a16="http://schemas.microsoft.com/office/drawing/2014/main" id="{42F75A49-C1AE-4502-A036-4887E3D9A767}"/>
              </a:ext>
            </a:extLst>
          </p:cNvPr>
          <p:cNvSpPr>
            <a:spLocks noGrp="1"/>
          </p:cNvSpPr>
          <p:nvPr/>
        </p:nvSpPr>
        <p:spPr>
          <a:xfrm>
            <a:off x="762000" y="5848350"/>
            <a:ext cx="10668000" cy="495300"/>
          </a:xfrm>
          <a:prstGeom prst="rect">
            <a:avLst/>
          </a:prstGeom>
          <a:noFill/>
          <a:ln w="0">
            <a:noFill/>
          </a:ln>
        </p:spPr>
        <p:txBody>
          <a:bodyPr wrap="square" lIns="0" tIns="0" rIns="0" bIns="0" anchor="t">
            <a:noAutofit/>
          </a:bodyPr>
          <a:lstStyle>
            <a:defPPr algn="ctr">
              <a:defRPr sz="1800" b="0" i="0">
                <a:solidFill>
                  <a:srgbClr val="666666"/>
                </a:solidFill>
                <a:latin typeface="Arial"/>
                <a:ea typeface="Arial"/>
                <a:cs typeface="Arial"/>
              </a:defRPr>
            </a:defPPr>
          </a:lstStyle>
          <a:p>
            <a:pPr algn="ctr">
              <a:buNone/>
              <a:defRPr sz="1800" b="0" i="0">
                <a:solidFill>
                  <a:srgbClr val="666666"/>
                </a:solidFill>
                <a:latin typeface="Arial"/>
                <a:ea typeface="Arial"/>
                <a:cs typeface="Arial"/>
              </a:defRPr>
            </a:pPr>
            <a:r>
              <a:rPr baseline="30000" sz="1200" b="0" i="0">
                <a:solidFill>
                  <a:srgbClr val="666666"/>
                </a:solidFill>
                <a:latin typeface="Arial"/>
                <a:ea typeface="Arial"/>
                <a:cs typeface="Arial"/>
              </a:rPr>
              <a:t xml:space="preserve">1</a:t>
            </a:r>
            <a:r>
              <a:rPr sz="1800" b="0" i="0">
                <a:solidFill>
                  <a:srgbClr val="666666"/>
                </a:solidFill>
                <a:latin typeface="Arial"/>
                <a:ea typeface="Arial"/>
                <a:cs typeface="Arial"/>
              </a:rPr>
              <a:t xml:space="preserve">Xi'an Jiaotong-Liverpool University, China</a:t>
            </a:r>
            <a:r>
              <a:rPr sz="1800" b="0" i="0">
                <a:solidFill>
                  <a:srgbClr val="666666"/>
                </a:solidFill>
                <a:latin typeface="Arial"/>
                <a:ea typeface="Arial"/>
                <a:cs typeface="Arial"/>
              </a:rPr>
              <a:t xml:space="preserve">   /   </a:t>
            </a:r>
            <a:r>
              <a:rPr baseline="30000" sz="1200" b="0" i="0">
                <a:solidFill>
                  <a:srgbClr val="666666"/>
                </a:solidFill>
                <a:latin typeface="Arial"/>
                <a:ea typeface="Arial"/>
                <a:cs typeface="Arial"/>
              </a:rPr>
              <a:t xml:space="preserve">2</a:t>
            </a:r>
            <a:r>
              <a:rPr sz="1800" b="0" i="0">
                <a:solidFill>
                  <a:srgbClr val="666666"/>
                </a:solidFill>
                <a:latin typeface="Arial"/>
                <a:ea typeface="Arial"/>
                <a:cs typeface="Arial"/>
              </a:rPr>
              <a:t xml:space="preserve">University of Liverpool, United Kingdom</a:t>
            </a:r>
          </a:p>
          <a:p>
            <a:pPr algn="ctr">
              <a:buNone/>
            </a:pPr>
            <a:r>
              <a:rPr sz="975" b="0" i="0">
                <a:solidFill>
                  <a:srgbClr val="666666"/>
                </a:solidFill>
                <a:latin typeface="Arial"/>
                <a:ea typeface="Arial"/>
                <a:cs typeface="Arial"/>
              </a:rPr>
              <a:t xml:space="preserve">† Corresponding author</a:t>
            </a:r>
          </a:p>
        </p:txBody>
      </p:sp>
      <p:sp>
        <p:nvSpPr>
          <p:cNvPr id="15" name="content-7">
            <a:extLst>
              <a:ext uri="{FF2B5EF4-FFF2-40B4-BE49-F238E27FC236}">
                <a16:creationId xmlns:a16="http://schemas.microsoft.com/office/drawing/2014/main" id="{9D046FA4-65A8-42CE-B21E-64719E6F960C}"/>
              </a:ext>
            </a:extLst>
          </p:cNvPr>
          <p:cNvSpPr>
            <a:spLocks noGrp="1"/>
          </p:cNvSpPr>
          <p:nvPr/>
        </p:nvSpPr>
        <p:spPr>
          <a:xfrm>
            <a:off x="762000" y="6362700"/>
            <a:ext cx="10668000" cy="304800"/>
          </a:xfrm>
          <a:prstGeom prst="rect">
            <a:avLst/>
          </a:prstGeom>
          <a:noFill/>
          <a:ln w="0">
            <a:noFill/>
          </a:ln>
        </p:spPr>
        <p:txBody>
          <a:bodyPr wrap="square" lIns="0" tIns="0" rIns="0" bIns="0" anchor="t">
            <a:noAutofit/>
          </a:bodyPr>
          <a:lstStyle>
            <a:defPPr algn="ctr">
              <a:defRPr sz="1800" b="1" i="0">
                <a:solidFill>
                  <a:srgbClr val="122E66"/>
                </a:solidFill>
                <a:latin typeface="Calibri"/>
                <a:ea typeface="Calibri"/>
                <a:cs typeface="Calibri"/>
              </a:defRPr>
            </a:defPPr>
          </a:lstStyle>
          <a:p>
            <a:pPr algn="ctr">
              <a:buNone/>
              <a:defRPr sz="1800" b="1" i="0">
                <a:solidFill>
                  <a:srgbClr val="122E66"/>
                </a:solidFill>
                <a:latin typeface="Calibri"/>
                <a:ea typeface="Calibri"/>
                <a:cs typeface="Calibri"/>
              </a:defRPr>
            </a:pPr>
            <a:r>
              <a:rPr sz="1800" b="1" i="0">
                <a:solidFill>
                  <a:srgbClr val="122E66"/>
                </a:solidFill>
                <a:latin typeface="Calibri"/>
                <a:ea typeface="Calibri"/>
                <a:cs typeface="Calibri"/>
              </a:rPr>
              <a:t>ICDM 2026</a:t>
            </a:r>
          </a:p>
        </p:txBody>
      </p:sp>
      <p:sp>
        <p:nvSpPr>
          <p:cNvPr id="16" name="paper-title-unified">
            <a:extLst>
              <a:ext uri="{FF2B5EF4-FFF2-40B4-BE49-F238E27FC236}">
                <a16:creationId xmlns:a16="http://schemas.microsoft.com/office/drawing/2014/main" id="{8603D8C2-5B94-4A6C-B89A-F3E16AD5AADD}"/>
              </a:ext>
            </a:extLst>
          </p:cNvPr>
          <p:cNvSpPr>
            <a:spLocks noGrp="1"/>
          </p:cNvSpPr>
          <p:nvPr/>
        </p:nvSpPr>
        <p:spPr>
          <a:xfrm>
            <a:off x="619125" y="2524125"/>
            <a:ext cx="10953750" cy="2000250"/>
          </a:xfrm>
          <a:prstGeom prst="rect">
            <a:avLst/>
          </a:prstGeom>
          <a:noFill/>
          <a:ln w="0">
            <a:noFill/>
          </a:ln>
        </p:spPr>
        <p:txBody>
          <a:bodyPr wrap="square" lIns="0" tIns="0" rIns="0" bIns="0" anchor="t">
            <a:noAutofit/>
          </a:bodyPr>
          <a:lstStyle>
            <a:defPPr algn="ctr">
              <a:defRPr sz="3600" b="1">
                <a:solidFill>
                  <a:srgbClr val="FFFFFF"/>
                </a:solidFill>
                <a:latin typeface="Calibri"/>
                <a:ea typeface="Calibri"/>
                <a:cs typeface="Calibri"/>
              </a:defRPr>
            </a:defPPr>
          </a:lstStyle>
          <a:p>
            <a:pPr algn="ctr">
              <a:defRPr sz="3600" b="1">
                <a:solidFill>
                  <a:srgbClr val="FFFFFF"/>
                </a:solidFill>
                <a:latin typeface="Calibri"/>
                <a:ea typeface="Calibri"/>
                <a:cs typeface="Calibri"/>
              </a:defRPr>
            </a:pPr>
            <a:r>
              <a:rPr sz="3600" b="1">
                <a:solidFill>
                  <a:srgbClr val="FFFFFF"/>
                </a:solidFill>
                <a:latin typeface="Calibri"/>
                <a:ea typeface="Calibri"/>
                <a:cs typeface="Calibri"/>
              </a:rPr>
              <a:t>Explain, Then Forget:</a:t>
            </a:r>
          </a:p>
          <a:p>
            <a:pPr algn="ctr">
              <a:defRPr sz="3600" b="1">
                <a:solidFill>
                  <a:srgbClr val="FFFFFF"/>
                </a:solidFill>
                <a:latin typeface="Calibri"/>
                <a:ea typeface="Calibri"/>
                <a:cs typeface="Calibri"/>
              </a:defRPr>
            </a:pPr>
            <a:r>
              <a:rPr sz="3600" b="1">
                <a:solidFill>
                  <a:srgbClr val="FFFFFF"/>
                </a:solidFill>
                <a:latin typeface="Calibri"/>
                <a:ea typeface="Calibri"/>
                <a:cs typeface="Calibri"/>
              </a:rPr>
              <a:t>Recommendation Unlearning under</a:t>
            </a:r>
          </a:p>
          <a:p>
            <a:pPr algn="ctr">
              <a:defRPr sz="3600" b="1">
                <a:solidFill>
                  <a:srgbClr val="FFFFFF"/>
                </a:solidFill>
                <a:latin typeface="Calibri"/>
                <a:ea typeface="Calibri"/>
                <a:cs typeface="Calibri"/>
              </a:defRPr>
            </a:pPr>
            <a:r>
              <a:rPr sz="3600" b="1">
                <a:solidFill>
                  <a:srgbClr val="FFFFFF"/>
                </a:solidFill>
                <a:latin typeface="Calibri"/>
                <a:ea typeface="Calibri"/>
                <a:cs typeface="Calibri"/>
              </a:rPr>
              <a:t>Asymmetric Access Constraint</a:t>
            </a:r>
          </a:p>
        </p:txBody>
      </p:sp>
      <p:pic>
        <p:nvPicPr>
          <p:cNvPr id="4" name="图片 3">
            <a:extLst>
              <a:ext uri="{FF2B5EF4-FFF2-40B4-BE49-F238E27FC236}">
                <a16:creationId xmlns:a16="http://schemas.microsoft.com/office/drawing/2014/main" id="{BC1CAB38-E660-ACF9-BE5F-23A827AC2D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73658" y="3994725"/>
            <a:ext cx="2618342" cy="958866"/>
          </a:xfrm>
          <a:prstGeom prst="rect">
            <a:avLst/>
          </a:prstGeom>
        </p:spPr>
      </p:pic>
    </p:spTree>
    <p:extLst>
      <p:ext uri="{BB962C8B-B14F-4D97-AF65-F5344CB8AC3E}">
        <p14:creationId xmlns:p14="http://schemas.microsoft.com/office/powerpoint/2010/main" val="650285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iṡ1íḋe">
            <a:extLst>
              <a:ext uri="{FF2B5EF4-FFF2-40B4-BE49-F238E27FC236}">
                <a16:creationId xmlns:a16="http://schemas.microsoft.com/office/drawing/2014/main" id="{49211695-02AB-FC2E-5D95-43D6B1D65389}"/>
              </a:ext>
            </a:extLst>
          </p:cNvPr>
          <p:cNvSpPr>
            <a:spLocks noGrp="1"/>
          </p:cNvSpPr>
          <p:nvPr/>
        </p:nvSpPr>
        <p:spPr>
          <a:xfrm>
            <a:off x="0" y="0"/>
            <a:ext cx="12192000" cy="2298478"/>
          </a:xfrm>
          <a:prstGeom prst="rect">
            <a:avLst/>
          </a:prstGeom>
          <a:solidFill>
            <a:srgbClr val="122E6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strike="noStrike" kern="1200" cap="none" spc="0" baseline="0">
              <a:ln>
                <a:noFill/>
              </a:ln>
              <a:solidFill>
                <a:srgbClr val="122E66"/>
              </a:solidFill>
              <a:latin typeface="Arial"/>
              <a:ea typeface="Arial"/>
              <a:cs typeface="Arial"/>
            </a:endParaRPr>
          </a:p>
        </p:txBody>
      </p:sp>
      <p:sp>
        <p:nvSpPr>
          <p:cNvPr id="175" name="直接连接符 174">
            <a:extLst>
              <a:ext uri="{FF2B5EF4-FFF2-40B4-BE49-F238E27FC236}">
                <a16:creationId xmlns:a16="http://schemas.microsoft.com/office/drawing/2014/main" id="{D45580B1-DCE0-4C3B-8B28-75F1E6BF38E3}"/>
              </a:ext>
            </a:extLst>
          </p:cNvPr>
          <p:cNvSpPr>
            <a:spLocks noGrp="1"/>
          </p:cNvSpPr>
          <p:nvPr/>
        </p:nvSpPr>
        <p:spPr>
          <a:xfrm>
            <a:off x="0" y="2191131"/>
            <a:ext cx="12192000" cy="0"/>
          </a:xfrm>
          <a:prstGeom prst="line">
            <a:avLst/>
          </a:prstGeom>
          <a:ln w="34925">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08" name="content-10">
            <a:extLst>
              <a:ext uri="{FF2B5EF4-FFF2-40B4-BE49-F238E27FC236}">
                <a16:creationId xmlns:a16="http://schemas.microsoft.com/office/drawing/2014/main" id="{D95E2EA0-A267-4DBD-91B9-F39DDDF26DFC}"/>
              </a:ext>
            </a:extLst>
          </p:cNvPr>
          <p:cNvSpPr>
            <a:spLocks noGrp="1"/>
          </p:cNvSpPr>
          <p:nvPr/>
        </p:nvSpPr>
        <p:spPr>
          <a:xfrm>
            <a:off x="952500" y="809625"/>
            <a:ext cx="10287000" cy="714375"/>
          </a:xfrm>
          <a:prstGeom prst="rect">
            <a:avLst/>
          </a:prstGeom>
          <a:noFill/>
          <a:ln w="0">
            <a:noFill/>
          </a:ln>
        </p:spPr>
        <p:txBody>
          <a:bodyPr wrap="square" lIns="0" tIns="0" rIns="0" bIns="0" anchor="t">
            <a:noAutofit/>
          </a:bodyPr>
          <a:lstStyle>
            <a:defPPr algn="ctr">
              <a:defRPr sz="3900" b="1" i="0">
                <a:solidFill>
                  <a:srgbClr val="FFFFFF"/>
                </a:solidFill>
                <a:latin typeface="Calibri"/>
                <a:ea typeface="Calibri"/>
                <a:cs typeface="Calibri"/>
              </a:defRPr>
            </a:defPPr>
          </a:lstStyle>
          <a:p>
            <a:pPr algn="ctr">
              <a:buNone/>
              <a:defRPr sz="3900" b="1" i="0">
                <a:solidFill>
                  <a:srgbClr val="FFFFFF"/>
                </a:solidFill>
                <a:latin typeface="Calibri"/>
                <a:ea typeface="Calibri"/>
                <a:cs typeface="Calibri"/>
              </a:defRPr>
            </a:pPr>
            <a:r>
              <a:rPr sz="3900" b="1" i="0">
                <a:solidFill>
                  <a:srgbClr val="FFFFFF"/>
                </a:solidFill>
                <a:latin typeface="Calibri"/>
                <a:ea typeface="Calibri"/>
                <a:cs typeface="Calibri"/>
              </a:rPr>
              <a:t>CONTENTS</a:t>
            </a:r>
          </a:p>
        </p:txBody>
      </p:sp>
      <p:pic>
        <p:nvPicPr>
          <p:cNvPr id="221" name="图片 220">
            <a:extLst>
              <a:ext uri="{FF2B5EF4-FFF2-40B4-BE49-F238E27FC236}">
                <a16:creationId xmlns:a16="http://schemas.microsoft.com/office/drawing/2014/main" id="{1D28B894-2121-4BCE-A3A3-758B3EDC0C5C}"/>
              </a:ext>
            </a:extLst>
          </p:cNvPr>
          <p:cNvPicPr>
            <a:picLocks noChangeAspect="1"/>
          </p:cNvPicPr>
          <p:nvPr/>
        </p:nvPicPr>
        <p:blipFill>
          <a:blip r:embed="rId3"/>
          <a:stretch/>
        </p:blipFill>
        <p:spPr>
          <a:xfrm>
            <a:off x="428625" y="6431310"/>
            <a:ext cx="1857375" cy="367605"/>
          </a:xfrm>
          <a:prstGeom prst="rect">
            <a:avLst/>
          </a:prstGeom>
        </p:spPr>
      </p:pic>
      <p:sp>
        <p:nvSpPr>
          <p:cNvPr id="222" name="agenda-number-1">
            <a:extLst>
              <a:ext uri="{FF2B5EF4-FFF2-40B4-BE49-F238E27FC236}">
                <a16:creationId xmlns:a16="http://schemas.microsoft.com/office/drawing/2014/main" id="{8AD27E8B-295C-492A-9024-79FC3A13D41A}"/>
              </a:ext>
            </a:extLst>
          </p:cNvPr>
          <p:cNvSpPr>
            <a:spLocks noGrp="1"/>
          </p:cNvSpPr>
          <p:nvPr/>
        </p:nvSpPr>
        <p:spPr>
          <a:xfrm>
            <a:off x="1657350" y="2647950"/>
            <a:ext cx="552450" cy="438150"/>
          </a:xfrm>
          <a:prstGeom prst="rect">
            <a:avLst/>
          </a:prstGeom>
          <a:noFill/>
          <a:ln w="0">
            <a:noFill/>
          </a:ln>
        </p:spPr>
        <p:txBody>
          <a:bodyPr wrap="square" lIns="0" tIns="0" rIns="0" bIns="0" anchor="t">
            <a:noAutofit/>
          </a:bodyPr>
          <a:lstStyle>
            <a:defPPr algn="l">
              <a:defRPr sz="2250" b="1">
                <a:solidFill>
                  <a:srgbClr val="122E66"/>
                </a:solidFill>
                <a:latin typeface="Calibri"/>
                <a:ea typeface="Calibri"/>
                <a:cs typeface="Calibri"/>
              </a:defRPr>
            </a:defPPr>
          </a:lstStyle>
          <a:p>
            <a:pPr algn="l">
              <a:defRPr sz="2250" b="1">
                <a:solidFill>
                  <a:srgbClr val="122E66"/>
                </a:solidFill>
                <a:latin typeface="Calibri"/>
                <a:ea typeface="Calibri"/>
                <a:cs typeface="Calibri"/>
              </a:defRPr>
            </a:pPr>
            <a:r>
              <a:rPr sz="2250" b="1">
                <a:solidFill>
                  <a:srgbClr val="122E66"/>
                </a:solidFill>
                <a:latin typeface="Calibri"/>
                <a:ea typeface="Calibri"/>
                <a:cs typeface="Calibri"/>
              </a:rPr>
              <a:t>01</a:t>
            </a:r>
          </a:p>
        </p:txBody>
      </p:sp>
      <p:sp>
        <p:nvSpPr>
          <p:cNvPr id="223" name="agenda-chapter-1">
            <a:extLst>
              <a:ext uri="{FF2B5EF4-FFF2-40B4-BE49-F238E27FC236}">
                <a16:creationId xmlns:a16="http://schemas.microsoft.com/office/drawing/2014/main" id="{1FAACEB4-CF08-471B-B0AF-04FCCE990B0E}"/>
              </a:ext>
            </a:extLst>
          </p:cNvPr>
          <p:cNvSpPr>
            <a:spLocks noGrp="1"/>
          </p:cNvSpPr>
          <p:nvPr/>
        </p:nvSpPr>
        <p:spPr>
          <a:xfrm>
            <a:off x="2495550" y="2647950"/>
            <a:ext cx="3095625" cy="438150"/>
          </a:xfrm>
          <a:prstGeom prst="rect">
            <a:avLst/>
          </a:prstGeom>
          <a:noFill/>
          <a:ln w="0">
            <a:noFill/>
          </a:ln>
        </p:spPr>
        <p:txBody>
          <a:bodyPr wrap="square" lIns="0" tIns="0" rIns="0" bIns="0" anchor="t">
            <a:noAutofit/>
          </a:bodyPr>
          <a:lstStyle>
            <a:defPPr algn="l">
              <a:defRPr sz="2250" b="1">
                <a:solidFill>
                  <a:srgbClr val="122E66"/>
                </a:solidFill>
                <a:latin typeface="Calibri"/>
                <a:ea typeface="Calibri"/>
                <a:cs typeface="Calibri"/>
              </a:defRPr>
            </a:defPPr>
          </a:lstStyle>
          <a:p>
            <a:pPr algn="l">
              <a:defRPr sz="2250" b="1">
                <a:solidFill>
                  <a:srgbClr val="122E66"/>
                </a:solidFill>
                <a:latin typeface="Calibri"/>
                <a:ea typeface="Calibri"/>
                <a:cs typeface="Calibri"/>
              </a:defRPr>
            </a:pPr>
            <a:r>
              <a:rPr sz="2250" b="1">
                <a:solidFill>
                  <a:srgbClr val="122E66"/>
                </a:solidFill>
                <a:latin typeface="Calibri"/>
                <a:ea typeface="Calibri"/>
                <a:cs typeface="Calibri"/>
              </a:rPr>
              <a:t>Motivation</a:t>
            </a:r>
          </a:p>
        </p:txBody>
      </p:sp>
      <p:sp>
        <p:nvSpPr>
          <p:cNvPr id="224" name="agenda-description-1">
            <a:extLst>
              <a:ext uri="{FF2B5EF4-FFF2-40B4-BE49-F238E27FC236}">
                <a16:creationId xmlns:a16="http://schemas.microsoft.com/office/drawing/2014/main" id="{2491569C-F7E0-4B80-B2C3-2C64E20DFFF1}"/>
              </a:ext>
            </a:extLst>
          </p:cNvPr>
          <p:cNvSpPr>
            <a:spLocks noGrp="1"/>
          </p:cNvSpPr>
          <p:nvPr/>
        </p:nvSpPr>
        <p:spPr>
          <a:xfrm>
            <a:off x="6048375" y="2676525"/>
            <a:ext cx="5476875" cy="600075"/>
          </a:xfrm>
          <a:prstGeom prst="rect">
            <a:avLst/>
          </a:prstGeom>
          <a:noFill/>
          <a:ln w="0">
            <a:noFill/>
          </a:ln>
        </p:spPr>
        <p:txBody>
          <a:bodyPr wrap="square" lIns="0" tIns="0" rIns="0" bIns="0" anchor="t">
            <a:noAutofit/>
          </a:bodyPr>
          <a:lstStyle>
            <a:defPPr algn="l">
              <a:defRPr sz="1875" b="0">
                <a:solidFill>
                  <a:srgbClr val="666666"/>
                </a:solidFill>
                <a:latin typeface="Calibri"/>
                <a:ea typeface="Calibri"/>
                <a:cs typeface="Calibri"/>
              </a:defRPr>
            </a:defPPr>
          </a:lstStyle>
          <a:p>
            <a:pPr algn="l">
              <a:defRPr sz="1875" b="0">
                <a:solidFill>
                  <a:srgbClr val="666666"/>
                </a:solidFill>
                <a:latin typeface="Calibri"/>
                <a:ea typeface="Calibri"/>
                <a:cs typeface="Calibri"/>
              </a:defRPr>
            </a:pPr>
            <a:r>
              <a:rPr sz="1875" b="0">
                <a:solidFill>
                  <a:srgbClr val="666666"/>
                </a:solidFill>
                <a:latin typeface="Calibri"/>
                <a:ea typeface="Calibri"/>
                <a:cs typeface="Calibri"/>
              </a:rPr>
              <a:t>Recommendation unlearning with limited model access</a:t>
            </a:r>
          </a:p>
        </p:txBody>
      </p:sp>
      <p:sp>
        <p:nvSpPr>
          <p:cNvPr id="225" name="agenda-number-2">
            <a:extLst>
              <a:ext uri="{FF2B5EF4-FFF2-40B4-BE49-F238E27FC236}">
                <a16:creationId xmlns:a16="http://schemas.microsoft.com/office/drawing/2014/main" id="{07740CA2-BB76-45A6-A02B-CA2E1E8D87D7}"/>
              </a:ext>
            </a:extLst>
          </p:cNvPr>
          <p:cNvSpPr>
            <a:spLocks noGrp="1"/>
          </p:cNvSpPr>
          <p:nvPr/>
        </p:nvSpPr>
        <p:spPr>
          <a:xfrm>
            <a:off x="1657350" y="3343275"/>
            <a:ext cx="552450" cy="438150"/>
          </a:xfrm>
          <a:prstGeom prst="rect">
            <a:avLst/>
          </a:prstGeom>
          <a:noFill/>
          <a:ln w="0">
            <a:noFill/>
          </a:ln>
        </p:spPr>
        <p:txBody>
          <a:bodyPr wrap="square" lIns="0" tIns="0" rIns="0" bIns="0" anchor="t">
            <a:noAutofit/>
          </a:bodyPr>
          <a:lstStyle>
            <a:defPPr algn="l">
              <a:defRPr sz="2250" b="1">
                <a:solidFill>
                  <a:srgbClr val="122E66"/>
                </a:solidFill>
                <a:latin typeface="Calibri"/>
                <a:ea typeface="Calibri"/>
                <a:cs typeface="Calibri"/>
              </a:defRPr>
            </a:defPPr>
          </a:lstStyle>
          <a:p>
            <a:pPr algn="l">
              <a:defRPr sz="2250" b="1">
                <a:solidFill>
                  <a:srgbClr val="122E66"/>
                </a:solidFill>
                <a:latin typeface="Calibri"/>
                <a:ea typeface="Calibri"/>
                <a:cs typeface="Calibri"/>
              </a:defRPr>
            </a:pPr>
            <a:r>
              <a:rPr sz="2250" b="1">
                <a:solidFill>
                  <a:srgbClr val="122E66"/>
                </a:solidFill>
                <a:latin typeface="Calibri"/>
                <a:ea typeface="Calibri"/>
                <a:cs typeface="Calibri"/>
              </a:rPr>
              <a:t>02</a:t>
            </a:r>
          </a:p>
        </p:txBody>
      </p:sp>
      <p:sp>
        <p:nvSpPr>
          <p:cNvPr id="226" name="agenda-chapter-2">
            <a:extLst>
              <a:ext uri="{FF2B5EF4-FFF2-40B4-BE49-F238E27FC236}">
                <a16:creationId xmlns:a16="http://schemas.microsoft.com/office/drawing/2014/main" id="{68F2DB62-EE5F-4EBD-B1B7-484103D8AB76}"/>
              </a:ext>
            </a:extLst>
          </p:cNvPr>
          <p:cNvSpPr>
            <a:spLocks noGrp="1"/>
          </p:cNvSpPr>
          <p:nvPr/>
        </p:nvSpPr>
        <p:spPr>
          <a:xfrm>
            <a:off x="2495550" y="3343275"/>
            <a:ext cx="3095625" cy="438150"/>
          </a:xfrm>
          <a:prstGeom prst="rect">
            <a:avLst/>
          </a:prstGeom>
          <a:noFill/>
          <a:ln w="0">
            <a:noFill/>
          </a:ln>
        </p:spPr>
        <p:txBody>
          <a:bodyPr wrap="square" lIns="0" tIns="0" rIns="0" bIns="0" anchor="t">
            <a:noAutofit/>
          </a:bodyPr>
          <a:lstStyle>
            <a:defPPr algn="l">
              <a:defRPr sz="2250" b="1">
                <a:solidFill>
                  <a:srgbClr val="122E66"/>
                </a:solidFill>
                <a:latin typeface="Calibri"/>
                <a:ea typeface="Calibri"/>
                <a:cs typeface="Calibri"/>
              </a:defRPr>
            </a:defPPr>
          </a:lstStyle>
          <a:p>
            <a:pPr algn="l">
              <a:defRPr sz="2250" b="1">
                <a:solidFill>
                  <a:srgbClr val="122E66"/>
                </a:solidFill>
                <a:latin typeface="Calibri"/>
                <a:ea typeface="Calibri"/>
                <a:cs typeface="Calibri"/>
              </a:defRPr>
            </a:pPr>
            <a:r>
              <a:rPr sz="2250" b="1">
                <a:solidFill>
                  <a:srgbClr val="122E66"/>
                </a:solidFill>
                <a:latin typeface="Calibri"/>
                <a:ea typeface="Calibri"/>
                <a:cs typeface="Calibri"/>
              </a:rPr>
              <a:t>Contributions</a:t>
            </a:r>
          </a:p>
        </p:txBody>
      </p:sp>
      <p:sp>
        <p:nvSpPr>
          <p:cNvPr id="227" name="agenda-description-2">
            <a:extLst>
              <a:ext uri="{FF2B5EF4-FFF2-40B4-BE49-F238E27FC236}">
                <a16:creationId xmlns:a16="http://schemas.microsoft.com/office/drawing/2014/main" id="{E4EF4192-3215-4E06-98B9-68AF78A49EF4}"/>
              </a:ext>
            </a:extLst>
          </p:cNvPr>
          <p:cNvSpPr>
            <a:spLocks noGrp="1"/>
          </p:cNvSpPr>
          <p:nvPr/>
        </p:nvSpPr>
        <p:spPr>
          <a:xfrm>
            <a:off x="6048375" y="3371850"/>
            <a:ext cx="5476875" cy="600075"/>
          </a:xfrm>
          <a:prstGeom prst="rect">
            <a:avLst/>
          </a:prstGeom>
          <a:noFill/>
          <a:ln w="0">
            <a:noFill/>
          </a:ln>
        </p:spPr>
        <p:txBody>
          <a:bodyPr wrap="square" lIns="0" tIns="0" rIns="0" bIns="0" anchor="t">
            <a:noAutofit/>
          </a:bodyPr>
          <a:lstStyle>
            <a:defPPr algn="l">
              <a:defRPr sz="1875" b="0">
                <a:solidFill>
                  <a:srgbClr val="666666"/>
                </a:solidFill>
                <a:latin typeface="Calibri"/>
                <a:ea typeface="Calibri"/>
                <a:cs typeface="Calibri"/>
              </a:defRPr>
            </a:defPPr>
          </a:lstStyle>
          <a:p>
            <a:pPr algn="l">
              <a:defRPr sz="1875" b="0">
                <a:solidFill>
                  <a:srgbClr val="666666"/>
                </a:solidFill>
                <a:latin typeface="Calibri"/>
                <a:ea typeface="Calibri"/>
                <a:cs typeface="Calibri"/>
              </a:defRPr>
            </a:pPr>
            <a:r>
              <a:rPr sz="1875" b="0">
                <a:solidFill>
                  <a:srgbClr val="666666"/>
                </a:solidFill>
                <a:latin typeface="Calibri"/>
                <a:ea typeface="Calibri"/>
                <a:cs typeface="Calibri"/>
              </a:rPr>
              <a:t>The CEU framework and its two components</a:t>
            </a:r>
          </a:p>
        </p:txBody>
      </p:sp>
      <p:sp>
        <p:nvSpPr>
          <p:cNvPr id="228" name="agenda-number-3">
            <a:extLst>
              <a:ext uri="{FF2B5EF4-FFF2-40B4-BE49-F238E27FC236}">
                <a16:creationId xmlns:a16="http://schemas.microsoft.com/office/drawing/2014/main" id="{AF5551C3-EAA2-4268-A8C5-DF8E81FCE7B1}"/>
              </a:ext>
            </a:extLst>
          </p:cNvPr>
          <p:cNvSpPr>
            <a:spLocks noGrp="1"/>
          </p:cNvSpPr>
          <p:nvPr/>
        </p:nvSpPr>
        <p:spPr>
          <a:xfrm>
            <a:off x="1657350" y="4038600"/>
            <a:ext cx="552450" cy="438150"/>
          </a:xfrm>
          <a:prstGeom prst="rect">
            <a:avLst/>
          </a:prstGeom>
          <a:noFill/>
          <a:ln w="0">
            <a:noFill/>
          </a:ln>
        </p:spPr>
        <p:txBody>
          <a:bodyPr wrap="square" lIns="0" tIns="0" rIns="0" bIns="0" anchor="t">
            <a:noAutofit/>
          </a:bodyPr>
          <a:lstStyle>
            <a:defPPr algn="l">
              <a:defRPr sz="2250" b="1">
                <a:solidFill>
                  <a:srgbClr val="122E66"/>
                </a:solidFill>
                <a:latin typeface="Calibri"/>
                <a:ea typeface="Calibri"/>
                <a:cs typeface="Calibri"/>
              </a:defRPr>
            </a:defPPr>
          </a:lstStyle>
          <a:p>
            <a:pPr algn="l">
              <a:defRPr sz="2250" b="1">
                <a:solidFill>
                  <a:srgbClr val="122E66"/>
                </a:solidFill>
                <a:latin typeface="Calibri"/>
                <a:ea typeface="Calibri"/>
                <a:cs typeface="Calibri"/>
              </a:defRPr>
            </a:pPr>
            <a:r>
              <a:rPr sz="2250" b="1">
                <a:solidFill>
                  <a:srgbClr val="122E66"/>
                </a:solidFill>
                <a:latin typeface="Calibri"/>
                <a:ea typeface="Calibri"/>
                <a:cs typeface="Calibri"/>
              </a:rPr>
              <a:t>03</a:t>
            </a:r>
          </a:p>
        </p:txBody>
      </p:sp>
      <p:sp>
        <p:nvSpPr>
          <p:cNvPr id="229" name="agenda-chapter-3">
            <a:extLst>
              <a:ext uri="{FF2B5EF4-FFF2-40B4-BE49-F238E27FC236}">
                <a16:creationId xmlns:a16="http://schemas.microsoft.com/office/drawing/2014/main" id="{C5FD5FF7-86FF-451A-87F4-7D7CB4F11916}"/>
              </a:ext>
            </a:extLst>
          </p:cNvPr>
          <p:cNvSpPr>
            <a:spLocks noGrp="1"/>
          </p:cNvSpPr>
          <p:nvPr/>
        </p:nvSpPr>
        <p:spPr>
          <a:xfrm>
            <a:off x="2495550" y="4038600"/>
            <a:ext cx="3095625" cy="438150"/>
          </a:xfrm>
          <a:prstGeom prst="rect">
            <a:avLst/>
          </a:prstGeom>
          <a:noFill/>
          <a:ln w="0">
            <a:noFill/>
          </a:ln>
        </p:spPr>
        <p:txBody>
          <a:bodyPr wrap="square" lIns="0" tIns="0" rIns="0" bIns="0" anchor="t">
            <a:noAutofit/>
          </a:bodyPr>
          <a:lstStyle>
            <a:defPPr algn="l">
              <a:defRPr sz="2250" b="1">
                <a:solidFill>
                  <a:srgbClr val="122E66"/>
                </a:solidFill>
                <a:latin typeface="Calibri"/>
                <a:ea typeface="Calibri"/>
                <a:cs typeface="Calibri"/>
              </a:defRPr>
            </a:defPPr>
          </a:lstStyle>
          <a:p>
            <a:pPr algn="l">
              <a:defRPr sz="2250" b="1">
                <a:solidFill>
                  <a:srgbClr val="122E66"/>
                </a:solidFill>
                <a:latin typeface="Calibri"/>
                <a:ea typeface="Calibri"/>
                <a:cs typeface="Calibri"/>
              </a:defRPr>
            </a:pPr>
            <a:r>
              <a:rPr sz="2250" b="1">
                <a:solidFill>
                  <a:srgbClr val="122E66"/>
                </a:solidFill>
                <a:latin typeface="Calibri"/>
                <a:ea typeface="Calibri"/>
                <a:cs typeface="Calibri"/>
              </a:rPr>
              <a:t>Method</a:t>
            </a:r>
          </a:p>
        </p:txBody>
      </p:sp>
      <p:sp>
        <p:nvSpPr>
          <p:cNvPr id="230" name="agenda-description-3">
            <a:extLst>
              <a:ext uri="{FF2B5EF4-FFF2-40B4-BE49-F238E27FC236}">
                <a16:creationId xmlns:a16="http://schemas.microsoft.com/office/drawing/2014/main" id="{D443A186-8EFC-470C-A4E3-AF0C85E0B5EF}"/>
              </a:ext>
            </a:extLst>
          </p:cNvPr>
          <p:cNvSpPr>
            <a:spLocks noGrp="1"/>
          </p:cNvSpPr>
          <p:nvPr/>
        </p:nvSpPr>
        <p:spPr>
          <a:xfrm>
            <a:off x="6048375" y="4067175"/>
            <a:ext cx="5476875" cy="600075"/>
          </a:xfrm>
          <a:prstGeom prst="rect">
            <a:avLst/>
          </a:prstGeom>
          <a:noFill/>
          <a:ln w="0">
            <a:noFill/>
          </a:ln>
        </p:spPr>
        <p:txBody>
          <a:bodyPr wrap="square" lIns="0" tIns="0" rIns="0" bIns="0" anchor="t">
            <a:noAutofit/>
          </a:bodyPr>
          <a:lstStyle>
            <a:defPPr algn="l">
              <a:defRPr sz="1875" b="0">
                <a:solidFill>
                  <a:srgbClr val="666666"/>
                </a:solidFill>
                <a:latin typeface="Calibri"/>
                <a:ea typeface="Calibri"/>
                <a:cs typeface="Calibri"/>
              </a:defRPr>
            </a:defPPr>
          </a:lstStyle>
          <a:p>
            <a:pPr algn="l">
              <a:defRPr sz="1875" b="0">
                <a:solidFill>
                  <a:srgbClr val="666666"/>
                </a:solidFill>
                <a:latin typeface="Calibri"/>
                <a:ea typeface="Calibri"/>
                <a:cs typeface="Calibri"/>
              </a:defRPr>
            </a:pPr>
            <a:r>
              <a:rPr sz="1875" b="0">
                <a:solidFill>
                  <a:srgbClr val="666666"/>
                </a:solidFill>
                <a:latin typeface="Calibri"/>
                <a:ea typeface="Calibri"/>
                <a:cs typeface="Calibri"/>
              </a:rPr>
              <a:t>Counterfactual support, CCI and URA</a:t>
            </a:r>
          </a:p>
        </p:txBody>
      </p:sp>
      <p:sp>
        <p:nvSpPr>
          <p:cNvPr id="231" name="agenda-number-4">
            <a:extLst>
              <a:ext uri="{FF2B5EF4-FFF2-40B4-BE49-F238E27FC236}">
                <a16:creationId xmlns:a16="http://schemas.microsoft.com/office/drawing/2014/main" id="{CDFAE3FA-62E5-4D01-8D10-D3BCBA45CD9C}"/>
              </a:ext>
            </a:extLst>
          </p:cNvPr>
          <p:cNvSpPr>
            <a:spLocks noGrp="1"/>
          </p:cNvSpPr>
          <p:nvPr/>
        </p:nvSpPr>
        <p:spPr>
          <a:xfrm>
            <a:off x="1657350" y="4733925"/>
            <a:ext cx="552450" cy="438150"/>
          </a:xfrm>
          <a:prstGeom prst="rect">
            <a:avLst/>
          </a:prstGeom>
          <a:noFill/>
          <a:ln w="0">
            <a:noFill/>
          </a:ln>
        </p:spPr>
        <p:txBody>
          <a:bodyPr wrap="square" lIns="0" tIns="0" rIns="0" bIns="0" anchor="t">
            <a:noAutofit/>
          </a:bodyPr>
          <a:lstStyle>
            <a:defPPr algn="l">
              <a:defRPr sz="2250" b="1">
                <a:solidFill>
                  <a:srgbClr val="122E66"/>
                </a:solidFill>
                <a:latin typeface="Calibri"/>
                <a:ea typeface="Calibri"/>
                <a:cs typeface="Calibri"/>
              </a:defRPr>
            </a:defPPr>
          </a:lstStyle>
          <a:p>
            <a:pPr algn="l">
              <a:defRPr sz="2250" b="1">
                <a:solidFill>
                  <a:srgbClr val="122E66"/>
                </a:solidFill>
                <a:latin typeface="Calibri"/>
                <a:ea typeface="Calibri"/>
                <a:cs typeface="Calibri"/>
              </a:defRPr>
            </a:pPr>
            <a:r>
              <a:rPr sz="2250" b="1">
                <a:solidFill>
                  <a:srgbClr val="122E66"/>
                </a:solidFill>
                <a:latin typeface="Calibri"/>
                <a:ea typeface="Calibri"/>
                <a:cs typeface="Calibri"/>
              </a:rPr>
              <a:t>04</a:t>
            </a:r>
          </a:p>
        </p:txBody>
      </p:sp>
      <p:sp>
        <p:nvSpPr>
          <p:cNvPr id="232" name="agenda-chapter-4">
            <a:extLst>
              <a:ext uri="{FF2B5EF4-FFF2-40B4-BE49-F238E27FC236}">
                <a16:creationId xmlns:a16="http://schemas.microsoft.com/office/drawing/2014/main" id="{05C7BC90-A032-4394-BD0A-4107922EF9C1}"/>
              </a:ext>
            </a:extLst>
          </p:cNvPr>
          <p:cNvSpPr>
            <a:spLocks noGrp="1"/>
          </p:cNvSpPr>
          <p:nvPr/>
        </p:nvSpPr>
        <p:spPr>
          <a:xfrm>
            <a:off x="2495550" y="4733925"/>
            <a:ext cx="3095625" cy="438150"/>
          </a:xfrm>
          <a:prstGeom prst="rect">
            <a:avLst/>
          </a:prstGeom>
          <a:noFill/>
          <a:ln w="0">
            <a:noFill/>
          </a:ln>
        </p:spPr>
        <p:txBody>
          <a:bodyPr wrap="square" lIns="0" tIns="0" rIns="0" bIns="0" anchor="t">
            <a:noAutofit/>
          </a:bodyPr>
          <a:lstStyle>
            <a:defPPr algn="l">
              <a:defRPr sz="2250" b="1">
                <a:solidFill>
                  <a:srgbClr val="122E66"/>
                </a:solidFill>
                <a:latin typeface="Calibri"/>
                <a:ea typeface="Calibri"/>
                <a:cs typeface="Calibri"/>
              </a:defRPr>
            </a:defPPr>
          </a:lstStyle>
          <a:p>
            <a:pPr algn="l">
              <a:defRPr sz="2250" b="1">
                <a:solidFill>
                  <a:srgbClr val="122E66"/>
                </a:solidFill>
                <a:latin typeface="Calibri"/>
                <a:ea typeface="Calibri"/>
                <a:cs typeface="Calibri"/>
              </a:defRPr>
            </a:pPr>
            <a:r>
              <a:rPr sz="2250" b="1">
                <a:solidFill>
                  <a:srgbClr val="122E66"/>
                </a:solidFill>
                <a:latin typeface="Calibri"/>
                <a:ea typeface="Calibri"/>
                <a:cs typeface="Calibri"/>
              </a:rPr>
              <a:t>Experiments</a:t>
            </a:r>
          </a:p>
        </p:txBody>
      </p:sp>
      <p:sp>
        <p:nvSpPr>
          <p:cNvPr id="233" name="agenda-description-4">
            <a:extLst>
              <a:ext uri="{FF2B5EF4-FFF2-40B4-BE49-F238E27FC236}">
                <a16:creationId xmlns:a16="http://schemas.microsoft.com/office/drawing/2014/main" id="{E7AE4EAD-2D6E-4481-BF41-8449B722F068}"/>
              </a:ext>
            </a:extLst>
          </p:cNvPr>
          <p:cNvSpPr>
            <a:spLocks noGrp="1"/>
          </p:cNvSpPr>
          <p:nvPr/>
        </p:nvSpPr>
        <p:spPr>
          <a:xfrm>
            <a:off x="6048375" y="4762500"/>
            <a:ext cx="5476875" cy="600075"/>
          </a:xfrm>
          <a:prstGeom prst="rect">
            <a:avLst/>
          </a:prstGeom>
          <a:noFill/>
          <a:ln w="0">
            <a:noFill/>
          </a:ln>
        </p:spPr>
        <p:txBody>
          <a:bodyPr wrap="square" lIns="0" tIns="0" rIns="0" bIns="0" anchor="t">
            <a:noAutofit/>
          </a:bodyPr>
          <a:lstStyle>
            <a:defPPr algn="l">
              <a:defRPr sz="1875" b="0">
                <a:solidFill>
                  <a:srgbClr val="666666"/>
                </a:solidFill>
                <a:latin typeface="Calibri"/>
                <a:ea typeface="Calibri"/>
                <a:cs typeface="Calibri"/>
              </a:defRPr>
            </a:defPPr>
          </a:lstStyle>
          <a:p>
            <a:pPr algn="l">
              <a:defRPr sz="1875" b="0">
                <a:solidFill>
                  <a:srgbClr val="666666"/>
                </a:solidFill>
                <a:latin typeface="Calibri"/>
                <a:ea typeface="Calibri"/>
                <a:cs typeface="Calibri"/>
              </a:defRPr>
            </a:pPr>
            <a:r>
              <a:rPr sz="1875" b="0">
                <a:solidFill>
                  <a:srgbClr val="666666"/>
                </a:solidFill>
                <a:latin typeface="Calibri"/>
                <a:ea typeface="Calibri"/>
                <a:cs typeface="Calibri"/>
              </a:rPr>
              <a:t>Recommendation utility, forgetting and efficiency</a:t>
            </a:r>
          </a:p>
        </p:txBody>
      </p:sp>
      <p:sp>
        <p:nvSpPr>
          <p:cNvPr id="234" name="agenda-number-5">
            <a:extLst>
              <a:ext uri="{FF2B5EF4-FFF2-40B4-BE49-F238E27FC236}">
                <a16:creationId xmlns:a16="http://schemas.microsoft.com/office/drawing/2014/main" id="{8EE05BC5-5CA3-4D1F-B447-D366E306C817}"/>
              </a:ext>
            </a:extLst>
          </p:cNvPr>
          <p:cNvSpPr>
            <a:spLocks noGrp="1"/>
          </p:cNvSpPr>
          <p:nvPr/>
        </p:nvSpPr>
        <p:spPr>
          <a:xfrm>
            <a:off x="1657350" y="5429250"/>
            <a:ext cx="552450" cy="438150"/>
          </a:xfrm>
          <a:prstGeom prst="rect">
            <a:avLst/>
          </a:prstGeom>
          <a:noFill/>
          <a:ln w="0">
            <a:noFill/>
          </a:ln>
        </p:spPr>
        <p:txBody>
          <a:bodyPr wrap="square" lIns="0" tIns="0" rIns="0" bIns="0" anchor="t">
            <a:noAutofit/>
          </a:bodyPr>
          <a:lstStyle>
            <a:defPPr algn="l">
              <a:defRPr sz="2250" b="1">
                <a:solidFill>
                  <a:srgbClr val="122E66"/>
                </a:solidFill>
                <a:latin typeface="Calibri"/>
                <a:ea typeface="Calibri"/>
                <a:cs typeface="Calibri"/>
              </a:defRPr>
            </a:defPPr>
          </a:lstStyle>
          <a:p>
            <a:pPr algn="l">
              <a:defRPr sz="2250" b="1">
                <a:solidFill>
                  <a:srgbClr val="122E66"/>
                </a:solidFill>
                <a:latin typeface="Calibri"/>
                <a:ea typeface="Calibri"/>
                <a:cs typeface="Calibri"/>
              </a:defRPr>
            </a:pPr>
            <a:r>
              <a:rPr sz="2250" b="1">
                <a:solidFill>
                  <a:srgbClr val="122E66"/>
                </a:solidFill>
                <a:latin typeface="Calibri"/>
                <a:ea typeface="Calibri"/>
                <a:cs typeface="Calibri"/>
              </a:rPr>
              <a:t>05</a:t>
            </a:r>
          </a:p>
        </p:txBody>
      </p:sp>
      <p:sp>
        <p:nvSpPr>
          <p:cNvPr id="235" name="agenda-chapter-5">
            <a:extLst>
              <a:ext uri="{FF2B5EF4-FFF2-40B4-BE49-F238E27FC236}">
                <a16:creationId xmlns:a16="http://schemas.microsoft.com/office/drawing/2014/main" id="{D1E66CAD-841B-4FE8-AD71-1429EFCDAC4F}"/>
              </a:ext>
            </a:extLst>
          </p:cNvPr>
          <p:cNvSpPr>
            <a:spLocks noGrp="1"/>
          </p:cNvSpPr>
          <p:nvPr/>
        </p:nvSpPr>
        <p:spPr>
          <a:xfrm>
            <a:off x="2495550" y="5429250"/>
            <a:ext cx="3095625" cy="438150"/>
          </a:xfrm>
          <a:prstGeom prst="rect">
            <a:avLst/>
          </a:prstGeom>
          <a:noFill/>
          <a:ln w="0">
            <a:noFill/>
          </a:ln>
        </p:spPr>
        <p:txBody>
          <a:bodyPr wrap="square" lIns="0" tIns="0" rIns="0" bIns="0" anchor="t">
            <a:noAutofit/>
          </a:bodyPr>
          <a:lstStyle>
            <a:defPPr algn="l">
              <a:defRPr sz="2250" b="1">
                <a:solidFill>
                  <a:srgbClr val="122E66"/>
                </a:solidFill>
                <a:latin typeface="Calibri"/>
                <a:ea typeface="Calibri"/>
                <a:cs typeface="Calibri"/>
              </a:defRPr>
            </a:defPPr>
          </a:lstStyle>
          <a:p>
            <a:pPr algn="l">
              <a:defRPr sz="2250" b="1">
                <a:solidFill>
                  <a:srgbClr val="122E66"/>
                </a:solidFill>
                <a:latin typeface="Calibri"/>
                <a:ea typeface="Calibri"/>
                <a:cs typeface="Calibri"/>
              </a:defRPr>
            </a:pPr>
            <a:r>
              <a:rPr sz="2250" b="1">
                <a:solidFill>
                  <a:srgbClr val="122E66"/>
                </a:solidFill>
                <a:latin typeface="Calibri"/>
                <a:ea typeface="Calibri"/>
                <a:cs typeface="Calibri"/>
              </a:rPr>
              <a:t>Conclusions</a:t>
            </a:r>
          </a:p>
        </p:txBody>
      </p:sp>
      <p:sp>
        <p:nvSpPr>
          <p:cNvPr id="236" name="agenda-description-5">
            <a:extLst>
              <a:ext uri="{FF2B5EF4-FFF2-40B4-BE49-F238E27FC236}">
                <a16:creationId xmlns:a16="http://schemas.microsoft.com/office/drawing/2014/main" id="{9CFB2F05-472D-4136-B5A5-F3A9C4BF4343}"/>
              </a:ext>
            </a:extLst>
          </p:cNvPr>
          <p:cNvSpPr>
            <a:spLocks noGrp="1"/>
          </p:cNvSpPr>
          <p:nvPr/>
        </p:nvSpPr>
        <p:spPr>
          <a:xfrm>
            <a:off x="6048375" y="5457825"/>
            <a:ext cx="5476875" cy="600075"/>
          </a:xfrm>
          <a:prstGeom prst="rect">
            <a:avLst/>
          </a:prstGeom>
          <a:noFill/>
          <a:ln w="0">
            <a:noFill/>
          </a:ln>
        </p:spPr>
        <p:txBody>
          <a:bodyPr wrap="square" lIns="0" tIns="0" rIns="0" bIns="0" anchor="t">
            <a:noAutofit/>
          </a:bodyPr>
          <a:lstStyle>
            <a:defPPr algn="l">
              <a:defRPr sz="1875" b="0">
                <a:solidFill>
                  <a:srgbClr val="666666"/>
                </a:solidFill>
                <a:latin typeface="Calibri"/>
                <a:ea typeface="Calibri"/>
                <a:cs typeface="Calibri"/>
              </a:defRPr>
            </a:defPPr>
          </a:lstStyle>
          <a:p>
            <a:pPr algn="l">
              <a:defRPr sz="1875" b="0">
                <a:solidFill>
                  <a:srgbClr val="666666"/>
                </a:solidFill>
                <a:latin typeface="Calibri"/>
                <a:ea typeface="Calibri"/>
                <a:cs typeface="Calibri"/>
              </a:defRPr>
            </a:pPr>
            <a:r>
              <a:rPr sz="1875" b="0">
                <a:solidFill>
                  <a:srgbClr val="666666"/>
                </a:solidFill>
                <a:latin typeface="Calibri"/>
                <a:ea typeface="Calibri"/>
                <a:cs typeface="Calibri"/>
              </a:rPr>
              <a:t>Findings, scope and open questions</a:t>
            </a:r>
          </a:p>
        </p:txBody>
      </p:sp>
    </p:spTree>
    <p:extLst>
      <p:ext uri="{BB962C8B-B14F-4D97-AF65-F5344CB8AC3E}">
        <p14:creationId xmlns:p14="http://schemas.microsoft.com/office/powerpoint/2010/main" val="3288057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190271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1.1</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Motivation</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A66DA957-00E6-4098-B34C-DC28C202A04F}"/>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CCAF224C-2BCB-4C85-B75C-98BF19238BC0}"/>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3 / 20</a:t>
            </a:r>
          </a:p>
        </p:txBody>
      </p:sp>
      <p:pic>
        <p:nvPicPr>
          <p:cNvPr id="29" name="图片 28">
            <a:extLst>
              <a:ext uri="{FF2B5EF4-FFF2-40B4-BE49-F238E27FC236}">
                <a16:creationId xmlns:a16="http://schemas.microsoft.com/office/drawing/2014/main" id="{111385A6-3D1B-4805-A064-FFD282EC7E62}"/>
              </a:ext>
            </a:extLst>
          </p:cNvPr>
          <p:cNvPicPr>
            <a:picLocks noChangeAspect="1"/>
          </p:cNvPicPr>
          <p:nvPr/>
        </p:nvPicPr>
        <p:blipFill>
          <a:blip r:embed="rId4"/>
          <a:stretch/>
        </p:blipFill>
        <p:spPr>
          <a:xfrm>
            <a:off x="4413482" y="1333500"/>
            <a:ext cx="4965236" cy="3762375"/>
          </a:xfrm>
          <a:prstGeom prst="rect">
            <a:avLst/>
          </a:prstGeom>
        </p:spPr>
      </p:pic>
      <p:sp>
        <p:nvSpPr>
          <p:cNvPr id="30" name="content-13">
            <a:extLst>
              <a:ext uri="{FF2B5EF4-FFF2-40B4-BE49-F238E27FC236}">
                <a16:creationId xmlns:a16="http://schemas.microsoft.com/office/drawing/2014/main" id="{D5B8EA9E-6647-4AD7-851E-0B2854839FD3}"/>
              </a:ext>
            </a:extLst>
          </p:cNvPr>
          <p:cNvSpPr>
            <a:spLocks noGrp="1"/>
          </p:cNvSpPr>
          <p:nvPr/>
        </p:nvSpPr>
        <p:spPr>
          <a:xfrm>
            <a:off x="2047875" y="5305425"/>
            <a:ext cx="9667875" cy="428625"/>
          </a:xfrm>
          <a:prstGeom prst="rect">
            <a:avLst/>
          </a:prstGeom>
          <a:noFill/>
          <a:ln w="0">
            <a:noFill/>
          </a:ln>
        </p:spPr>
        <p:txBody>
          <a:bodyPr wrap="square" lIns="0" tIns="0" rIns="0" bIns="0" anchor="t">
            <a:noAutofit/>
          </a:bodyPr>
          <a:lstStyle>
            <a:defPPr algn="l">
              <a:defRPr sz="2025" b="1" i="0">
                <a:solidFill>
                  <a:srgbClr val="122E66"/>
                </a:solidFill>
                <a:latin typeface="Arial"/>
                <a:ea typeface="Arial"/>
                <a:cs typeface="Arial"/>
              </a:defRPr>
            </a:defPPr>
          </a:lstStyle>
          <a:p>
            <a:pPr algn="l">
              <a:buNone/>
              <a:defRPr sz="2025" b="1" i="0">
                <a:solidFill>
                  <a:srgbClr val="122E66"/>
                </a:solidFill>
                <a:latin typeface="Arial"/>
                <a:ea typeface="Arial"/>
                <a:cs typeface="Arial"/>
              </a:defRPr>
            </a:pPr>
            <a:r>
              <a:rPr sz="2025" b="1" i="0">
                <a:solidFill>
                  <a:srgbClr val="122E66"/>
                </a:solidFill>
                <a:latin typeface="Arial"/>
                <a:ea typeface="Arial"/>
                <a:cs typeface="Arial"/>
              </a:rPr>
              <a:t>One unwanted interaction can support many recommendations</a:t>
            </a:r>
          </a:p>
        </p:txBody>
      </p:sp>
      <p:sp>
        <p:nvSpPr>
          <p:cNvPr id="31" name="content-14">
            <a:extLst>
              <a:ext uri="{FF2B5EF4-FFF2-40B4-BE49-F238E27FC236}">
                <a16:creationId xmlns:a16="http://schemas.microsoft.com/office/drawing/2014/main" id="{D1D40263-4A10-4004-A915-3DD915290363}"/>
              </a:ext>
            </a:extLst>
          </p:cNvPr>
          <p:cNvSpPr>
            <a:spLocks noGrp="1"/>
          </p:cNvSpPr>
          <p:nvPr/>
        </p:nvSpPr>
        <p:spPr>
          <a:xfrm>
            <a:off x="2047875" y="5781675"/>
            <a:ext cx="9620250" cy="485775"/>
          </a:xfrm>
          <a:prstGeom prst="rect">
            <a:avLst/>
          </a:prstGeom>
          <a:noFill/>
          <a:ln w="0">
            <a:noFill/>
          </a:ln>
        </p:spPr>
        <p:txBody>
          <a:bodyPr wrap="square" lIns="0" tIns="0" rIns="0" bIns="0" anchor="t">
            <a:noAutofit/>
          </a:bodyPr>
          <a:lstStyle>
            <a:defPPr algn="l">
              <a:defRPr sz="1950" b="0" i="0">
                <a:solidFill>
                  <a:srgbClr val="202020"/>
                </a:solidFill>
                <a:latin typeface="Arial"/>
                <a:ea typeface="Arial"/>
                <a:cs typeface="Arial"/>
              </a:defRPr>
            </a:defPPr>
          </a:lstStyle>
          <a:p>
            <a:pPr algn="l">
              <a:buNone/>
              <a:defRPr sz="1950" b="0" i="0">
                <a:solidFill>
                  <a:srgbClr val="202020"/>
                </a:solidFill>
                <a:latin typeface="Arial"/>
                <a:ea typeface="Arial"/>
                <a:cs typeface="Arial"/>
              </a:defRPr>
            </a:pPr>
            <a:r>
              <a:rPr sz="1950" b="0" i="0">
                <a:solidFill>
                  <a:srgbClr val="202020"/>
                </a:solidFill>
                <a:latin typeface="Arial"/>
                <a:ea typeface="Arial"/>
                <a:cs typeface="Arial"/>
              </a:rPr>
              <a:t>Reduce its influence while preserving the user’s other interests.</a:t>
            </a:r>
          </a:p>
        </p:txBody>
      </p:sp>
    </p:spTree>
    <p:extLst>
      <p:ext uri="{BB962C8B-B14F-4D97-AF65-F5344CB8AC3E}">
        <p14:creationId xmlns:p14="http://schemas.microsoft.com/office/powerpoint/2010/main" val="3830942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190271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1.2</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Asymmetric model access</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8D2629E4-FD35-45C8-8F81-E0C14A223C35}"/>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E6ECAFB9-6ECA-4993-AF02-8F8F827DDB97}"/>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4 / 20</a:t>
            </a:r>
          </a:p>
        </p:txBody>
      </p:sp>
      <p:sp>
        <p:nvSpPr>
          <p:cNvPr id="29" name="content-13">
            <a:extLst>
              <a:ext uri="{FF2B5EF4-FFF2-40B4-BE49-F238E27FC236}">
                <a16:creationId xmlns:a16="http://schemas.microsoft.com/office/drawing/2014/main" id="{1CF7A2F2-E470-463A-920F-A182A8140212}"/>
              </a:ext>
            </a:extLst>
          </p:cNvPr>
          <p:cNvSpPr>
            <a:spLocks noGrp="1"/>
          </p:cNvSpPr>
          <p:nvPr/>
        </p:nvSpPr>
        <p:spPr>
          <a:xfrm>
            <a:off x="2143125" y="1733550"/>
            <a:ext cx="4381500" cy="428625"/>
          </a:xfrm>
          <a:prstGeom prst="rect">
            <a:avLst/>
          </a:prstGeom>
          <a:noFill/>
          <a:ln w="0">
            <a:noFill/>
          </a:ln>
        </p:spPr>
        <p:txBody>
          <a:bodyPr wrap="square" lIns="0" tIns="0" rIns="0" bIns="0" anchor="t">
            <a:noAutofit/>
          </a:bodyPr>
          <a:lstStyle>
            <a:defPPr algn="l">
              <a:defRPr sz="2250" b="1" i="0">
                <a:solidFill>
                  <a:srgbClr val="122E66"/>
                </a:solidFill>
                <a:latin typeface="Arial"/>
                <a:ea typeface="Arial"/>
                <a:cs typeface="Arial"/>
              </a:defRPr>
            </a:defPPr>
          </a:lstStyle>
          <a:p>
            <a:pPr algn="l">
              <a:buNone/>
              <a:defRPr sz="2250" b="1" i="0">
                <a:solidFill>
                  <a:srgbClr val="122E66"/>
                </a:solidFill>
                <a:latin typeface="Arial"/>
                <a:ea typeface="Arial"/>
                <a:cs typeface="Arial"/>
              </a:defRPr>
            </a:pPr>
            <a:r>
              <a:rPr sz="2250" b="1" i="0">
                <a:solidFill>
                  <a:srgbClr val="122E66"/>
                </a:solidFill>
                <a:latin typeface="Arial"/>
                <a:ea typeface="Arial"/>
                <a:cs typeface="Arial"/>
              </a:rPr>
              <a:t>Model provider (MP)</a:t>
            </a:r>
          </a:p>
        </p:txBody>
      </p:sp>
      <p:sp>
        <p:nvSpPr>
          <p:cNvPr id="30" name="content-14">
            <a:extLst>
              <a:ext uri="{FF2B5EF4-FFF2-40B4-BE49-F238E27FC236}">
                <a16:creationId xmlns:a16="http://schemas.microsoft.com/office/drawing/2014/main" id="{A5FE7D09-DB3B-410A-8E4E-A650DB3EE67B}"/>
              </a:ext>
            </a:extLst>
          </p:cNvPr>
          <p:cNvSpPr>
            <a:spLocks noGrp="1"/>
          </p:cNvSpPr>
          <p:nvPr/>
        </p:nvSpPr>
        <p:spPr>
          <a:xfrm>
            <a:off x="2143125" y="2333625"/>
            <a:ext cx="4476750" cy="1495425"/>
          </a:xfrm>
          <a:prstGeom prst="rect">
            <a:avLst/>
          </a:prstGeom>
          <a:noFill/>
          <a:ln w="0">
            <a:noFill/>
          </a:ln>
        </p:spPr>
        <p:txBody>
          <a:bodyPr wrap="square" lIns="0" tIns="0" rIns="0" bIns="0" anchor="t">
            <a:noAutofit/>
          </a:bodyPr>
          <a:lstStyle>
            <a:defPPr algn="l">
              <a:defRPr sz="2025" b="0" i="0">
                <a:solidFill>
                  <a:srgbClr val="202020"/>
                </a:solidFill>
                <a:latin typeface="Arial"/>
                <a:ea typeface="Arial"/>
                <a:cs typeface="Arial"/>
              </a:defRPr>
            </a:defPPr>
          </a:lstStyle>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Trains and hosts the recommender</a:t>
            </a:r>
          </a:p>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Accesses model internals</a:t>
            </a:r>
          </a:p>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Computes causal attributions</a:t>
            </a:r>
          </a:p>
        </p:txBody>
      </p:sp>
      <p:sp>
        <p:nvSpPr>
          <p:cNvPr id="31" name="content-15">
            <a:extLst>
              <a:ext uri="{FF2B5EF4-FFF2-40B4-BE49-F238E27FC236}">
                <a16:creationId xmlns:a16="http://schemas.microsoft.com/office/drawing/2014/main" id="{C7A2E0A6-B788-4366-B2C0-0F63CE09270C}"/>
              </a:ext>
            </a:extLst>
          </p:cNvPr>
          <p:cNvSpPr>
            <a:spLocks noGrp="1"/>
          </p:cNvSpPr>
          <p:nvPr/>
        </p:nvSpPr>
        <p:spPr>
          <a:xfrm>
            <a:off x="7239000" y="1733550"/>
            <a:ext cx="4381500" cy="428625"/>
          </a:xfrm>
          <a:prstGeom prst="rect">
            <a:avLst/>
          </a:prstGeom>
          <a:noFill/>
          <a:ln w="0">
            <a:noFill/>
          </a:ln>
        </p:spPr>
        <p:txBody>
          <a:bodyPr wrap="square" lIns="0" tIns="0" rIns="0" bIns="0" anchor="t">
            <a:noAutofit/>
          </a:bodyPr>
          <a:lstStyle>
            <a:defPPr algn="l">
              <a:defRPr sz="2250" b="1" i="0">
                <a:solidFill>
                  <a:srgbClr val="122E66"/>
                </a:solidFill>
                <a:latin typeface="Arial"/>
                <a:ea typeface="Arial"/>
                <a:cs typeface="Arial"/>
              </a:defRPr>
            </a:defPPr>
          </a:lstStyle>
          <a:p>
            <a:pPr algn="l">
              <a:buNone/>
              <a:defRPr sz="2250" b="1" i="0">
                <a:solidFill>
                  <a:srgbClr val="122E66"/>
                </a:solidFill>
                <a:latin typeface="Arial"/>
                <a:ea typeface="Arial"/>
                <a:cs typeface="Arial"/>
              </a:defRPr>
            </a:pPr>
            <a:r>
              <a:rPr sz="2250" b="1" i="0">
                <a:solidFill>
                  <a:srgbClr val="122E66"/>
                </a:solidFill>
                <a:latin typeface="Arial"/>
                <a:ea typeface="Arial"/>
                <a:cs typeface="Arial"/>
              </a:rPr>
              <a:t>Service operator (SO)</a:t>
            </a:r>
          </a:p>
        </p:txBody>
      </p:sp>
      <p:sp>
        <p:nvSpPr>
          <p:cNvPr id="32" name="content-16">
            <a:extLst>
              <a:ext uri="{FF2B5EF4-FFF2-40B4-BE49-F238E27FC236}">
                <a16:creationId xmlns:a16="http://schemas.microsoft.com/office/drawing/2014/main" id="{F5FC6433-D43D-4D7C-89A4-C6DD05CB71A7}"/>
              </a:ext>
            </a:extLst>
          </p:cNvPr>
          <p:cNvSpPr>
            <a:spLocks noGrp="1"/>
          </p:cNvSpPr>
          <p:nvPr/>
        </p:nvSpPr>
        <p:spPr>
          <a:xfrm>
            <a:off x="7239000" y="2333625"/>
            <a:ext cx="4381500" cy="1495425"/>
          </a:xfrm>
          <a:prstGeom prst="rect">
            <a:avLst/>
          </a:prstGeom>
          <a:noFill/>
          <a:ln w="0">
            <a:noFill/>
          </a:ln>
        </p:spPr>
        <p:txBody>
          <a:bodyPr wrap="square" lIns="0" tIns="0" rIns="0" bIns="0" anchor="t">
            <a:noAutofit/>
          </a:bodyPr>
          <a:lstStyle>
            <a:defPPr algn="l">
              <a:defRPr sz="2025" b="0" i="0">
                <a:solidFill>
                  <a:srgbClr val="202020"/>
                </a:solidFill>
                <a:latin typeface="Arial"/>
                <a:ea typeface="Arial"/>
                <a:cs typeface="Arial"/>
              </a:defRPr>
            </a:defPPr>
          </a:lstStyle>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Runs the application</a:t>
            </a:r>
          </a:p>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Receives forgetting requests</a:t>
            </a:r>
          </a:p>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Controls the final ranking</a:t>
            </a:r>
          </a:p>
        </p:txBody>
      </p:sp>
      <p:sp>
        <p:nvSpPr>
          <p:cNvPr id="33" name="content-17">
            <a:extLst>
              <a:ext uri="{FF2B5EF4-FFF2-40B4-BE49-F238E27FC236}">
                <a16:creationId xmlns:a16="http://schemas.microsoft.com/office/drawing/2014/main" id="{4D0BE570-E442-4182-A72F-A9AE7185122E}"/>
              </a:ext>
            </a:extLst>
          </p:cNvPr>
          <p:cNvSpPr>
            <a:spLocks noGrp="1"/>
          </p:cNvSpPr>
          <p:nvPr/>
        </p:nvSpPr>
        <p:spPr>
          <a:xfrm>
            <a:off x="2143125" y="4410075"/>
            <a:ext cx="9525000" cy="428625"/>
          </a:xfrm>
          <a:prstGeom prst="rect">
            <a:avLst/>
          </a:prstGeom>
          <a:noFill/>
          <a:ln w="0">
            <a:noFill/>
          </a:ln>
        </p:spPr>
        <p:txBody>
          <a:bodyPr wrap="square" lIns="0" tIns="0" rIns="0" bIns="0" anchor="t">
            <a:noAutofit/>
          </a:bodyPr>
          <a:lstStyle>
            <a:defPPr algn="l">
              <a:defRPr sz="2175" b="1" i="0">
                <a:solidFill>
                  <a:srgbClr val="122E66"/>
                </a:solidFill>
                <a:latin typeface="Arial"/>
                <a:ea typeface="Arial"/>
                <a:cs typeface="Arial"/>
              </a:defRPr>
            </a:defPPr>
          </a:lstStyle>
          <a:p>
            <a:pPr algn="l">
              <a:buNone/>
              <a:defRPr sz="2175" b="1" i="0">
                <a:solidFill>
                  <a:srgbClr val="122E66"/>
                </a:solidFill>
                <a:latin typeface="Arial"/>
                <a:ea typeface="Arial"/>
                <a:cs typeface="Arial"/>
              </a:defRPr>
            </a:pPr>
            <a:r>
              <a:rPr sz="2175" b="1" i="0">
                <a:solidFill>
                  <a:srgbClr val="122E66"/>
                </a:solidFill>
                <a:latin typeface="Arial"/>
                <a:ea typeface="Arial"/>
                <a:cs typeface="Arial"/>
              </a:rPr>
              <a:t>Access constraint</a:t>
            </a:r>
          </a:p>
        </p:txBody>
      </p:sp>
      <p:sp>
        <p:nvSpPr>
          <p:cNvPr id="34" name="content-18">
            <a:extLst>
              <a:ext uri="{FF2B5EF4-FFF2-40B4-BE49-F238E27FC236}">
                <a16:creationId xmlns:a16="http://schemas.microsoft.com/office/drawing/2014/main" id="{CA14B81C-B3EA-408E-9CC6-EFD0C422F99C}"/>
              </a:ext>
            </a:extLst>
          </p:cNvPr>
          <p:cNvSpPr>
            <a:spLocks noGrp="1"/>
          </p:cNvSpPr>
          <p:nvPr/>
        </p:nvSpPr>
        <p:spPr>
          <a:xfrm>
            <a:off x="2143125" y="4933950"/>
            <a:ext cx="9525000" cy="857250"/>
          </a:xfrm>
          <a:prstGeom prst="rect">
            <a:avLst/>
          </a:prstGeom>
          <a:noFill/>
          <a:ln w="0">
            <a:noFill/>
          </a:ln>
        </p:spPr>
        <p:txBody>
          <a:bodyPr wrap="square" lIns="0" tIns="0" rIns="0" bIns="0" anchor="t">
            <a:noAutofit/>
          </a:bodyPr>
          <a:lstStyle>
            <a:defPPr algn="l">
              <a:defRPr sz="2250" b="0" i="0">
                <a:solidFill>
                  <a:srgbClr val="202020"/>
                </a:solidFill>
                <a:latin typeface="Arial"/>
                <a:ea typeface="Arial"/>
                <a:cs typeface="Arial"/>
              </a:defRPr>
            </a:defPPr>
          </a:lstStyle>
          <a:p>
            <a:pPr algn="l">
              <a:buNone/>
              <a:defRPr sz="2250" b="0" i="0">
                <a:solidFill>
                  <a:srgbClr val="202020"/>
                </a:solidFill>
                <a:latin typeface="Arial"/>
                <a:ea typeface="Arial"/>
                <a:cs typeface="Arial"/>
              </a:defRPr>
            </a:pPr>
            <a:r>
              <a:rPr sz="2250" b="0" i="0">
                <a:solidFill>
                  <a:srgbClr val="202020"/>
                </a:solidFill>
                <a:latin typeface="Arial"/>
                <a:ea typeface="Arial"/>
                <a:cs typeface="Arial"/>
              </a:rPr>
              <a:t>The operator cannot update the hosted model’s parameters.</a:t>
            </a:r>
          </a:p>
        </p:txBody>
      </p:sp>
      <p:sp>
        <p:nvSpPr>
          <p:cNvPr id="35" name="content-19">
            <a:extLst>
              <a:ext uri="{FF2B5EF4-FFF2-40B4-BE49-F238E27FC236}">
                <a16:creationId xmlns:a16="http://schemas.microsoft.com/office/drawing/2014/main" id="{D71A0180-BFD8-437E-9115-8EA7ED2A5512}"/>
              </a:ext>
            </a:extLst>
          </p:cNvPr>
          <p:cNvSpPr>
            <a:spLocks noGrp="1"/>
          </p:cNvSpPr>
          <p:nvPr/>
        </p:nvSpPr>
        <p:spPr>
          <a:xfrm>
            <a:off x="2047875" y="5991225"/>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Provider cooperation: support sets and weights are available through an attribution API.</a:t>
            </a:r>
          </a:p>
        </p:txBody>
      </p:sp>
    </p:spTree>
    <p:extLst>
      <p:ext uri="{BB962C8B-B14F-4D97-AF65-F5344CB8AC3E}">
        <p14:creationId xmlns:p14="http://schemas.microsoft.com/office/powerpoint/2010/main" val="38309420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190271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1.3</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Existing unlearning methods</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955FE86B-251B-4E3A-9F52-6F30AC147689}"/>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1CFE46E6-53F8-4163-A907-C8F8FDDED118}"/>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5 / 20</a:t>
            </a:r>
          </a:p>
        </p:txBody>
      </p:sp>
      <p:graphicFrame>
        <p:nvGraphicFramePr>
          <p:cNvPr id="29" name="表格 28">
            <a:extLst>
              <a:ext uri="{FF2B5EF4-FFF2-40B4-BE49-F238E27FC236}">
                <a16:creationId xmlns:a16="http://schemas.microsoft.com/office/drawing/2014/main" id="{719F56DB-137B-4EA0-9948-64F2FA4BA3C9}"/>
              </a:ext>
            </a:extLst>
          </p:cNvPr>
          <p:cNvGraphicFramePr/>
          <p:nvPr/>
        </p:nvGraphicFramePr>
        <p:xfrm>
          <a:off x="2143125" y="1743075"/>
          <a:ext cx="9429750" cy="2933700"/>
        </p:xfrm>
        <a:graphic>
          <a:graphicData uri="http://schemas.openxmlformats.org/drawingml/2006/table">
            <a:tbl>
              <a:tblPr/>
              <a:tblGrid>
                <a:gridCol w="3476625">
                  <a:extLst>
                    <a:ext uri="{9D8B030D-6E8A-4147-A177-3AD203B41FA5}">
                      <a16:colId xmlns:a16="http://schemas.microsoft.com/office/drawing/2014/main" val="20000"/>
                    </a:ext>
                  </a:extLst>
                </a:gridCol>
                <a:gridCol w="5953125">
                  <a:extLst>
                    <a:ext uri="{9D8B030D-6E8A-4147-A177-3AD203B41FA5}">
                      <a16:colId xmlns:a16="http://schemas.microsoft.com/office/drawing/2014/main" val="20001"/>
                    </a:ext>
                  </a:extLst>
                </a:gridCol>
              </a:tblGrid>
              <a:tr h="733425">
                <a:tc>
                  <a:txBody>
                    <a:bodyPr/>
                    <a:lstStyle/>
                    <a:p>
                      <a:pPr algn="l">
                        <a:buNone/>
                      </a:pPr>
                      <a:r>
                        <a:rPr sz="2025" b="1">
                          <a:solidFill>
                            <a:srgbClr val="122E66"/>
                          </a:solidFill>
                          <a:latin typeface="Arial"/>
                          <a:ea typeface="Arial"/>
                          <a:cs typeface="Arial"/>
                        </a:rPr>
                        <a:t>Method</a:t>
                      </a:r>
                    </a:p>
                  </a:txBody>
                  <a:tcPr marL="95250" marR="95250" marT="95250" marB="9525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a:lstStyle/>
                    <a:p>
                      <a:pPr algn="ctr">
                        <a:buNone/>
                      </a:pPr>
                      <a:r>
                        <a:rPr sz="2025" b="1">
                          <a:solidFill>
                            <a:srgbClr val="122E66"/>
                          </a:solidFill>
                          <a:latin typeface="Arial"/>
                          <a:ea typeface="Arial"/>
                          <a:cs typeface="Arial"/>
                        </a:rPr>
                        <a:t>Required access</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a:solidFill>
                        <a:srgbClr val="FFFFFF"/>
                      </a:solidFill>
                    </a:lnT>
                    <a:lnB w="0">
                      <a:solidFill>
                        <a:srgbClr val="FFFFFF"/>
                      </a:solidFill>
                    </a:lnB>
                    <a:solidFill>
                      <a:srgbClr val="FFFFFF"/>
                    </a:solidFill>
                  </a:tcPr>
                </a:tc>
                <a:extLst>
                  <a:ext uri="{0D108BD9-81ED-4DB2-BD59-A6C34878D82A}">
                    <a16:rowId xmlns:a16="http://schemas.microsoft.com/office/drawing/2014/main" val="10000"/>
                  </a:ext>
                </a:extLst>
              </a:tr>
              <a:tr h="733425">
                <a:tc>
                  <a:txBody>
                    <a:bodyPr/>
                    <a:lstStyle/>
                    <a:p>
                      <a:pPr algn="l">
                        <a:buNone/>
                      </a:pPr>
                      <a:r>
                        <a:rPr sz="2025" b="0">
                          <a:solidFill>
                            <a:srgbClr val="202020"/>
                          </a:solidFill>
                          <a:latin typeface="Arial"/>
                          <a:ea typeface="Arial"/>
                          <a:cs typeface="Arial"/>
                        </a:rPr>
                        <a:t>Retraining</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Full model or affected partitions</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1"/>
                  </a:ext>
                </a:extLst>
              </a:tr>
              <a:tr h="733425">
                <a:tc>
                  <a:txBody>
                    <a:bodyPr/>
                    <a:lstStyle/>
                    <a:p>
                      <a:pPr algn="l">
                        <a:buNone/>
                      </a:pPr>
                      <a:r>
                        <a:rPr sz="2025" b="0">
                          <a:solidFill>
                            <a:srgbClr val="202020"/>
                          </a:solidFill>
                          <a:latin typeface="Arial"/>
                          <a:ea typeface="Arial"/>
                          <a:cs typeface="Arial"/>
                        </a:rPr>
                        <a:t>Fine tuning</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Selected model components</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2"/>
                  </a:ext>
                </a:extLst>
              </a:tr>
              <a:tr h="733425">
                <a:tc>
                  <a:txBody>
                    <a:bodyPr/>
                    <a:lstStyle/>
                    <a:p>
                      <a:pPr algn="l">
                        <a:buNone/>
                      </a:pPr>
                      <a:r>
                        <a:rPr sz="2025" b="0">
                          <a:solidFill>
                            <a:srgbClr val="202020"/>
                          </a:solidFill>
                          <a:latin typeface="Arial"/>
                          <a:ea typeface="Arial"/>
                          <a:cs typeface="Arial"/>
                        </a:rPr>
                        <a:t>Influence correction</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Model parameters</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3"/>
                  </a:ext>
                </a:extLst>
              </a:tr>
            </a:tbl>
          </a:graphicData>
        </a:graphic>
      </p:graphicFrame>
      <p:sp>
        <p:nvSpPr>
          <p:cNvPr id="30" name="table-rule">
            <a:extLst>
              <a:ext uri="{FF2B5EF4-FFF2-40B4-BE49-F238E27FC236}">
                <a16:creationId xmlns:a16="http://schemas.microsoft.com/office/drawing/2014/main" id="{DBA67A67-09F1-4D78-8399-FEA48E251D7A}"/>
              </a:ext>
            </a:extLst>
          </p:cNvPr>
          <p:cNvSpPr>
            <a:spLocks noGrp="1"/>
          </p:cNvSpPr>
          <p:nvPr/>
        </p:nvSpPr>
        <p:spPr>
          <a:xfrm>
            <a:off x="2143125" y="1743075"/>
            <a:ext cx="9429750" cy="14288"/>
          </a:xfrm>
          <a:prstGeom prst="rect">
            <a:avLst/>
          </a:prstGeom>
          <a:solidFill>
            <a:srgbClr val="122E66"/>
          </a:solidFill>
          <a:ln w="0">
            <a:noFill/>
          </a:ln>
        </p:spPr>
        <p:txBody>
          <a:bodyPr/>
          <a:lstStyle/>
          <a:p>
            <a:endParaRPr lang="zh-CN" altLang="en-US"/>
          </a:p>
        </p:txBody>
      </p:sp>
      <p:sp>
        <p:nvSpPr>
          <p:cNvPr id="31" name="table-rule">
            <a:extLst>
              <a:ext uri="{FF2B5EF4-FFF2-40B4-BE49-F238E27FC236}">
                <a16:creationId xmlns:a16="http://schemas.microsoft.com/office/drawing/2014/main" id="{BF5D3934-4ABA-44B8-A1F0-CC2F16BF95B1}"/>
              </a:ext>
            </a:extLst>
          </p:cNvPr>
          <p:cNvSpPr>
            <a:spLocks noGrp="1"/>
          </p:cNvSpPr>
          <p:nvPr/>
        </p:nvSpPr>
        <p:spPr>
          <a:xfrm>
            <a:off x="2143125" y="2476500"/>
            <a:ext cx="9429750" cy="9525"/>
          </a:xfrm>
          <a:prstGeom prst="rect">
            <a:avLst/>
          </a:prstGeom>
          <a:solidFill>
            <a:srgbClr val="A0A0A0"/>
          </a:solidFill>
          <a:ln w="0">
            <a:noFill/>
          </a:ln>
        </p:spPr>
        <p:txBody>
          <a:bodyPr/>
          <a:lstStyle/>
          <a:p>
            <a:endParaRPr lang="zh-CN" altLang="en-US"/>
          </a:p>
        </p:txBody>
      </p:sp>
      <p:sp>
        <p:nvSpPr>
          <p:cNvPr id="32" name="table-rule">
            <a:extLst>
              <a:ext uri="{FF2B5EF4-FFF2-40B4-BE49-F238E27FC236}">
                <a16:creationId xmlns:a16="http://schemas.microsoft.com/office/drawing/2014/main" id="{7C49FBE6-1429-450A-95DF-C0E41DAC6967}"/>
              </a:ext>
            </a:extLst>
          </p:cNvPr>
          <p:cNvSpPr>
            <a:spLocks noGrp="1"/>
          </p:cNvSpPr>
          <p:nvPr/>
        </p:nvSpPr>
        <p:spPr>
          <a:xfrm>
            <a:off x="2143125" y="4676775"/>
            <a:ext cx="9429750" cy="14288"/>
          </a:xfrm>
          <a:prstGeom prst="rect">
            <a:avLst/>
          </a:prstGeom>
          <a:solidFill>
            <a:srgbClr val="122E66"/>
          </a:solidFill>
          <a:ln w="0">
            <a:noFill/>
          </a:ln>
        </p:spPr>
        <p:txBody>
          <a:bodyPr/>
          <a:lstStyle/>
          <a:p>
            <a:endParaRPr lang="zh-CN" altLang="en-US"/>
          </a:p>
        </p:txBody>
      </p:sp>
      <p:sp>
        <p:nvSpPr>
          <p:cNvPr id="33" name="content-16">
            <a:extLst>
              <a:ext uri="{FF2B5EF4-FFF2-40B4-BE49-F238E27FC236}">
                <a16:creationId xmlns:a16="http://schemas.microsoft.com/office/drawing/2014/main" id="{30A98C6C-A97C-4FE8-B596-13A0CC1C3F81}"/>
              </a:ext>
            </a:extLst>
          </p:cNvPr>
          <p:cNvSpPr>
            <a:spLocks noGrp="1"/>
          </p:cNvSpPr>
          <p:nvPr/>
        </p:nvSpPr>
        <p:spPr>
          <a:xfrm>
            <a:off x="2143125" y="5124450"/>
            <a:ext cx="9429750" cy="904875"/>
          </a:xfrm>
          <a:prstGeom prst="rect">
            <a:avLst/>
          </a:prstGeom>
          <a:noFill/>
          <a:ln w="0">
            <a:noFill/>
          </a:ln>
        </p:spPr>
        <p:txBody>
          <a:bodyPr wrap="square" lIns="0" tIns="0" rIns="0" bIns="0" anchor="t">
            <a:noAutofit/>
          </a:bodyPr>
          <a:lstStyle>
            <a:defPPr algn="l">
              <a:defRPr sz="2175" b="0" i="0">
                <a:solidFill>
                  <a:srgbClr val="202020"/>
                </a:solidFill>
                <a:latin typeface="Arial"/>
                <a:ea typeface="Arial"/>
                <a:cs typeface="Arial"/>
              </a:defRPr>
            </a:defPPr>
          </a:lstStyle>
          <a:p>
            <a:pPr algn="l">
              <a:buNone/>
              <a:defRPr sz="2175" b="0" i="0">
                <a:solidFill>
                  <a:srgbClr val="202020"/>
                </a:solidFill>
                <a:latin typeface="Arial"/>
                <a:ea typeface="Arial"/>
                <a:cs typeface="Arial"/>
              </a:defRPr>
            </a:pPr>
            <a:r>
              <a:rPr sz="2175" b="0" i="0">
                <a:solidFill>
                  <a:srgbClr val="202020"/>
                </a:solidFill>
                <a:latin typeface="Arial"/>
                <a:ea typeface="Arial"/>
                <a:cs typeface="Arial"/>
              </a:rPr>
              <a:t>These methods require model changes beyond the operator’s access.</a:t>
            </a:r>
          </a:p>
        </p:txBody>
      </p:sp>
      <p:sp>
        <p:nvSpPr>
          <p:cNvPr id="34" name="content-17">
            <a:extLst>
              <a:ext uri="{FF2B5EF4-FFF2-40B4-BE49-F238E27FC236}">
                <a16:creationId xmlns:a16="http://schemas.microsoft.com/office/drawing/2014/main" id="{2F46C1EC-0DE5-4AB5-B8F6-1E9D11743D47}"/>
              </a:ext>
            </a:extLst>
          </p:cNvPr>
          <p:cNvSpPr>
            <a:spLocks noGrp="1"/>
          </p:cNvSpPr>
          <p:nvPr/>
        </p:nvSpPr>
        <p:spPr>
          <a:xfrm>
            <a:off x="2047875" y="5991225"/>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CEU intervenes on ranking scores using provider-side explanations.</a:t>
            </a:r>
          </a:p>
        </p:txBody>
      </p:sp>
    </p:spTree>
    <p:extLst>
      <p:ext uri="{BB962C8B-B14F-4D97-AF65-F5344CB8AC3E}">
        <p14:creationId xmlns:p14="http://schemas.microsoft.com/office/powerpoint/2010/main" val="3830942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2559939"/>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2.1</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Contributions</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85536080-011F-4337-B816-2C4F7D81DA47}"/>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8D694E00-17D4-495C-AC2E-B122897558B0}"/>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6 / 20</a:t>
            </a:r>
          </a:p>
        </p:txBody>
      </p:sp>
      <p:sp>
        <p:nvSpPr>
          <p:cNvPr id="29" name="content-13">
            <a:extLst>
              <a:ext uri="{FF2B5EF4-FFF2-40B4-BE49-F238E27FC236}">
                <a16:creationId xmlns:a16="http://schemas.microsoft.com/office/drawing/2014/main" id="{A444F6D2-2BC1-401E-B83C-D18C81962C7C}"/>
              </a:ext>
            </a:extLst>
          </p:cNvPr>
          <p:cNvSpPr>
            <a:spLocks noGrp="1"/>
          </p:cNvSpPr>
          <p:nvPr/>
        </p:nvSpPr>
        <p:spPr>
          <a:xfrm>
            <a:off x="2143125" y="1619250"/>
            <a:ext cx="9429750" cy="428625"/>
          </a:xfrm>
          <a:prstGeom prst="rect">
            <a:avLst/>
          </a:prstGeom>
          <a:noFill/>
          <a:ln w="0">
            <a:noFill/>
          </a:ln>
        </p:spPr>
        <p:txBody>
          <a:bodyPr wrap="square" lIns="0" tIns="0" rIns="0" bIns="0" anchor="t">
            <a:noAutofit/>
          </a:bodyPr>
          <a:lstStyle>
            <a:defPPr algn="l">
              <a:defRPr sz="2250" b="1" i="0">
                <a:solidFill>
                  <a:srgbClr val="122E66"/>
                </a:solidFill>
                <a:latin typeface="Arial"/>
                <a:ea typeface="Arial"/>
                <a:cs typeface="Arial"/>
              </a:defRPr>
            </a:defPPr>
          </a:lstStyle>
          <a:p>
            <a:pPr algn="l">
              <a:buNone/>
              <a:defRPr sz="2250" b="1" i="0">
                <a:solidFill>
                  <a:srgbClr val="122E66"/>
                </a:solidFill>
                <a:latin typeface="Arial"/>
                <a:ea typeface="Arial"/>
                <a:cs typeface="Arial"/>
              </a:defRPr>
            </a:pPr>
            <a:r>
              <a:rPr sz="2250" b="1" i="0">
                <a:solidFill>
                  <a:srgbClr val="122E66"/>
                </a:solidFill>
                <a:latin typeface="Arial"/>
                <a:ea typeface="Arial"/>
                <a:cs typeface="Arial"/>
              </a:rPr>
              <a:t>A framework for asymmetric access</a:t>
            </a:r>
          </a:p>
        </p:txBody>
      </p:sp>
      <p:sp>
        <p:nvSpPr>
          <p:cNvPr id="30" name="content-14">
            <a:extLst>
              <a:ext uri="{FF2B5EF4-FFF2-40B4-BE49-F238E27FC236}">
                <a16:creationId xmlns:a16="http://schemas.microsoft.com/office/drawing/2014/main" id="{D567FF67-020C-4C74-9184-1880CFA5201A}"/>
              </a:ext>
            </a:extLst>
          </p:cNvPr>
          <p:cNvSpPr>
            <a:spLocks noGrp="1"/>
          </p:cNvSpPr>
          <p:nvPr/>
        </p:nvSpPr>
        <p:spPr>
          <a:xfrm>
            <a:off x="2143125" y="2085975"/>
            <a:ext cx="9429750" cy="714375"/>
          </a:xfrm>
          <a:prstGeom prst="rect">
            <a:avLst/>
          </a:prstGeom>
          <a:noFill/>
          <a:ln w="0">
            <a:noFill/>
          </a:ln>
        </p:spPr>
        <p:txBody>
          <a:bodyPr wrap="square" lIns="0" tIns="0" rIns="0" bIns="0" anchor="t">
            <a:noAutofit/>
          </a:bodyPr>
          <a:lstStyle>
            <a:defPPr algn="l">
              <a:defRPr sz="2025" b="0" i="0">
                <a:solidFill>
                  <a:srgbClr val="202020"/>
                </a:solidFill>
                <a:latin typeface="Arial"/>
                <a:ea typeface="Arial"/>
                <a:cs typeface="Arial"/>
              </a:defRPr>
            </a:defPPr>
          </a:lstStyle>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Provider-side explanation and operator-side ranking control.</a:t>
            </a:r>
          </a:p>
        </p:txBody>
      </p:sp>
      <p:sp>
        <p:nvSpPr>
          <p:cNvPr id="31" name="content-15">
            <a:extLst>
              <a:ext uri="{FF2B5EF4-FFF2-40B4-BE49-F238E27FC236}">
                <a16:creationId xmlns:a16="http://schemas.microsoft.com/office/drawing/2014/main" id="{9F462C71-B79C-4DCC-B18E-7E95111C0BD5}"/>
              </a:ext>
            </a:extLst>
          </p:cNvPr>
          <p:cNvSpPr>
            <a:spLocks noGrp="1"/>
          </p:cNvSpPr>
          <p:nvPr/>
        </p:nvSpPr>
        <p:spPr>
          <a:xfrm>
            <a:off x="2143125" y="3152775"/>
            <a:ext cx="9429750" cy="428625"/>
          </a:xfrm>
          <a:prstGeom prst="rect">
            <a:avLst/>
          </a:prstGeom>
          <a:noFill/>
          <a:ln w="0">
            <a:noFill/>
          </a:ln>
        </p:spPr>
        <p:txBody>
          <a:bodyPr wrap="square" lIns="0" tIns="0" rIns="0" bIns="0" anchor="t">
            <a:noAutofit/>
          </a:bodyPr>
          <a:lstStyle>
            <a:defPPr algn="l">
              <a:defRPr sz="2250" b="1" i="0">
                <a:solidFill>
                  <a:srgbClr val="122E66"/>
                </a:solidFill>
                <a:latin typeface="Arial"/>
                <a:ea typeface="Arial"/>
                <a:cs typeface="Arial"/>
              </a:defRPr>
            </a:defPPr>
          </a:lstStyle>
          <a:p>
            <a:pPr algn="l">
              <a:buNone/>
              <a:defRPr sz="2250" b="1" i="0">
                <a:solidFill>
                  <a:srgbClr val="122E66"/>
                </a:solidFill>
                <a:latin typeface="Arial"/>
                <a:ea typeface="Arial"/>
                <a:cs typeface="Arial"/>
              </a:defRPr>
            </a:pPr>
            <a:r>
              <a:rPr sz="2250" b="1" i="0">
                <a:solidFill>
                  <a:srgbClr val="122E66"/>
                </a:solidFill>
                <a:latin typeface="Arial"/>
                <a:ea typeface="Arial"/>
                <a:cs typeface="Arial"/>
              </a:rPr>
              <a:t>Causal Contribution Identifier (CCI)</a:t>
            </a:r>
          </a:p>
        </p:txBody>
      </p:sp>
      <p:sp>
        <p:nvSpPr>
          <p:cNvPr id="32" name="content-16">
            <a:extLst>
              <a:ext uri="{FF2B5EF4-FFF2-40B4-BE49-F238E27FC236}">
                <a16:creationId xmlns:a16="http://schemas.microsoft.com/office/drawing/2014/main" id="{AE370D28-78A7-4A58-800D-4CE339F0C5A1}"/>
              </a:ext>
            </a:extLst>
          </p:cNvPr>
          <p:cNvSpPr>
            <a:spLocks noGrp="1"/>
          </p:cNvSpPr>
          <p:nvPr/>
        </p:nvSpPr>
        <p:spPr>
          <a:xfrm>
            <a:off x="2143125" y="3619500"/>
            <a:ext cx="9429750" cy="714375"/>
          </a:xfrm>
          <a:prstGeom prst="rect">
            <a:avLst/>
          </a:prstGeom>
          <a:noFill/>
          <a:ln w="0">
            <a:noFill/>
          </a:ln>
        </p:spPr>
        <p:txBody>
          <a:bodyPr wrap="square" lIns="0" tIns="0" rIns="0" bIns="0" anchor="t">
            <a:noAutofit/>
          </a:bodyPr>
          <a:lstStyle>
            <a:defPPr algn="l">
              <a:defRPr sz="2025" b="0" i="0">
                <a:solidFill>
                  <a:srgbClr val="202020"/>
                </a:solidFill>
                <a:latin typeface="Arial"/>
                <a:ea typeface="Arial"/>
                <a:cs typeface="Arial"/>
              </a:defRPr>
            </a:defPPr>
          </a:lstStyle>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A sparse support set and contribution weights for each candidate.</a:t>
            </a:r>
          </a:p>
        </p:txBody>
      </p:sp>
      <p:sp>
        <p:nvSpPr>
          <p:cNvPr id="33" name="content-17">
            <a:extLst>
              <a:ext uri="{FF2B5EF4-FFF2-40B4-BE49-F238E27FC236}">
                <a16:creationId xmlns:a16="http://schemas.microsoft.com/office/drawing/2014/main" id="{C02F8BB6-1191-4FA4-AF85-F9E0BA60770C}"/>
              </a:ext>
            </a:extLst>
          </p:cNvPr>
          <p:cNvSpPr>
            <a:spLocks noGrp="1"/>
          </p:cNvSpPr>
          <p:nvPr/>
        </p:nvSpPr>
        <p:spPr>
          <a:xfrm>
            <a:off x="2143125" y="4705350"/>
            <a:ext cx="9429750" cy="428625"/>
          </a:xfrm>
          <a:prstGeom prst="rect">
            <a:avLst/>
          </a:prstGeom>
          <a:noFill/>
          <a:ln w="0">
            <a:noFill/>
          </a:ln>
        </p:spPr>
        <p:txBody>
          <a:bodyPr wrap="square" lIns="0" tIns="0" rIns="0" bIns="0" anchor="t">
            <a:noAutofit/>
          </a:bodyPr>
          <a:lstStyle>
            <a:defPPr algn="l">
              <a:defRPr sz="2250" b="1" i="0">
                <a:solidFill>
                  <a:srgbClr val="122E66"/>
                </a:solidFill>
                <a:latin typeface="Arial"/>
                <a:ea typeface="Arial"/>
                <a:cs typeface="Arial"/>
              </a:defRPr>
            </a:defPPr>
          </a:lstStyle>
          <a:p>
            <a:pPr algn="l">
              <a:buNone/>
              <a:defRPr sz="2250" b="1" i="0">
                <a:solidFill>
                  <a:srgbClr val="122E66"/>
                </a:solidFill>
                <a:latin typeface="Arial"/>
                <a:ea typeface="Arial"/>
                <a:cs typeface="Arial"/>
              </a:defRPr>
            </a:pPr>
            <a:r>
              <a:rPr sz="2250" b="1" i="0">
                <a:solidFill>
                  <a:srgbClr val="122E66"/>
                </a:solidFill>
                <a:latin typeface="Arial"/>
                <a:ea typeface="Arial"/>
                <a:cs typeface="Arial"/>
              </a:rPr>
              <a:t>Unlearning-driven Rank Adjuster (URA)</a:t>
            </a:r>
          </a:p>
        </p:txBody>
      </p:sp>
      <p:sp>
        <p:nvSpPr>
          <p:cNvPr id="34" name="content-18">
            <a:extLst>
              <a:ext uri="{FF2B5EF4-FFF2-40B4-BE49-F238E27FC236}">
                <a16:creationId xmlns:a16="http://schemas.microsoft.com/office/drawing/2014/main" id="{B95540FA-EEC6-4811-A71C-10DB4DE137EE}"/>
              </a:ext>
            </a:extLst>
          </p:cNvPr>
          <p:cNvSpPr>
            <a:spLocks noGrp="1"/>
          </p:cNvSpPr>
          <p:nvPr/>
        </p:nvSpPr>
        <p:spPr>
          <a:xfrm>
            <a:off x="2143125" y="5172075"/>
            <a:ext cx="9429750" cy="809625"/>
          </a:xfrm>
          <a:prstGeom prst="rect">
            <a:avLst/>
          </a:prstGeom>
          <a:noFill/>
          <a:ln w="0">
            <a:noFill/>
          </a:ln>
        </p:spPr>
        <p:txBody>
          <a:bodyPr wrap="square" lIns="0" tIns="0" rIns="0" bIns="0" anchor="t">
            <a:noAutofit/>
          </a:bodyPr>
          <a:lstStyle>
            <a:defPPr algn="l">
              <a:defRPr sz="2025" b="0" i="0">
                <a:solidFill>
                  <a:srgbClr val="202020"/>
                </a:solidFill>
                <a:latin typeface="Arial"/>
                <a:ea typeface="Arial"/>
                <a:cs typeface="Arial"/>
              </a:defRPr>
            </a:defPPr>
          </a:lstStyle>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A targeted score adjustment based on the forgotten interaction.</a:t>
            </a:r>
          </a:p>
        </p:txBody>
      </p:sp>
    </p:spTree>
    <p:extLst>
      <p:ext uri="{BB962C8B-B14F-4D97-AF65-F5344CB8AC3E}">
        <p14:creationId xmlns:p14="http://schemas.microsoft.com/office/powerpoint/2010/main" val="3830942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2559939"/>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2.2</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Unlearning objectives</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E51E57B5-E8CA-4939-9DA1-131E4D18D04E}"/>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C426B7BC-1FB8-4777-A0B3-B844835B17F0}"/>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7 / 20</a:t>
            </a:r>
          </a:p>
        </p:txBody>
      </p:sp>
      <p:sp>
        <p:nvSpPr>
          <p:cNvPr id="29" name="content-13">
            <a:extLst>
              <a:ext uri="{FF2B5EF4-FFF2-40B4-BE49-F238E27FC236}">
                <a16:creationId xmlns:a16="http://schemas.microsoft.com/office/drawing/2014/main" id="{D83501F5-64EA-410F-9AD9-966B35BFB57B}"/>
              </a:ext>
            </a:extLst>
          </p:cNvPr>
          <p:cNvSpPr>
            <a:spLocks noGrp="1"/>
          </p:cNvSpPr>
          <p:nvPr/>
        </p:nvSpPr>
        <p:spPr>
          <a:xfrm>
            <a:off x="2143125" y="1704975"/>
            <a:ext cx="9429750" cy="590550"/>
          </a:xfrm>
          <a:prstGeom prst="rect">
            <a:avLst/>
          </a:prstGeom>
          <a:noFill/>
          <a:ln w="0">
            <a:noFill/>
          </a:ln>
        </p:spPr>
        <p:txBody>
          <a:bodyPr wrap="square" lIns="0" tIns="0" rIns="0" bIns="0" anchor="t">
            <a:noAutofit/>
          </a:bodyPr>
          <a:lstStyle>
            <a:defPPr algn="ctr">
              <a:defRPr sz="2325" b="0" i="0">
                <a:solidFill>
                  <a:srgbClr val="202020"/>
                </a:solidFill>
                <a:latin typeface="Arial"/>
                <a:ea typeface="Arial"/>
                <a:cs typeface="Arial"/>
              </a:defRPr>
            </a:defPPr>
          </a:lstStyle>
          <a:p>
            <a:pPr algn="ctr">
              <a:buNone/>
              <a:defRPr sz="2325" b="0" i="0">
                <a:solidFill>
                  <a:srgbClr val="202020"/>
                </a:solidFill>
                <a:latin typeface="Arial"/>
                <a:ea typeface="Arial"/>
                <a:cs typeface="Arial"/>
              </a:defRPr>
            </a:pPr>
            <a:r>
              <a:rPr sz="2325" b="0" i="0">
                <a:solidFill>
                  <a:srgbClr val="202020"/>
                </a:solidFill>
                <a:latin typeface="Arial"/>
                <a:ea typeface="Arial"/>
                <a:cs typeface="Arial"/>
              </a:rPr>
              <a:t>Training interactions = Forgetting set + Retained set</a:t>
            </a:r>
          </a:p>
        </p:txBody>
      </p:sp>
      <p:sp>
        <p:nvSpPr>
          <p:cNvPr id="30" name="content-14">
            <a:extLst>
              <a:ext uri="{FF2B5EF4-FFF2-40B4-BE49-F238E27FC236}">
                <a16:creationId xmlns:a16="http://schemas.microsoft.com/office/drawing/2014/main" id="{AAA87888-401A-4A3B-A09F-47AC1632E7DD}"/>
              </a:ext>
            </a:extLst>
          </p:cNvPr>
          <p:cNvSpPr>
            <a:spLocks noGrp="1"/>
          </p:cNvSpPr>
          <p:nvPr/>
        </p:nvSpPr>
        <p:spPr>
          <a:xfrm>
            <a:off x="2190750" y="2857500"/>
            <a:ext cx="9286875" cy="2571750"/>
          </a:xfrm>
          <a:prstGeom prst="rect">
            <a:avLst/>
          </a:prstGeom>
          <a:noFill/>
          <a:ln w="0">
            <a:noFill/>
          </a:ln>
        </p:spPr>
        <p:txBody>
          <a:bodyPr wrap="square" lIns="0" tIns="0" rIns="0" bIns="0" anchor="t">
            <a:noAutofit/>
          </a:bodyPr>
          <a:lstStyle>
            <a:defPPr algn="l">
              <a:defRPr sz="2175" b="0" i="0">
                <a:solidFill>
                  <a:srgbClr val="202020"/>
                </a:solidFill>
                <a:latin typeface="Arial"/>
                <a:ea typeface="Arial"/>
                <a:cs typeface="Arial"/>
              </a:defRPr>
            </a:defPPr>
          </a:lstStyle>
          <a:p>
            <a:pPr marL="228600" indent="-139700" algn="l">
              <a:spcAft>
                <a:spcPts val="2400"/>
              </a:spcAft>
              <a:buChar char="•"/>
              <a:defRPr sz="2175" b="0" i="0">
                <a:solidFill>
                  <a:srgbClr val="202020"/>
                </a:solidFill>
                <a:latin typeface="Arial"/>
                <a:ea typeface="Arial"/>
                <a:cs typeface="Arial"/>
              </a:defRPr>
            </a:pPr>
            <a:r>
              <a:t>Forgetting effectiveness: remaining membership evidence in the outputs.</a:t>
            </a:r>
          </a:p>
          <a:p>
            <a:pPr marL="228600" indent="-139700" algn="l">
              <a:spcAft>
                <a:spcPts val="2400"/>
              </a:spcAft>
              <a:buChar char="•"/>
              <a:defRPr sz="2175" b="0" i="0">
                <a:solidFill>
                  <a:srgbClr val="202020"/>
                </a:solidFill>
                <a:latin typeface="Arial"/>
                <a:ea typeface="Arial"/>
                <a:cs typeface="Arial"/>
              </a:defRPr>
            </a:pPr>
            <a:r>
              <a:t>Utility: recommendation quality on the retained data.</a:t>
            </a:r>
          </a:p>
          <a:p>
            <a:pPr marL="228600" indent="-139700" algn="l">
              <a:spcAft>
                <a:spcPts val="2400"/>
              </a:spcAft>
              <a:buChar char="•"/>
              <a:defRPr sz="2175" b="0" i="0">
                <a:solidFill>
                  <a:srgbClr val="202020"/>
                </a:solidFill>
                <a:latin typeface="Arial"/>
                <a:ea typeface="Arial"/>
                <a:cs typeface="Arial"/>
              </a:defRPr>
            </a:pPr>
            <a:r>
              <a:t>Efficiency: time and computation for the intervention.</a:t>
            </a:r>
          </a:p>
        </p:txBody>
      </p:sp>
      <p:sp>
        <p:nvSpPr>
          <p:cNvPr id="31" name="content-15">
            <a:extLst>
              <a:ext uri="{FF2B5EF4-FFF2-40B4-BE49-F238E27FC236}">
                <a16:creationId xmlns:a16="http://schemas.microsoft.com/office/drawing/2014/main" id="{317E2037-2E6D-4F2C-9F42-31D75C127401}"/>
              </a:ext>
            </a:extLst>
          </p:cNvPr>
          <p:cNvSpPr>
            <a:spLocks noGrp="1"/>
          </p:cNvSpPr>
          <p:nvPr/>
        </p:nvSpPr>
        <p:spPr>
          <a:xfrm>
            <a:off x="2047875" y="5991225"/>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Empirical reference: a model retrained using only the retained interactions.</a:t>
            </a:r>
          </a:p>
        </p:txBody>
      </p:sp>
    </p:spTree>
    <p:extLst>
      <p:ext uri="{BB962C8B-B14F-4D97-AF65-F5344CB8AC3E}">
        <p14:creationId xmlns:p14="http://schemas.microsoft.com/office/powerpoint/2010/main" val="38309420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321716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3.1</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The CEU framework</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3E6D8F46-EA8B-48F4-8F93-90DC19C74923}"/>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29296630-2302-4EF9-8DBD-6991F1FA72EB}"/>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8 / 20</a:t>
            </a:r>
          </a:p>
        </p:txBody>
      </p:sp>
      <p:pic>
        <p:nvPicPr>
          <p:cNvPr id="29" name="图片 28">
            <a:extLst>
              <a:ext uri="{FF2B5EF4-FFF2-40B4-BE49-F238E27FC236}">
                <a16:creationId xmlns:a16="http://schemas.microsoft.com/office/drawing/2014/main" id="{C478776E-3A2D-4CD7-BB7C-CBD4508CB086}"/>
              </a:ext>
            </a:extLst>
          </p:cNvPr>
          <p:cNvPicPr>
            <a:picLocks noChangeAspect="1"/>
          </p:cNvPicPr>
          <p:nvPr/>
        </p:nvPicPr>
        <p:blipFill>
          <a:blip r:embed="rId4"/>
          <a:stretch/>
        </p:blipFill>
        <p:spPr>
          <a:xfrm>
            <a:off x="3877723" y="1333500"/>
            <a:ext cx="5960555" cy="4448175"/>
          </a:xfrm>
          <a:prstGeom prst="rect">
            <a:avLst/>
          </a:prstGeom>
        </p:spPr>
      </p:pic>
      <p:sp>
        <p:nvSpPr>
          <p:cNvPr id="30" name="content-13">
            <a:extLst>
              <a:ext uri="{FF2B5EF4-FFF2-40B4-BE49-F238E27FC236}">
                <a16:creationId xmlns:a16="http://schemas.microsoft.com/office/drawing/2014/main" id="{06399A48-BF9F-4186-99E2-45B6EC17E573}"/>
              </a:ext>
            </a:extLst>
          </p:cNvPr>
          <p:cNvSpPr>
            <a:spLocks noGrp="1"/>
          </p:cNvSpPr>
          <p:nvPr/>
        </p:nvSpPr>
        <p:spPr>
          <a:xfrm>
            <a:off x="2143125" y="5953125"/>
            <a:ext cx="9429750" cy="476250"/>
          </a:xfrm>
          <a:prstGeom prst="rect">
            <a:avLst/>
          </a:prstGeom>
          <a:noFill/>
          <a:ln w="0">
            <a:noFill/>
          </a:ln>
        </p:spPr>
        <p:txBody>
          <a:bodyPr wrap="square" lIns="0" tIns="0" rIns="0" bIns="0" anchor="t">
            <a:noAutofit/>
          </a:bodyPr>
          <a:lstStyle>
            <a:defPPr algn="ctr">
              <a:defRPr sz="1800" b="0" i="0">
                <a:solidFill>
                  <a:srgbClr val="122E66"/>
                </a:solidFill>
                <a:latin typeface="Arial"/>
                <a:ea typeface="Arial"/>
                <a:cs typeface="Arial"/>
              </a:defRPr>
            </a:defPPr>
          </a:lstStyle>
          <a:p>
            <a:pPr algn="ctr">
              <a:buNone/>
              <a:defRPr sz="1800" b="0" i="0">
                <a:solidFill>
                  <a:srgbClr val="122E66"/>
                </a:solidFill>
                <a:latin typeface="Arial"/>
                <a:ea typeface="Arial"/>
                <a:cs typeface="Arial"/>
              </a:defRPr>
            </a:pPr>
            <a:r>
              <a:rPr sz="1800" b="0" i="0">
                <a:solidFill>
                  <a:srgbClr val="122E66"/>
                </a:solidFill>
                <a:latin typeface="Arial"/>
                <a:ea typeface="Arial"/>
                <a:cs typeface="Arial"/>
              </a:rPr>
              <a:t>CCI at the provider. URA at the operator. The pretrained model stays fixed.</a:t>
            </a:r>
          </a:p>
        </p:txBody>
      </p:sp>
    </p:spTree>
    <p:extLst>
      <p:ext uri="{BB962C8B-B14F-4D97-AF65-F5344CB8AC3E}">
        <p14:creationId xmlns:p14="http://schemas.microsoft.com/office/powerpoint/2010/main" val="3830942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321716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3.2</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Counterfactual support</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3E5450C7-C13E-43A7-8D80-929C4A6E3DE7}"/>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8C22B199-7F17-4ABC-8171-E9603964D2BB}"/>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9 / 20</a:t>
            </a:r>
          </a:p>
        </p:txBody>
      </p:sp>
      <p:sp>
        <p:nvSpPr>
          <p:cNvPr id="29" name="content-13">
            <a:extLst>
              <a:ext uri="{FF2B5EF4-FFF2-40B4-BE49-F238E27FC236}">
                <a16:creationId xmlns:a16="http://schemas.microsoft.com/office/drawing/2014/main" id="{8FF7AB43-49C5-4A76-AAFA-7AAA9A1EB0F7}"/>
              </a:ext>
            </a:extLst>
          </p:cNvPr>
          <p:cNvSpPr>
            <a:spLocks noGrp="1"/>
          </p:cNvSpPr>
          <p:nvPr/>
        </p:nvSpPr>
        <p:spPr>
          <a:xfrm>
            <a:off x="2143125" y="1800225"/>
            <a:ext cx="9429750" cy="1143000"/>
          </a:xfrm>
          <a:prstGeom prst="rect">
            <a:avLst/>
          </a:prstGeom>
          <a:noFill/>
          <a:ln w="0">
            <a:noFill/>
          </a:ln>
        </p:spPr>
        <p:txBody>
          <a:bodyPr wrap="square" lIns="0" tIns="0" rIns="0" bIns="0" anchor="t">
            <a:noAutofit/>
          </a:bodyPr>
          <a:lstStyle>
            <a:defPPr algn="l">
              <a:defRPr sz="2625" b="0" i="0">
                <a:solidFill>
                  <a:srgbClr val="122E66"/>
                </a:solidFill>
                <a:latin typeface="Arial"/>
                <a:ea typeface="Arial"/>
                <a:cs typeface="Arial"/>
              </a:defRPr>
            </a:defPPr>
          </a:lstStyle>
          <a:p>
            <a:pPr algn="l">
              <a:buNone/>
              <a:defRPr sz="2625" b="0" i="0">
                <a:solidFill>
                  <a:srgbClr val="122E66"/>
                </a:solidFill>
                <a:latin typeface="Arial"/>
                <a:ea typeface="Arial"/>
                <a:cs typeface="Arial"/>
              </a:defRPr>
            </a:pPr>
            <a:r>
              <a:rPr sz="2625" b="0" i="0">
                <a:solidFill>
                  <a:srgbClr val="122E66"/>
                </a:solidFill>
                <a:latin typeface="Arial"/>
                <a:ea typeface="Arial"/>
                <a:cs typeface="Arial"/>
              </a:rPr>
              <a:t>Would this item still be recommended if part</a:t>
            </a:r>
          </a:p>
          <a:p>
            <a:pPr algn="l">
              <a:buNone/>
              <a:defRPr sz="2625" b="0" i="0">
                <a:solidFill>
                  <a:srgbClr val="122E66"/>
                </a:solidFill>
                <a:latin typeface="Arial"/>
                <a:ea typeface="Arial"/>
                <a:cs typeface="Arial"/>
              </a:defRPr>
            </a:pPr>
            <a:r>
              <a:rPr sz="2625" b="0" i="0">
                <a:solidFill>
                  <a:srgbClr val="122E66"/>
                </a:solidFill>
                <a:latin typeface="Arial"/>
                <a:ea typeface="Arial"/>
                <a:cs typeface="Arial"/>
              </a:rPr>
              <a:t>of the user’s history were suppressed?</a:t>
            </a:r>
          </a:p>
        </p:txBody>
      </p:sp>
      <p:sp>
        <p:nvSpPr>
          <p:cNvPr id="30" name="content-14">
            <a:extLst>
              <a:ext uri="{FF2B5EF4-FFF2-40B4-BE49-F238E27FC236}">
                <a16:creationId xmlns:a16="http://schemas.microsoft.com/office/drawing/2014/main" id="{53936C39-4F1E-49F6-B8E5-387F6EA63CDB}"/>
              </a:ext>
            </a:extLst>
          </p:cNvPr>
          <p:cNvSpPr>
            <a:spLocks noGrp="1"/>
          </p:cNvSpPr>
          <p:nvPr/>
        </p:nvSpPr>
        <p:spPr>
          <a:xfrm>
            <a:off x="2143125" y="3514725"/>
            <a:ext cx="9429750" cy="428625"/>
          </a:xfrm>
          <a:prstGeom prst="rect">
            <a:avLst/>
          </a:prstGeom>
          <a:noFill/>
          <a:ln w="0">
            <a:noFill/>
          </a:ln>
        </p:spPr>
        <p:txBody>
          <a:bodyPr wrap="square" lIns="0" tIns="0" rIns="0" bIns="0" anchor="t">
            <a:noAutofit/>
          </a:bodyPr>
          <a:lstStyle>
            <a:defPPr algn="l">
              <a:defRPr sz="2175" b="1" i="0">
                <a:solidFill>
                  <a:srgbClr val="122E66"/>
                </a:solidFill>
                <a:latin typeface="Arial"/>
                <a:ea typeface="Arial"/>
                <a:cs typeface="Arial"/>
              </a:defRPr>
            </a:defPPr>
          </a:lstStyle>
          <a:p>
            <a:pPr algn="l">
              <a:buNone/>
              <a:defRPr sz="2175" b="1" i="0">
                <a:solidFill>
                  <a:srgbClr val="122E66"/>
                </a:solidFill>
                <a:latin typeface="Arial"/>
                <a:ea typeface="Arial"/>
                <a:cs typeface="Arial"/>
              </a:defRPr>
            </a:pPr>
            <a:r>
              <a:rPr sz="2175" b="1" i="0">
                <a:solidFill>
                  <a:srgbClr val="122E66"/>
                </a:solidFill>
                <a:latin typeface="Arial"/>
                <a:ea typeface="Arial"/>
                <a:cs typeface="Arial"/>
              </a:rPr>
              <a:t>Counterfactual support set</a:t>
            </a:r>
          </a:p>
        </p:txBody>
      </p:sp>
      <p:sp>
        <p:nvSpPr>
          <p:cNvPr id="31" name="content-15">
            <a:extLst>
              <a:ext uri="{FF2B5EF4-FFF2-40B4-BE49-F238E27FC236}">
                <a16:creationId xmlns:a16="http://schemas.microsoft.com/office/drawing/2014/main" id="{1F006C8A-4C01-48C0-BF5D-DF3A59B02C2D}"/>
              </a:ext>
            </a:extLst>
          </p:cNvPr>
          <p:cNvSpPr>
            <a:spLocks noGrp="1"/>
          </p:cNvSpPr>
          <p:nvPr/>
        </p:nvSpPr>
        <p:spPr>
          <a:xfrm>
            <a:off x="2143125" y="4038600"/>
            <a:ext cx="9429750" cy="1028700"/>
          </a:xfrm>
          <a:prstGeom prst="rect">
            <a:avLst/>
          </a:prstGeom>
          <a:noFill/>
          <a:ln w="0">
            <a:noFill/>
          </a:ln>
        </p:spPr>
        <p:txBody>
          <a:bodyPr wrap="square" lIns="0" tIns="0" rIns="0" bIns="0" anchor="t">
            <a:noAutofit/>
          </a:bodyPr>
          <a:lstStyle>
            <a:defPPr algn="l">
              <a:defRPr sz="2175" b="0" i="0">
                <a:solidFill>
                  <a:srgbClr val="202020"/>
                </a:solidFill>
                <a:latin typeface="Arial"/>
                <a:ea typeface="Arial"/>
                <a:cs typeface="Arial"/>
              </a:defRPr>
            </a:defPPr>
          </a:lstStyle>
          <a:p>
            <a:pPr algn="l">
              <a:buNone/>
              <a:defRPr sz="2175" b="0" i="0">
                <a:solidFill>
                  <a:srgbClr val="202020"/>
                </a:solidFill>
                <a:latin typeface="Arial"/>
                <a:ea typeface="Arial"/>
                <a:cs typeface="Arial"/>
              </a:defRPr>
            </a:pPr>
            <a:r>
              <a:rPr sz="2175" b="0" i="0">
                <a:solidFill>
                  <a:srgbClr val="202020"/>
                </a:solidFill>
                <a:latin typeface="Arial"/>
                <a:ea typeface="Arial"/>
                <a:cs typeface="Arial"/>
              </a:rPr>
              <a:t>A small subset of historical interactions whose suppression</a:t>
            </a:r>
          </a:p>
          <a:p>
            <a:pPr algn="l">
              <a:buNone/>
              <a:defRPr sz="2175" b="0" i="0">
                <a:solidFill>
                  <a:srgbClr val="202020"/>
                </a:solidFill>
                <a:latin typeface="Arial"/>
                <a:ea typeface="Arial"/>
                <a:cs typeface="Arial"/>
              </a:defRPr>
            </a:pPr>
            <a:r>
              <a:rPr sz="2175" b="0" i="0">
                <a:solidFill>
                  <a:srgbClr val="202020"/>
                </a:solidFill>
                <a:latin typeface="Arial"/>
                <a:ea typeface="Arial"/>
                <a:cs typeface="Arial"/>
              </a:rPr>
              <a:t>changes the target score or its top-K decision.</a:t>
            </a:r>
          </a:p>
        </p:txBody>
      </p:sp>
      <p:sp>
        <p:nvSpPr>
          <p:cNvPr id="32" name="content-16">
            <a:extLst>
              <a:ext uri="{FF2B5EF4-FFF2-40B4-BE49-F238E27FC236}">
                <a16:creationId xmlns:a16="http://schemas.microsoft.com/office/drawing/2014/main" id="{1B11FFDC-343B-4716-8962-F1BBDE5D69EE}"/>
              </a:ext>
            </a:extLst>
          </p:cNvPr>
          <p:cNvSpPr>
            <a:spLocks noGrp="1"/>
          </p:cNvSpPr>
          <p:nvPr/>
        </p:nvSpPr>
        <p:spPr>
          <a:xfrm>
            <a:off x="2047875" y="5810250"/>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CCI approximates the subset search with a sparse continuous mask under the fixed recommender.</a:t>
            </a:r>
          </a:p>
        </p:txBody>
      </p:sp>
    </p:spTree>
    <p:extLst>
      <p:ext uri="{BB962C8B-B14F-4D97-AF65-F5344CB8AC3E}">
        <p14:creationId xmlns:p14="http://schemas.microsoft.com/office/powerpoint/2010/main" val="3830942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321716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3.3</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A continuous history mask</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11E67209-38E7-4F0D-9855-18BD3B6938E6}"/>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A76258CB-0AE4-40B7-95D2-E2DA9DC02918}"/>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10 / 20</a:t>
            </a:r>
          </a:p>
        </p:txBody>
      </p:sp>
      <p:sp>
        <p:nvSpPr>
          <p:cNvPr id="29" name="content-13">
            <a:extLst>
              <a:ext uri="{FF2B5EF4-FFF2-40B4-BE49-F238E27FC236}">
                <a16:creationId xmlns:a16="http://schemas.microsoft.com/office/drawing/2014/main" id="{C41FFA2D-6F80-4622-ABDB-70C4CE0D5F9A}"/>
              </a:ext>
            </a:extLst>
          </p:cNvPr>
          <p:cNvSpPr>
            <a:spLocks noGrp="1"/>
          </p:cNvSpPr>
          <p:nvPr/>
        </p:nvSpPr>
        <p:spPr>
          <a:xfrm>
            <a:off x="2143125" y="1790700"/>
            <a:ext cx="4572000" cy="428625"/>
          </a:xfrm>
          <a:prstGeom prst="rect">
            <a:avLst/>
          </a:prstGeom>
          <a:noFill/>
          <a:ln w="0">
            <a:noFill/>
          </a:ln>
        </p:spPr>
        <p:txBody>
          <a:bodyPr wrap="square" lIns="0" tIns="0" rIns="0" bIns="0" anchor="t">
            <a:noAutofit/>
          </a:bodyPr>
          <a:lstStyle>
            <a:defPPr algn="l">
              <a:defRPr sz="2100" b="1" i="0">
                <a:solidFill>
                  <a:srgbClr val="122E66"/>
                </a:solidFill>
                <a:latin typeface="Arial"/>
                <a:ea typeface="Arial"/>
                <a:cs typeface="Arial"/>
              </a:defRPr>
            </a:defPPr>
          </a:lstStyle>
          <a:p>
            <a:pPr algn="l">
              <a:buNone/>
              <a:defRPr sz="2100" b="1" i="0">
                <a:solidFill>
                  <a:srgbClr val="122E66"/>
                </a:solidFill>
                <a:latin typeface="Arial"/>
                <a:ea typeface="Arial"/>
                <a:cs typeface="Arial"/>
              </a:defRPr>
            </a:pPr>
            <a:r>
              <a:rPr sz="2100" b="1" i="0">
                <a:solidFill>
                  <a:srgbClr val="122E66"/>
                </a:solidFill>
                <a:latin typeface="Arial"/>
                <a:ea typeface="Arial"/>
                <a:cs typeface="Arial"/>
              </a:rPr>
              <a:t>One mask value per interaction</a:t>
            </a:r>
          </a:p>
        </p:txBody>
      </p:sp>
      <p:sp>
        <p:nvSpPr>
          <p:cNvPr id="30" name="content-14">
            <a:extLst>
              <a:ext uri="{FF2B5EF4-FFF2-40B4-BE49-F238E27FC236}">
                <a16:creationId xmlns:a16="http://schemas.microsoft.com/office/drawing/2014/main" id="{589F4739-381A-40BF-B257-72157293C19B}"/>
              </a:ext>
            </a:extLst>
          </p:cNvPr>
          <p:cNvSpPr>
            <a:spLocks noGrp="1"/>
          </p:cNvSpPr>
          <p:nvPr/>
        </p:nvSpPr>
        <p:spPr>
          <a:xfrm>
            <a:off x="2143125" y="2381250"/>
            <a:ext cx="4524375" cy="1047750"/>
          </a:xfrm>
          <a:prstGeom prst="rect">
            <a:avLst/>
          </a:prstGeom>
          <a:noFill/>
          <a:ln w="0">
            <a:noFill/>
          </a:ln>
        </p:spPr>
        <p:txBody>
          <a:bodyPr wrap="square" lIns="0" tIns="0" rIns="0" bIns="0" anchor="t">
            <a:noAutofit/>
          </a:bodyPr>
          <a:lstStyle>
            <a:defPPr algn="l">
              <a:defRPr sz="2025" b="0" i="0">
                <a:solidFill>
                  <a:srgbClr val="202020"/>
                </a:solidFill>
                <a:latin typeface="Arial"/>
                <a:ea typeface="Arial"/>
                <a:cs typeface="Arial"/>
              </a:defRPr>
            </a:defPPr>
          </a:lstStyle>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P = 1 retains the interaction.</a:t>
            </a:r>
          </a:p>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A smaller P suppresses it.</a:t>
            </a:r>
          </a:p>
        </p:txBody>
      </p:sp>
      <p:sp>
        <p:nvSpPr>
          <p:cNvPr id="31" name="content-15">
            <a:extLst>
              <a:ext uri="{FF2B5EF4-FFF2-40B4-BE49-F238E27FC236}">
                <a16:creationId xmlns:a16="http://schemas.microsoft.com/office/drawing/2014/main" id="{A44F4AAE-5A0A-4CAD-8F45-D53240D12E46}"/>
              </a:ext>
            </a:extLst>
          </p:cNvPr>
          <p:cNvSpPr>
            <a:spLocks noGrp="1"/>
          </p:cNvSpPr>
          <p:nvPr/>
        </p:nvSpPr>
        <p:spPr>
          <a:xfrm>
            <a:off x="2143125" y="3971925"/>
            <a:ext cx="4191000" cy="428625"/>
          </a:xfrm>
          <a:prstGeom prst="rect">
            <a:avLst/>
          </a:prstGeom>
          <a:noFill/>
          <a:ln w="0">
            <a:noFill/>
          </a:ln>
        </p:spPr>
        <p:txBody>
          <a:bodyPr wrap="square" lIns="0" tIns="0" rIns="0" bIns="0" anchor="t">
            <a:noAutofit/>
          </a:bodyPr>
          <a:lstStyle>
            <a:defPPr algn="l">
              <a:defRPr sz="2100" b="1" i="0">
                <a:solidFill>
                  <a:srgbClr val="122E66"/>
                </a:solidFill>
                <a:latin typeface="Arial"/>
                <a:ea typeface="Arial"/>
                <a:cs typeface="Arial"/>
              </a:defRPr>
            </a:defPPr>
          </a:lstStyle>
          <a:p>
            <a:pPr algn="l">
              <a:buNone/>
              <a:defRPr sz="2100" b="1" i="0">
                <a:solidFill>
                  <a:srgbClr val="122E66"/>
                </a:solidFill>
                <a:latin typeface="Arial"/>
                <a:ea typeface="Arial"/>
                <a:cs typeface="Arial"/>
              </a:defRPr>
            </a:pPr>
            <a:r>
              <a:rPr sz="2100" b="1" i="0">
                <a:solidFill>
                  <a:srgbClr val="122E66"/>
                </a:solidFill>
                <a:latin typeface="Arial"/>
                <a:ea typeface="Arial"/>
                <a:cs typeface="Arial"/>
              </a:rPr>
              <a:t>Contribution</a:t>
            </a:r>
          </a:p>
        </p:txBody>
      </p:sp>
      <p:sp>
        <p:nvSpPr>
          <p:cNvPr id="32" name="content-16">
            <a:extLst>
              <a:ext uri="{FF2B5EF4-FFF2-40B4-BE49-F238E27FC236}">
                <a16:creationId xmlns:a16="http://schemas.microsoft.com/office/drawing/2014/main" id="{C211553C-8D97-4FD5-B8DD-86C2F89F3954}"/>
              </a:ext>
            </a:extLst>
          </p:cNvPr>
          <p:cNvSpPr>
            <a:spLocks noGrp="1"/>
          </p:cNvSpPr>
          <p:nvPr/>
        </p:nvSpPr>
        <p:spPr>
          <a:xfrm>
            <a:off x="2143125" y="4476750"/>
            <a:ext cx="4286250" cy="657225"/>
          </a:xfrm>
          <a:prstGeom prst="rect">
            <a:avLst/>
          </a:prstGeom>
          <a:noFill/>
          <a:ln w="0">
            <a:noFill/>
          </a:ln>
        </p:spPr>
        <p:txBody>
          <a:bodyPr wrap="square" lIns="0" tIns="0" rIns="0" bIns="0" anchor="t">
            <a:noAutofit/>
          </a:bodyPr>
          <a:lstStyle>
            <a:defPPr algn="l">
              <a:defRPr sz="2700" b="0" i="0">
                <a:solidFill>
                  <a:srgbClr val="202020"/>
                </a:solidFill>
                <a:latin typeface="Arial"/>
                <a:ea typeface="Arial"/>
                <a:cs typeface="Arial"/>
              </a:defRPr>
            </a:defPPr>
          </a:lstStyle>
          <a:p>
            <a:pPr algn="l">
              <a:buNone/>
              <a:defRPr sz="2700" b="0" i="0">
                <a:solidFill>
                  <a:srgbClr val="202020"/>
                </a:solidFill>
                <a:latin typeface="Arial"/>
                <a:ea typeface="Arial"/>
                <a:cs typeface="Arial"/>
              </a:defRPr>
            </a:pPr>
            <a:r>
              <a:rPr sz="2700" b="0" i="0">
                <a:solidFill>
                  <a:srgbClr val="202020"/>
                </a:solidFill>
                <a:latin typeface="Arial"/>
                <a:ea typeface="Arial"/>
                <a:cs typeface="Arial"/>
              </a:rPr>
              <a:t>w(h) = 1 − P(h)</a:t>
            </a:r>
          </a:p>
        </p:txBody>
      </p:sp>
      <p:graphicFrame>
        <p:nvGraphicFramePr>
          <p:cNvPr id="33" name="表格 32">
            <a:extLst>
              <a:ext uri="{FF2B5EF4-FFF2-40B4-BE49-F238E27FC236}">
                <a16:creationId xmlns:a16="http://schemas.microsoft.com/office/drawing/2014/main" id="{A4D911DB-D492-4DFB-9664-062E2AD0D8EF}"/>
              </a:ext>
            </a:extLst>
          </p:cNvPr>
          <p:cNvGraphicFramePr/>
          <p:nvPr/>
        </p:nvGraphicFramePr>
        <p:xfrm>
          <a:off x="7143750" y="1857375"/>
          <a:ext cx="4286250" cy="3143250"/>
        </p:xfrm>
        <a:graphic>
          <a:graphicData uri="http://schemas.openxmlformats.org/drawingml/2006/table">
            <a:tbl>
              <a:tblPr/>
              <a:tblGrid>
                <a:gridCol w="142875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tblGrid>
              <a:tr h="785813">
                <a:tc>
                  <a:txBody>
                    <a:bodyPr/>
                    <a:lstStyle/>
                    <a:p>
                      <a:pPr algn="l">
                        <a:buNone/>
                      </a:pPr>
                      <a:r>
                        <a:rPr sz="2025" b="1">
                          <a:solidFill>
                            <a:srgbClr val="122E66"/>
                          </a:solidFill>
                          <a:latin typeface="Arial"/>
                          <a:ea typeface="Arial"/>
                          <a:cs typeface="Arial"/>
                        </a:rPr>
                        <a:t>History</a:t>
                      </a:r>
                    </a:p>
                  </a:txBody>
                  <a:tcPr marL="95250" marR="95250" marT="95250" marB="9525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a:lstStyle/>
                    <a:p>
                      <a:pPr algn="ctr">
                        <a:buNone/>
                      </a:pPr>
                      <a:r>
                        <a:rPr sz="2025" b="1">
                          <a:solidFill>
                            <a:srgbClr val="122E66"/>
                          </a:solidFill>
                          <a:latin typeface="Arial"/>
                          <a:ea typeface="Arial"/>
                          <a:cs typeface="Arial"/>
                        </a:rPr>
                        <a:t>Mask P</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a:solidFill>
                        <a:srgbClr val="FFFFFF"/>
                      </a:solidFill>
                    </a:lnT>
                    <a:lnB w="0">
                      <a:solidFill>
                        <a:srgbClr val="FFFFFF"/>
                      </a:solidFill>
                    </a:lnB>
                    <a:solidFill>
                      <a:srgbClr val="FFFFFF"/>
                    </a:solidFill>
                  </a:tcPr>
                </a:tc>
                <a:tc>
                  <a:txBody>
                    <a:bodyPr/>
                    <a:lstStyle/>
                    <a:p>
                      <a:pPr algn="ctr">
                        <a:buNone/>
                      </a:pPr>
                      <a:r>
                        <a:rPr sz="2025" b="1">
                          <a:solidFill>
                            <a:srgbClr val="122E66"/>
                          </a:solidFill>
                          <a:latin typeface="Arial"/>
                          <a:ea typeface="Arial"/>
                          <a:cs typeface="Arial"/>
                        </a:rPr>
                        <a:t>1 − P</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a:solidFill>
                        <a:srgbClr val="FFFFFF"/>
                      </a:solidFill>
                    </a:lnT>
                    <a:lnB w="0">
                      <a:solidFill>
                        <a:srgbClr val="FFFFFF"/>
                      </a:solidFill>
                    </a:lnB>
                    <a:solidFill>
                      <a:srgbClr val="FFFFFF"/>
                    </a:solidFill>
                  </a:tcPr>
                </a:tc>
                <a:extLst>
                  <a:ext uri="{0D108BD9-81ED-4DB2-BD59-A6C34878D82A}">
                    <a16:rowId xmlns:a16="http://schemas.microsoft.com/office/drawing/2014/main" val="10000"/>
                  </a:ext>
                </a:extLst>
              </a:tr>
              <a:tr h="785813">
                <a:tc>
                  <a:txBody>
                    <a:bodyPr/>
                    <a:lstStyle/>
                    <a:p>
                      <a:pPr algn="l">
                        <a:buNone/>
                      </a:pPr>
                      <a:r>
                        <a:rPr sz="2025" b="0">
                          <a:solidFill>
                            <a:srgbClr val="202020"/>
                          </a:solidFill>
                          <a:latin typeface="Arial"/>
                          <a:ea typeface="Arial"/>
                          <a:cs typeface="Arial"/>
                        </a:rPr>
                        <a:t>h₁</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1.0</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0.0</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1"/>
                  </a:ext>
                </a:extLst>
              </a:tr>
              <a:tr h="785813">
                <a:tc>
                  <a:txBody>
                    <a:bodyPr/>
                    <a:lstStyle/>
                    <a:p>
                      <a:pPr algn="l">
                        <a:buNone/>
                      </a:pPr>
                      <a:r>
                        <a:rPr sz="2025" b="0">
                          <a:solidFill>
                            <a:srgbClr val="202020"/>
                          </a:solidFill>
                          <a:latin typeface="Arial"/>
                          <a:ea typeface="Arial"/>
                          <a:cs typeface="Arial"/>
                        </a:rPr>
                        <a:t>h₂</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0.8</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0.2</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2"/>
                  </a:ext>
                </a:extLst>
              </a:tr>
              <a:tr h="785813">
                <a:tc>
                  <a:txBody>
                    <a:bodyPr/>
                    <a:lstStyle/>
                    <a:p>
                      <a:pPr algn="l">
                        <a:buNone/>
                      </a:pPr>
                      <a:r>
                        <a:rPr sz="2025" b="0">
                          <a:solidFill>
                            <a:srgbClr val="202020"/>
                          </a:solidFill>
                          <a:latin typeface="Arial"/>
                          <a:ea typeface="Arial"/>
                          <a:cs typeface="Arial"/>
                        </a:rPr>
                        <a:t>h₃</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0.2</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0.8</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3"/>
                  </a:ext>
                </a:extLst>
              </a:tr>
            </a:tbl>
          </a:graphicData>
        </a:graphic>
      </p:graphicFrame>
      <p:sp>
        <p:nvSpPr>
          <p:cNvPr id="34" name="table-rule">
            <a:extLst>
              <a:ext uri="{FF2B5EF4-FFF2-40B4-BE49-F238E27FC236}">
                <a16:creationId xmlns:a16="http://schemas.microsoft.com/office/drawing/2014/main" id="{1CFE43AC-0DA1-4224-941B-2990E62B15E3}"/>
              </a:ext>
            </a:extLst>
          </p:cNvPr>
          <p:cNvSpPr>
            <a:spLocks noGrp="1"/>
          </p:cNvSpPr>
          <p:nvPr/>
        </p:nvSpPr>
        <p:spPr>
          <a:xfrm>
            <a:off x="7143750" y="1857375"/>
            <a:ext cx="4286250" cy="14288"/>
          </a:xfrm>
          <a:prstGeom prst="rect">
            <a:avLst/>
          </a:prstGeom>
          <a:solidFill>
            <a:srgbClr val="122E66"/>
          </a:solidFill>
          <a:ln w="0">
            <a:noFill/>
          </a:ln>
        </p:spPr>
        <p:txBody>
          <a:bodyPr/>
          <a:lstStyle/>
          <a:p>
            <a:endParaRPr lang="zh-CN" altLang="en-US"/>
          </a:p>
        </p:txBody>
      </p:sp>
      <p:sp>
        <p:nvSpPr>
          <p:cNvPr id="35" name="table-rule">
            <a:extLst>
              <a:ext uri="{FF2B5EF4-FFF2-40B4-BE49-F238E27FC236}">
                <a16:creationId xmlns:a16="http://schemas.microsoft.com/office/drawing/2014/main" id="{FA9B43C6-F0D6-4DFE-AA5A-280F17F769F2}"/>
              </a:ext>
            </a:extLst>
          </p:cNvPr>
          <p:cNvSpPr>
            <a:spLocks noGrp="1"/>
          </p:cNvSpPr>
          <p:nvPr/>
        </p:nvSpPr>
        <p:spPr>
          <a:xfrm>
            <a:off x="7143750" y="2643188"/>
            <a:ext cx="4286250" cy="9525"/>
          </a:xfrm>
          <a:prstGeom prst="rect">
            <a:avLst/>
          </a:prstGeom>
          <a:solidFill>
            <a:srgbClr val="A0A0A0"/>
          </a:solidFill>
          <a:ln w="0">
            <a:noFill/>
          </a:ln>
        </p:spPr>
        <p:txBody>
          <a:bodyPr/>
          <a:lstStyle/>
          <a:p>
            <a:endParaRPr lang="zh-CN" altLang="en-US"/>
          </a:p>
        </p:txBody>
      </p:sp>
      <p:sp>
        <p:nvSpPr>
          <p:cNvPr id="36" name="table-rule">
            <a:extLst>
              <a:ext uri="{FF2B5EF4-FFF2-40B4-BE49-F238E27FC236}">
                <a16:creationId xmlns:a16="http://schemas.microsoft.com/office/drawing/2014/main" id="{704FE930-70DC-4931-B7DC-E39E87290B61}"/>
              </a:ext>
            </a:extLst>
          </p:cNvPr>
          <p:cNvSpPr>
            <a:spLocks noGrp="1"/>
          </p:cNvSpPr>
          <p:nvPr/>
        </p:nvSpPr>
        <p:spPr>
          <a:xfrm>
            <a:off x="7143750" y="5000625"/>
            <a:ext cx="4286250" cy="14288"/>
          </a:xfrm>
          <a:prstGeom prst="rect">
            <a:avLst/>
          </a:prstGeom>
          <a:solidFill>
            <a:srgbClr val="122E66"/>
          </a:solidFill>
          <a:ln w="0">
            <a:noFill/>
          </a:ln>
        </p:spPr>
        <p:txBody>
          <a:bodyPr/>
          <a:lstStyle/>
          <a:p>
            <a:endParaRPr lang="zh-CN" altLang="en-US"/>
          </a:p>
        </p:txBody>
      </p:sp>
      <p:sp>
        <p:nvSpPr>
          <p:cNvPr id="37" name="content-20">
            <a:extLst>
              <a:ext uri="{FF2B5EF4-FFF2-40B4-BE49-F238E27FC236}">
                <a16:creationId xmlns:a16="http://schemas.microsoft.com/office/drawing/2014/main" id="{60738E32-F00D-485A-82AF-905A07E218B5}"/>
              </a:ext>
            </a:extLst>
          </p:cNvPr>
          <p:cNvSpPr>
            <a:spLocks noGrp="1"/>
          </p:cNvSpPr>
          <p:nvPr/>
        </p:nvSpPr>
        <p:spPr>
          <a:xfrm>
            <a:off x="2047875" y="5991225"/>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Illustrative values. CCI optimizes the mask, while model parameters stay fixed.</a:t>
            </a:r>
          </a:p>
        </p:txBody>
      </p:sp>
    </p:spTree>
    <p:extLst>
      <p:ext uri="{BB962C8B-B14F-4D97-AF65-F5344CB8AC3E}">
        <p14:creationId xmlns:p14="http://schemas.microsoft.com/office/powerpoint/2010/main" val="3830942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321716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3.4</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Learning a sparse explanation</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55A36B8F-E330-4A62-AC77-2BFBC39788BF}"/>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F157FA17-7732-4887-A78A-C96DE10F95F0}"/>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11 / 20</a:t>
            </a:r>
          </a:p>
        </p:txBody>
      </p:sp>
      <p:sp>
        <p:nvSpPr>
          <p:cNvPr id="29" name="content-13">
            <a:extLst>
              <a:ext uri="{FF2B5EF4-FFF2-40B4-BE49-F238E27FC236}">
                <a16:creationId xmlns:a16="http://schemas.microsoft.com/office/drawing/2014/main" id="{591CF21D-4B61-426E-9AEA-CC4EE5D7756C}"/>
              </a:ext>
            </a:extLst>
          </p:cNvPr>
          <p:cNvSpPr>
            <a:spLocks noGrp="1"/>
          </p:cNvSpPr>
          <p:nvPr/>
        </p:nvSpPr>
        <p:spPr>
          <a:xfrm>
            <a:off x="2143125" y="1600200"/>
            <a:ext cx="9429750" cy="428625"/>
          </a:xfrm>
          <a:prstGeom prst="rect">
            <a:avLst/>
          </a:prstGeom>
          <a:noFill/>
          <a:ln w="0">
            <a:noFill/>
          </a:ln>
        </p:spPr>
        <p:txBody>
          <a:bodyPr wrap="square" lIns="0" tIns="0" rIns="0" bIns="0" anchor="t">
            <a:noAutofit/>
          </a:bodyPr>
          <a:lstStyle>
            <a:defPPr algn="l">
              <a:defRPr sz="2175" b="1" i="0">
                <a:solidFill>
                  <a:srgbClr val="122E66"/>
                </a:solidFill>
                <a:latin typeface="Arial"/>
                <a:ea typeface="Arial"/>
                <a:cs typeface="Arial"/>
              </a:defRPr>
            </a:defPPr>
          </a:lstStyle>
          <a:p>
            <a:pPr algn="l">
              <a:buNone/>
              <a:defRPr sz="2175" b="1" i="0">
                <a:solidFill>
                  <a:srgbClr val="122E66"/>
                </a:solidFill>
                <a:latin typeface="Arial"/>
                <a:ea typeface="Arial"/>
                <a:cs typeface="Arial"/>
              </a:defRPr>
            </a:pPr>
            <a:r>
              <a:rPr sz="2175" b="1" i="0">
                <a:solidFill>
                  <a:srgbClr val="122E66"/>
                </a:solidFill>
                <a:latin typeface="Arial"/>
                <a:ea typeface="Arial"/>
                <a:cs typeface="Arial"/>
              </a:rPr>
              <a:t>A decision flip with a sparse change</a:t>
            </a:r>
          </a:p>
        </p:txBody>
      </p:sp>
      <p:sp>
        <p:nvSpPr>
          <p:cNvPr id="30" name="content-14">
            <a:extLst>
              <a:ext uri="{FF2B5EF4-FFF2-40B4-BE49-F238E27FC236}">
                <a16:creationId xmlns:a16="http://schemas.microsoft.com/office/drawing/2014/main" id="{70FD32DF-25B5-4A40-80A4-220A8C903835}"/>
              </a:ext>
            </a:extLst>
          </p:cNvPr>
          <p:cNvSpPr>
            <a:spLocks noGrp="1"/>
          </p:cNvSpPr>
          <p:nvPr/>
        </p:nvSpPr>
        <p:spPr>
          <a:xfrm>
            <a:off x="2143125" y="2200275"/>
            <a:ext cx="9429750" cy="723900"/>
          </a:xfrm>
          <a:prstGeom prst="rect">
            <a:avLst/>
          </a:prstGeom>
          <a:noFill/>
          <a:ln w="0">
            <a:noFill/>
          </a:ln>
        </p:spPr>
        <p:txBody>
          <a:bodyPr wrap="square" lIns="0" tIns="0" rIns="0" bIns="0" anchor="t">
            <a:noAutofit/>
          </a:bodyPr>
          <a:lstStyle>
            <a:defPPr algn="ctr">
              <a:defRPr sz="2925" b="0" i="0">
                <a:solidFill>
                  <a:srgbClr val="202020"/>
                </a:solidFill>
                <a:latin typeface="Arial"/>
                <a:ea typeface="Arial"/>
                <a:cs typeface="Arial"/>
              </a:defRPr>
            </a:defPPr>
          </a:lstStyle>
          <a:p>
            <a:pPr algn="ctr">
              <a:buNone/>
              <a:defRPr sz="2925" b="0" i="0">
                <a:solidFill>
                  <a:srgbClr val="202020"/>
                </a:solidFill>
                <a:latin typeface="Arial"/>
                <a:ea typeface="Arial"/>
                <a:cs typeface="Arial"/>
              </a:defRPr>
            </a:pPr>
            <a:r>
              <a:rPr sz="2925" b="0" i="0">
                <a:solidFill>
                  <a:srgbClr val="202020"/>
                </a:solidFill>
                <a:latin typeface="Arial"/>
                <a:ea typeface="Arial"/>
                <a:cs typeface="Arial"/>
              </a:rPr>
              <a:t>L(P) = Lflip(P; θ) + λ ‖1 − P‖₁</a:t>
            </a:r>
          </a:p>
        </p:txBody>
      </p:sp>
      <p:sp>
        <p:nvSpPr>
          <p:cNvPr id="31" name="content-15">
            <a:extLst>
              <a:ext uri="{FF2B5EF4-FFF2-40B4-BE49-F238E27FC236}">
                <a16:creationId xmlns:a16="http://schemas.microsoft.com/office/drawing/2014/main" id="{9BCE2E7B-DDB1-41EF-8E79-08859DFB7081}"/>
              </a:ext>
            </a:extLst>
          </p:cNvPr>
          <p:cNvSpPr>
            <a:spLocks noGrp="1"/>
          </p:cNvSpPr>
          <p:nvPr/>
        </p:nvSpPr>
        <p:spPr>
          <a:xfrm>
            <a:off x="2143125" y="3267075"/>
            <a:ext cx="9429750" cy="428625"/>
          </a:xfrm>
          <a:prstGeom prst="rect">
            <a:avLst/>
          </a:prstGeom>
          <a:noFill/>
          <a:ln w="0">
            <a:noFill/>
          </a:ln>
        </p:spPr>
        <p:txBody>
          <a:bodyPr wrap="square" lIns="0" tIns="0" rIns="0" bIns="0" anchor="t">
            <a:noAutofit/>
          </a:bodyPr>
          <a:lstStyle>
            <a:defPPr algn="l">
              <a:defRPr sz="2100" b="1" i="0">
                <a:solidFill>
                  <a:srgbClr val="122E66"/>
                </a:solidFill>
                <a:latin typeface="Arial"/>
                <a:ea typeface="Arial"/>
                <a:cs typeface="Arial"/>
              </a:defRPr>
            </a:defPPr>
          </a:lstStyle>
          <a:p>
            <a:pPr algn="l">
              <a:buNone/>
              <a:defRPr sz="2100" b="1" i="0">
                <a:solidFill>
                  <a:srgbClr val="122E66"/>
                </a:solidFill>
                <a:latin typeface="Arial"/>
                <a:ea typeface="Arial"/>
                <a:cs typeface="Arial"/>
              </a:defRPr>
            </a:pPr>
            <a:r>
              <a:rPr sz="2100" b="1" i="0">
                <a:solidFill>
                  <a:srgbClr val="122E66"/>
                </a:solidFill>
                <a:latin typeface="Arial"/>
                <a:ea typeface="Arial"/>
                <a:cs typeface="Arial"/>
              </a:rPr>
              <a:t>Flip loss</a:t>
            </a:r>
          </a:p>
        </p:txBody>
      </p:sp>
      <p:sp>
        <p:nvSpPr>
          <p:cNvPr id="32" name="content-16">
            <a:extLst>
              <a:ext uri="{FF2B5EF4-FFF2-40B4-BE49-F238E27FC236}">
                <a16:creationId xmlns:a16="http://schemas.microsoft.com/office/drawing/2014/main" id="{4601C753-8DF1-49A9-B986-AB3E1CA77D1B}"/>
              </a:ext>
            </a:extLst>
          </p:cNvPr>
          <p:cNvSpPr>
            <a:spLocks noGrp="1"/>
          </p:cNvSpPr>
          <p:nvPr/>
        </p:nvSpPr>
        <p:spPr>
          <a:xfrm>
            <a:off x="2143125" y="3771900"/>
            <a:ext cx="9429750" cy="676275"/>
          </a:xfrm>
          <a:prstGeom prst="rect">
            <a:avLst/>
          </a:prstGeom>
          <a:noFill/>
          <a:ln w="0">
            <a:noFill/>
          </a:ln>
        </p:spPr>
        <p:txBody>
          <a:bodyPr wrap="square" lIns="0" tIns="0" rIns="0" bIns="0" anchor="t">
            <a:noAutofit/>
          </a:bodyPr>
          <a:lstStyle>
            <a:defPPr algn="l">
              <a:defRPr sz="2175" b="0" i="0">
                <a:solidFill>
                  <a:srgbClr val="202020"/>
                </a:solidFill>
                <a:latin typeface="Arial"/>
                <a:ea typeface="Arial"/>
                <a:cs typeface="Arial"/>
              </a:defRPr>
            </a:defPPr>
          </a:lstStyle>
          <a:p>
            <a:pPr algn="l">
              <a:buNone/>
              <a:defRPr sz="2175" b="0" i="0">
                <a:solidFill>
                  <a:srgbClr val="202020"/>
                </a:solidFill>
                <a:latin typeface="Arial"/>
                <a:ea typeface="Arial"/>
                <a:cs typeface="Arial"/>
              </a:defRPr>
            </a:pPr>
            <a:r>
              <a:rPr sz="2175" b="0" i="0">
                <a:solidFill>
                  <a:srgbClr val="202020"/>
                </a:solidFill>
                <a:latin typeface="Arial"/>
                <a:ea typeface="Arial"/>
                <a:cs typeface="Arial"/>
              </a:rPr>
              <a:t>max(0, margin + masked target score − boundary score)</a:t>
            </a:r>
          </a:p>
        </p:txBody>
      </p:sp>
      <p:sp>
        <p:nvSpPr>
          <p:cNvPr id="33" name="content-17">
            <a:extLst>
              <a:ext uri="{FF2B5EF4-FFF2-40B4-BE49-F238E27FC236}">
                <a16:creationId xmlns:a16="http://schemas.microsoft.com/office/drawing/2014/main" id="{CFC1D83B-FEB7-4814-B8FC-81D403DD6B23}"/>
              </a:ext>
            </a:extLst>
          </p:cNvPr>
          <p:cNvSpPr>
            <a:spLocks noGrp="1"/>
          </p:cNvSpPr>
          <p:nvPr/>
        </p:nvSpPr>
        <p:spPr>
          <a:xfrm>
            <a:off x="2143125" y="4438650"/>
            <a:ext cx="9429750" cy="457200"/>
          </a:xfrm>
          <a:prstGeom prst="rect">
            <a:avLst/>
          </a:prstGeom>
          <a:noFill/>
          <a:ln w="0">
            <a:noFill/>
          </a:ln>
        </p:spPr>
        <p:txBody>
          <a:bodyPr wrap="square" lIns="0" tIns="0" rIns="0" bIns="0" anchor="t">
            <a:noAutofit/>
          </a:bodyPr>
          <a:lstStyle>
            <a:defPPr algn="l">
              <a:defRPr sz="1950" b="0" i="0">
                <a:solidFill>
                  <a:srgbClr val="666666"/>
                </a:solidFill>
                <a:latin typeface="Arial"/>
                <a:ea typeface="Arial"/>
                <a:cs typeface="Arial"/>
              </a:defRPr>
            </a:defPPr>
          </a:lstStyle>
          <a:p>
            <a:pPr algn="l">
              <a:buNone/>
              <a:defRPr sz="1950" b="0" i="0">
                <a:solidFill>
                  <a:srgbClr val="666666"/>
                </a:solidFill>
                <a:latin typeface="Arial"/>
                <a:ea typeface="Arial"/>
                <a:cs typeface="Arial"/>
              </a:defRPr>
            </a:pPr>
            <a:r>
              <a:rPr sz="1950" b="0" i="0">
                <a:solidFill>
                  <a:srgbClr val="666666"/>
                </a:solidFill>
                <a:latin typeface="Arial"/>
                <a:ea typeface="Arial"/>
                <a:cs typeface="Arial"/>
              </a:rPr>
              <a:t>Boundary: the original item at rank K + 1.</a:t>
            </a:r>
          </a:p>
        </p:txBody>
      </p:sp>
      <p:sp>
        <p:nvSpPr>
          <p:cNvPr id="34" name="content-18">
            <a:extLst>
              <a:ext uri="{FF2B5EF4-FFF2-40B4-BE49-F238E27FC236}">
                <a16:creationId xmlns:a16="http://schemas.microsoft.com/office/drawing/2014/main" id="{D086B9CF-E1CB-495F-862A-833C43926C90}"/>
              </a:ext>
            </a:extLst>
          </p:cNvPr>
          <p:cNvSpPr>
            <a:spLocks noGrp="1"/>
          </p:cNvSpPr>
          <p:nvPr/>
        </p:nvSpPr>
        <p:spPr>
          <a:xfrm>
            <a:off x="2143125" y="5210175"/>
            <a:ext cx="3000375" cy="428625"/>
          </a:xfrm>
          <a:prstGeom prst="rect">
            <a:avLst/>
          </a:prstGeom>
          <a:noFill/>
          <a:ln w="0">
            <a:noFill/>
          </a:ln>
        </p:spPr>
        <p:txBody>
          <a:bodyPr wrap="square" lIns="0" tIns="0" rIns="0" bIns="0" anchor="t">
            <a:noAutofit/>
          </a:bodyPr>
          <a:lstStyle>
            <a:defPPr algn="l">
              <a:defRPr sz="2100" b="1" i="0">
                <a:solidFill>
                  <a:srgbClr val="122E66"/>
                </a:solidFill>
                <a:latin typeface="Arial"/>
                <a:ea typeface="Arial"/>
                <a:cs typeface="Arial"/>
              </a:defRPr>
            </a:defPPr>
          </a:lstStyle>
          <a:p>
            <a:pPr algn="l">
              <a:buNone/>
              <a:defRPr sz="2100" b="1" i="0">
                <a:solidFill>
                  <a:srgbClr val="122E66"/>
                </a:solidFill>
                <a:latin typeface="Arial"/>
                <a:ea typeface="Arial"/>
                <a:cs typeface="Arial"/>
              </a:defRPr>
            </a:pPr>
            <a:r>
              <a:rPr sz="2100" b="1" i="0">
                <a:solidFill>
                  <a:srgbClr val="122E66"/>
                </a:solidFill>
                <a:latin typeface="Arial"/>
                <a:ea typeface="Arial"/>
                <a:cs typeface="Arial"/>
              </a:rPr>
              <a:t>Sparsity penalty</a:t>
            </a:r>
          </a:p>
        </p:txBody>
      </p:sp>
      <p:sp>
        <p:nvSpPr>
          <p:cNvPr id="35" name="content-19">
            <a:extLst>
              <a:ext uri="{FF2B5EF4-FFF2-40B4-BE49-F238E27FC236}">
                <a16:creationId xmlns:a16="http://schemas.microsoft.com/office/drawing/2014/main" id="{E7A9128D-BAF9-402C-A87F-4E0B8420E497}"/>
              </a:ext>
            </a:extLst>
          </p:cNvPr>
          <p:cNvSpPr>
            <a:spLocks noGrp="1"/>
          </p:cNvSpPr>
          <p:nvPr/>
        </p:nvSpPr>
        <p:spPr>
          <a:xfrm>
            <a:off x="5238750" y="5210175"/>
            <a:ext cx="6334125" cy="714375"/>
          </a:xfrm>
          <a:prstGeom prst="rect">
            <a:avLst/>
          </a:prstGeom>
          <a:noFill/>
          <a:ln w="0">
            <a:noFill/>
          </a:ln>
        </p:spPr>
        <p:txBody>
          <a:bodyPr wrap="square" lIns="0" tIns="0" rIns="0" bIns="0" anchor="t">
            <a:noAutofit/>
          </a:bodyPr>
          <a:lstStyle>
            <a:defPPr algn="l">
              <a:defRPr sz="2025" b="0" i="0">
                <a:solidFill>
                  <a:srgbClr val="202020"/>
                </a:solidFill>
                <a:latin typeface="Arial"/>
                <a:ea typeface="Arial"/>
                <a:cs typeface="Arial"/>
              </a:defRPr>
            </a:defPPr>
          </a:lstStyle>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Discourage unnecessary changes to the history.</a:t>
            </a:r>
          </a:p>
        </p:txBody>
      </p:sp>
      <p:sp>
        <p:nvSpPr>
          <p:cNvPr id="36" name="content-20">
            <a:extLst>
              <a:ext uri="{FF2B5EF4-FFF2-40B4-BE49-F238E27FC236}">
                <a16:creationId xmlns:a16="http://schemas.microsoft.com/office/drawing/2014/main" id="{5F554220-DA91-487D-9AFB-9CC16F66F2DD}"/>
              </a:ext>
            </a:extLst>
          </p:cNvPr>
          <p:cNvSpPr>
            <a:spLocks noGrp="1"/>
          </p:cNvSpPr>
          <p:nvPr/>
        </p:nvSpPr>
        <p:spPr>
          <a:xfrm>
            <a:off x="2047875" y="6057900"/>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The provider minimizes L(P) with gradients. The recommender’s θ remains fixed.</a:t>
            </a:r>
          </a:p>
        </p:txBody>
      </p:sp>
    </p:spTree>
    <p:extLst>
      <p:ext uri="{BB962C8B-B14F-4D97-AF65-F5344CB8AC3E}">
        <p14:creationId xmlns:p14="http://schemas.microsoft.com/office/powerpoint/2010/main" val="38309420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321716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3.5</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The attribution interface</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CC85B572-ED59-4201-86CF-0C8D098FCD21}"/>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927857F1-8B1C-40B3-82CE-7DAE0CE23CDB}"/>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12 / 20</a:t>
            </a:r>
          </a:p>
        </p:txBody>
      </p:sp>
      <p:sp>
        <p:nvSpPr>
          <p:cNvPr id="29" name="content-13">
            <a:extLst>
              <a:ext uri="{FF2B5EF4-FFF2-40B4-BE49-F238E27FC236}">
                <a16:creationId xmlns:a16="http://schemas.microsoft.com/office/drawing/2014/main" id="{BC66B673-21BD-4843-B697-D9CBCEA6705A}"/>
              </a:ext>
            </a:extLst>
          </p:cNvPr>
          <p:cNvSpPr>
            <a:spLocks noGrp="1"/>
          </p:cNvSpPr>
          <p:nvPr/>
        </p:nvSpPr>
        <p:spPr>
          <a:xfrm>
            <a:off x="2143125" y="1628775"/>
            <a:ext cx="9429750" cy="428625"/>
          </a:xfrm>
          <a:prstGeom prst="rect">
            <a:avLst/>
          </a:prstGeom>
          <a:noFill/>
          <a:ln w="0">
            <a:noFill/>
          </a:ln>
        </p:spPr>
        <p:txBody>
          <a:bodyPr wrap="square" lIns="0" tIns="0" rIns="0" bIns="0" anchor="t">
            <a:noAutofit/>
          </a:bodyPr>
          <a:lstStyle>
            <a:defPPr algn="l">
              <a:defRPr sz="2100" b="1" i="0">
                <a:solidFill>
                  <a:srgbClr val="122E66"/>
                </a:solidFill>
                <a:latin typeface="Arial"/>
                <a:ea typeface="Arial"/>
                <a:cs typeface="Arial"/>
              </a:defRPr>
            </a:defPPr>
          </a:lstStyle>
          <a:p>
            <a:pPr algn="l">
              <a:buNone/>
              <a:defRPr sz="2100" b="1" i="0">
                <a:solidFill>
                  <a:srgbClr val="122E66"/>
                </a:solidFill>
                <a:latin typeface="Arial"/>
                <a:ea typeface="Arial"/>
                <a:cs typeface="Arial"/>
              </a:defRPr>
            </a:pPr>
            <a:r>
              <a:rPr sz="2100" b="1" i="0">
                <a:solidFill>
                  <a:srgbClr val="122E66"/>
                </a:solidFill>
                <a:latin typeface="Arial"/>
                <a:ea typeface="Arial"/>
                <a:cs typeface="Arial"/>
              </a:rPr>
              <a:t>Support membership</a:t>
            </a:r>
          </a:p>
        </p:txBody>
      </p:sp>
      <p:sp>
        <p:nvSpPr>
          <p:cNvPr id="30" name="content-14">
            <a:extLst>
              <a:ext uri="{FF2B5EF4-FFF2-40B4-BE49-F238E27FC236}">
                <a16:creationId xmlns:a16="http://schemas.microsoft.com/office/drawing/2014/main" id="{4885DD09-7502-4634-AE57-9D858CCFEF4F}"/>
              </a:ext>
            </a:extLst>
          </p:cNvPr>
          <p:cNvSpPr>
            <a:spLocks noGrp="1"/>
          </p:cNvSpPr>
          <p:nvPr/>
        </p:nvSpPr>
        <p:spPr>
          <a:xfrm>
            <a:off x="2143125" y="2143125"/>
            <a:ext cx="9429750" cy="723900"/>
          </a:xfrm>
          <a:prstGeom prst="rect">
            <a:avLst/>
          </a:prstGeom>
          <a:noFill/>
          <a:ln w="0">
            <a:noFill/>
          </a:ln>
        </p:spPr>
        <p:txBody>
          <a:bodyPr wrap="square" lIns="0" tIns="0" rIns="0" bIns="0" anchor="t">
            <a:noAutofit/>
          </a:bodyPr>
          <a:lstStyle>
            <a:defPPr algn="l">
              <a:defRPr sz="2775" b="0" i="0">
                <a:solidFill>
                  <a:srgbClr val="202020"/>
                </a:solidFill>
                <a:latin typeface="Arial"/>
                <a:ea typeface="Arial"/>
                <a:cs typeface="Arial"/>
              </a:defRPr>
            </a:defPPr>
          </a:lstStyle>
          <a:p>
            <a:pPr algn="l">
              <a:buNone/>
              <a:defRPr sz="2775" b="0" i="0">
                <a:solidFill>
                  <a:srgbClr val="202020"/>
                </a:solidFill>
                <a:latin typeface="Arial"/>
                <a:ea typeface="Arial"/>
                <a:cs typeface="Arial"/>
              </a:defRPr>
            </a:pPr>
            <a:r>
              <a:rPr sz="2775" b="0" i="0">
                <a:solidFill>
                  <a:srgbClr val="202020"/>
                </a:solidFill>
                <a:latin typeface="Arial"/>
                <a:ea typeface="Arial"/>
                <a:cs typeface="Arial"/>
              </a:rPr>
              <a:t>S*ᵤᵢ = { h ∈ Hᵤ : P(h) &lt; 1 − δ }</a:t>
            </a:r>
          </a:p>
        </p:txBody>
      </p:sp>
      <p:sp>
        <p:nvSpPr>
          <p:cNvPr id="31" name="content-15">
            <a:extLst>
              <a:ext uri="{FF2B5EF4-FFF2-40B4-BE49-F238E27FC236}">
                <a16:creationId xmlns:a16="http://schemas.microsoft.com/office/drawing/2014/main" id="{6481B104-D962-4EE0-BFE5-F26314B15C2A}"/>
              </a:ext>
            </a:extLst>
          </p:cNvPr>
          <p:cNvSpPr>
            <a:spLocks noGrp="1"/>
          </p:cNvSpPr>
          <p:nvPr/>
        </p:nvSpPr>
        <p:spPr>
          <a:xfrm>
            <a:off x="2143125" y="3286125"/>
            <a:ext cx="9429750" cy="428625"/>
          </a:xfrm>
          <a:prstGeom prst="rect">
            <a:avLst/>
          </a:prstGeom>
          <a:noFill/>
          <a:ln w="0">
            <a:noFill/>
          </a:ln>
        </p:spPr>
        <p:txBody>
          <a:bodyPr wrap="square" lIns="0" tIns="0" rIns="0" bIns="0" anchor="t">
            <a:noAutofit/>
          </a:bodyPr>
          <a:lstStyle>
            <a:defPPr algn="l">
              <a:defRPr sz="2100" b="1" i="0">
                <a:solidFill>
                  <a:srgbClr val="122E66"/>
                </a:solidFill>
                <a:latin typeface="Arial"/>
                <a:ea typeface="Arial"/>
                <a:cs typeface="Arial"/>
              </a:defRPr>
            </a:defPPr>
          </a:lstStyle>
          <a:p>
            <a:pPr algn="l">
              <a:buNone/>
              <a:defRPr sz="2100" b="1" i="0">
                <a:solidFill>
                  <a:srgbClr val="122E66"/>
                </a:solidFill>
                <a:latin typeface="Arial"/>
                <a:ea typeface="Arial"/>
                <a:cs typeface="Arial"/>
              </a:defRPr>
            </a:pPr>
            <a:r>
              <a:rPr sz="2100" b="1" i="0">
                <a:solidFill>
                  <a:srgbClr val="122E66"/>
                </a:solidFill>
                <a:latin typeface="Arial"/>
                <a:ea typeface="Arial"/>
                <a:cs typeface="Arial"/>
              </a:rPr>
              <a:t>Contribution weights</a:t>
            </a:r>
          </a:p>
        </p:txBody>
      </p:sp>
      <p:sp>
        <p:nvSpPr>
          <p:cNvPr id="32" name="content-16">
            <a:extLst>
              <a:ext uri="{FF2B5EF4-FFF2-40B4-BE49-F238E27FC236}">
                <a16:creationId xmlns:a16="http://schemas.microsoft.com/office/drawing/2014/main" id="{54603A90-C1E1-4500-940F-0C839D2617EF}"/>
              </a:ext>
            </a:extLst>
          </p:cNvPr>
          <p:cNvSpPr>
            <a:spLocks noGrp="1"/>
          </p:cNvSpPr>
          <p:nvPr/>
        </p:nvSpPr>
        <p:spPr>
          <a:xfrm>
            <a:off x="2143125" y="3790950"/>
            <a:ext cx="9429750" cy="666750"/>
          </a:xfrm>
          <a:prstGeom prst="rect">
            <a:avLst/>
          </a:prstGeom>
          <a:noFill/>
          <a:ln w="0">
            <a:noFill/>
          </a:ln>
        </p:spPr>
        <p:txBody>
          <a:bodyPr wrap="square" lIns="0" tIns="0" rIns="0" bIns="0" anchor="t">
            <a:noAutofit/>
          </a:bodyPr>
          <a:lstStyle>
            <a:defPPr algn="l">
              <a:defRPr sz="2775" b="0" i="0">
                <a:solidFill>
                  <a:srgbClr val="202020"/>
                </a:solidFill>
                <a:latin typeface="Arial"/>
                <a:ea typeface="Arial"/>
                <a:cs typeface="Arial"/>
              </a:defRPr>
            </a:defPPr>
          </a:lstStyle>
          <a:p>
            <a:pPr algn="l">
              <a:buNone/>
              <a:defRPr sz="2775" b="0" i="0">
                <a:solidFill>
                  <a:srgbClr val="202020"/>
                </a:solidFill>
                <a:latin typeface="Arial"/>
                <a:ea typeface="Arial"/>
                <a:cs typeface="Arial"/>
              </a:defRPr>
            </a:pPr>
            <a:r>
              <a:rPr sz="2775" b="0" i="0">
                <a:solidFill>
                  <a:srgbClr val="202020"/>
                </a:solidFill>
                <a:latin typeface="Arial"/>
                <a:ea typeface="Arial"/>
                <a:cs typeface="Arial"/>
              </a:rPr>
              <a:t>wᵤᵢ(h) = 1 − P(h)</a:t>
            </a:r>
          </a:p>
        </p:txBody>
      </p:sp>
      <p:sp>
        <p:nvSpPr>
          <p:cNvPr id="33" name="content-17">
            <a:extLst>
              <a:ext uri="{FF2B5EF4-FFF2-40B4-BE49-F238E27FC236}">
                <a16:creationId xmlns:a16="http://schemas.microsoft.com/office/drawing/2014/main" id="{68EF9EBE-9827-4830-B420-3FC912F09963}"/>
              </a:ext>
            </a:extLst>
          </p:cNvPr>
          <p:cNvSpPr>
            <a:spLocks noGrp="1"/>
          </p:cNvSpPr>
          <p:nvPr/>
        </p:nvSpPr>
        <p:spPr>
          <a:xfrm>
            <a:off x="2143125" y="5095875"/>
            <a:ext cx="9429750" cy="666750"/>
          </a:xfrm>
          <a:prstGeom prst="rect">
            <a:avLst/>
          </a:prstGeom>
          <a:noFill/>
          <a:ln w="0">
            <a:noFill/>
          </a:ln>
        </p:spPr>
        <p:txBody>
          <a:bodyPr wrap="square" lIns="0" tIns="0" rIns="0" bIns="0" anchor="t">
            <a:noAutofit/>
          </a:bodyPr>
          <a:lstStyle>
            <a:defPPr algn="l">
              <a:defRPr sz="2700" b="0" i="0">
                <a:solidFill>
                  <a:srgbClr val="122E66"/>
                </a:solidFill>
                <a:latin typeface="Arial"/>
                <a:ea typeface="Arial"/>
                <a:cs typeface="Arial"/>
              </a:defRPr>
            </a:defPPr>
          </a:lstStyle>
          <a:p>
            <a:pPr algn="l">
              <a:buNone/>
              <a:defRPr sz="2700" b="0" i="0">
                <a:solidFill>
                  <a:srgbClr val="122E66"/>
                </a:solidFill>
                <a:latin typeface="Arial"/>
                <a:ea typeface="Arial"/>
                <a:cs typeface="Arial"/>
              </a:defRPr>
            </a:pPr>
            <a:r>
              <a:rPr sz="2700" b="0" i="0">
                <a:solidFill>
                  <a:srgbClr val="122E66"/>
                </a:solidFill>
                <a:latin typeface="Arial"/>
                <a:ea typeface="Arial"/>
                <a:cs typeface="Arial"/>
              </a:rPr>
              <a:t>API output:   Eᵤᵢ = (S*ᵤᵢ, wᵤᵢ)</a:t>
            </a:r>
          </a:p>
        </p:txBody>
      </p:sp>
      <p:sp>
        <p:nvSpPr>
          <p:cNvPr id="34" name="content-18">
            <a:extLst>
              <a:ext uri="{FF2B5EF4-FFF2-40B4-BE49-F238E27FC236}">
                <a16:creationId xmlns:a16="http://schemas.microsoft.com/office/drawing/2014/main" id="{F1CA8B8D-F135-4378-B4CD-2053E322B86C}"/>
              </a:ext>
            </a:extLst>
          </p:cNvPr>
          <p:cNvSpPr>
            <a:spLocks noGrp="1"/>
          </p:cNvSpPr>
          <p:nvPr/>
        </p:nvSpPr>
        <p:spPr>
          <a:xfrm>
            <a:off x="2047875" y="5991225"/>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One explanation per user and candidate item. The operator receives no model parameters.</a:t>
            </a:r>
          </a:p>
        </p:txBody>
      </p:sp>
    </p:spTree>
    <p:extLst>
      <p:ext uri="{BB962C8B-B14F-4D97-AF65-F5344CB8AC3E}">
        <p14:creationId xmlns:p14="http://schemas.microsoft.com/office/powerpoint/2010/main" val="3830942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321716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3.6</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Unlearning-driven rank adjustment</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BFC3D1B3-AF83-47C5-AD6E-1F53F92193CB}"/>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3FE4A9B5-24B2-465A-AC68-270A098457EF}"/>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13 / 20</a:t>
            </a:r>
          </a:p>
        </p:txBody>
      </p:sp>
      <p:sp>
        <p:nvSpPr>
          <p:cNvPr id="29" name="content-13">
            <a:extLst>
              <a:ext uri="{FF2B5EF4-FFF2-40B4-BE49-F238E27FC236}">
                <a16:creationId xmlns:a16="http://schemas.microsoft.com/office/drawing/2014/main" id="{CD59C851-FACF-482A-819D-F379FCB2FE40}"/>
              </a:ext>
            </a:extLst>
          </p:cNvPr>
          <p:cNvSpPr>
            <a:spLocks noGrp="1"/>
          </p:cNvSpPr>
          <p:nvPr/>
        </p:nvSpPr>
        <p:spPr>
          <a:xfrm>
            <a:off x="2143125" y="1714500"/>
            <a:ext cx="9429750" cy="609600"/>
          </a:xfrm>
          <a:prstGeom prst="rect">
            <a:avLst/>
          </a:prstGeom>
          <a:noFill/>
          <a:ln w="0">
            <a:noFill/>
          </a:ln>
        </p:spPr>
        <p:txBody>
          <a:bodyPr wrap="square" lIns="0" tIns="0" rIns="0" bIns="0" anchor="t">
            <a:noAutofit/>
          </a:bodyPr>
          <a:lstStyle>
            <a:defPPr algn="l">
              <a:defRPr sz="2175" b="0" i="0">
                <a:solidFill>
                  <a:srgbClr val="202020"/>
                </a:solidFill>
                <a:latin typeface="Arial"/>
                <a:ea typeface="Arial"/>
                <a:cs typeface="Arial"/>
              </a:defRPr>
            </a:defPPr>
          </a:lstStyle>
          <a:p>
            <a:pPr algn="l">
              <a:buNone/>
              <a:defRPr sz="2175" b="0" i="0">
                <a:solidFill>
                  <a:srgbClr val="202020"/>
                </a:solidFill>
                <a:latin typeface="Arial"/>
                <a:ea typeface="Arial"/>
                <a:cs typeface="Arial"/>
              </a:defRPr>
            </a:pPr>
            <a:r>
              <a:rPr sz="2175" b="0" i="0">
                <a:solidFill>
                  <a:srgbClr val="202020"/>
                </a:solidFill>
                <a:latin typeface="Arial"/>
                <a:ea typeface="Arial"/>
                <a:cs typeface="Arial"/>
              </a:rPr>
              <a:t>For a forgotten interaction h and each candidate item:</a:t>
            </a:r>
          </a:p>
        </p:txBody>
      </p:sp>
      <p:sp>
        <p:nvSpPr>
          <p:cNvPr id="30" name="content-14">
            <a:extLst>
              <a:ext uri="{FF2B5EF4-FFF2-40B4-BE49-F238E27FC236}">
                <a16:creationId xmlns:a16="http://schemas.microsoft.com/office/drawing/2014/main" id="{20518A20-D459-4613-ABFD-7C1CDD052E0A}"/>
              </a:ext>
            </a:extLst>
          </p:cNvPr>
          <p:cNvSpPr>
            <a:spLocks noGrp="1"/>
          </p:cNvSpPr>
          <p:nvPr/>
        </p:nvSpPr>
        <p:spPr>
          <a:xfrm>
            <a:off x="2143125" y="2705100"/>
            <a:ext cx="9429750" cy="428625"/>
          </a:xfrm>
          <a:prstGeom prst="rect">
            <a:avLst/>
          </a:prstGeom>
          <a:noFill/>
          <a:ln w="0">
            <a:noFill/>
          </a:ln>
        </p:spPr>
        <p:txBody>
          <a:bodyPr wrap="square" lIns="0" tIns="0" rIns="0" bIns="0" anchor="t">
            <a:noAutofit/>
          </a:bodyPr>
          <a:lstStyle>
            <a:defPPr algn="l">
              <a:defRPr sz="2175" b="1" i="0">
                <a:solidFill>
                  <a:srgbClr val="122E66"/>
                </a:solidFill>
                <a:latin typeface="Arial"/>
                <a:ea typeface="Arial"/>
                <a:cs typeface="Arial"/>
              </a:defRPr>
            </a:defPPr>
          </a:lstStyle>
          <a:p>
            <a:pPr algn="l">
              <a:buNone/>
              <a:defRPr sz="2175" b="1" i="0">
                <a:solidFill>
                  <a:srgbClr val="122E66"/>
                </a:solidFill>
                <a:latin typeface="Arial"/>
                <a:ea typeface="Arial"/>
                <a:cs typeface="Arial"/>
              </a:defRPr>
            </a:pPr>
            <a:r>
              <a:rPr sz="2175" b="1" i="0">
                <a:solidFill>
                  <a:srgbClr val="122E66"/>
                </a:solidFill>
                <a:latin typeface="Arial"/>
                <a:ea typeface="Arial"/>
                <a:cs typeface="Arial"/>
              </a:rPr>
              <a:t>If h belongs to the support set</a:t>
            </a:r>
          </a:p>
        </p:txBody>
      </p:sp>
      <p:sp>
        <p:nvSpPr>
          <p:cNvPr id="31" name="content-15">
            <a:extLst>
              <a:ext uri="{FF2B5EF4-FFF2-40B4-BE49-F238E27FC236}">
                <a16:creationId xmlns:a16="http://schemas.microsoft.com/office/drawing/2014/main" id="{7FEE6653-330D-4B08-B14D-0124F846C951}"/>
              </a:ext>
            </a:extLst>
          </p:cNvPr>
          <p:cNvSpPr>
            <a:spLocks noGrp="1"/>
          </p:cNvSpPr>
          <p:nvPr/>
        </p:nvSpPr>
        <p:spPr>
          <a:xfrm>
            <a:off x="2143125" y="3333750"/>
            <a:ext cx="9429750" cy="838200"/>
          </a:xfrm>
          <a:prstGeom prst="rect">
            <a:avLst/>
          </a:prstGeom>
          <a:noFill/>
          <a:ln w="0">
            <a:noFill/>
          </a:ln>
        </p:spPr>
        <p:txBody>
          <a:bodyPr wrap="square" lIns="0" tIns="0" rIns="0" bIns="0" anchor="t">
            <a:noAutofit/>
          </a:bodyPr>
          <a:lstStyle>
            <a:defPPr algn="ctr">
              <a:defRPr sz="3450" b="0" i="0">
                <a:solidFill>
                  <a:srgbClr val="122E66"/>
                </a:solidFill>
                <a:latin typeface="Arial"/>
                <a:ea typeface="Arial"/>
                <a:cs typeface="Arial"/>
              </a:defRPr>
            </a:defPPr>
          </a:lstStyle>
          <a:p>
            <a:pPr algn="ctr">
              <a:buNone/>
              <a:defRPr sz="3450" b="0" i="0">
                <a:solidFill>
                  <a:srgbClr val="122E66"/>
                </a:solidFill>
                <a:latin typeface="Arial"/>
                <a:ea typeface="Arial"/>
                <a:cs typeface="Arial"/>
              </a:defRPr>
            </a:pPr>
            <a:r>
              <a:rPr sz="3450" b="0" i="0">
                <a:solidFill>
                  <a:srgbClr val="122E66"/>
                </a:solidFill>
                <a:latin typeface="Arial"/>
                <a:ea typeface="Arial"/>
                <a:cs typeface="Arial"/>
              </a:rPr>
              <a:t>y′ = y (1 − α w(h))</a:t>
            </a:r>
          </a:p>
        </p:txBody>
      </p:sp>
      <p:sp>
        <p:nvSpPr>
          <p:cNvPr id="32" name="content-16">
            <a:extLst>
              <a:ext uri="{FF2B5EF4-FFF2-40B4-BE49-F238E27FC236}">
                <a16:creationId xmlns:a16="http://schemas.microsoft.com/office/drawing/2014/main" id="{19AFB84B-1830-4592-9AF7-C244C8EF67BD}"/>
              </a:ext>
            </a:extLst>
          </p:cNvPr>
          <p:cNvSpPr>
            <a:spLocks noGrp="1"/>
          </p:cNvSpPr>
          <p:nvPr/>
        </p:nvSpPr>
        <p:spPr>
          <a:xfrm>
            <a:off x="2143125" y="4476750"/>
            <a:ext cx="9429750" cy="619125"/>
          </a:xfrm>
          <a:prstGeom prst="rect">
            <a:avLst/>
          </a:prstGeom>
          <a:noFill/>
          <a:ln w="0">
            <a:noFill/>
          </a:ln>
        </p:spPr>
        <p:txBody>
          <a:bodyPr wrap="square" lIns="0" tIns="0" rIns="0" bIns="0" anchor="t">
            <a:noAutofit/>
          </a:bodyPr>
          <a:lstStyle>
            <a:defPPr algn="ctr">
              <a:defRPr sz="2475" b="0" i="0">
                <a:solidFill>
                  <a:srgbClr val="202020"/>
                </a:solidFill>
                <a:latin typeface="Arial"/>
                <a:ea typeface="Arial"/>
                <a:cs typeface="Arial"/>
              </a:defRPr>
            </a:defPPr>
          </a:lstStyle>
          <a:p>
            <a:pPr algn="ctr">
              <a:buNone/>
              <a:defRPr sz="2475" b="0" i="0">
                <a:solidFill>
                  <a:srgbClr val="202020"/>
                </a:solidFill>
                <a:latin typeface="Arial"/>
                <a:ea typeface="Arial"/>
                <a:cs typeface="Arial"/>
              </a:defRPr>
            </a:pPr>
            <a:r>
              <a:rPr sz="2475" b="0" i="0">
                <a:solidFill>
                  <a:srgbClr val="202020"/>
                </a:solidFill>
                <a:latin typeface="Arial"/>
                <a:ea typeface="Arial"/>
                <a:cs typeface="Arial"/>
              </a:rPr>
              <a:t>Otherwise,  y′ = y</a:t>
            </a:r>
          </a:p>
        </p:txBody>
      </p:sp>
      <p:sp>
        <p:nvSpPr>
          <p:cNvPr id="33" name="content-17">
            <a:extLst>
              <a:ext uri="{FF2B5EF4-FFF2-40B4-BE49-F238E27FC236}">
                <a16:creationId xmlns:a16="http://schemas.microsoft.com/office/drawing/2014/main" id="{4D09FD3D-01D5-4A02-BFCE-855971D00D72}"/>
              </a:ext>
            </a:extLst>
          </p:cNvPr>
          <p:cNvSpPr>
            <a:spLocks noGrp="1"/>
          </p:cNvSpPr>
          <p:nvPr/>
        </p:nvSpPr>
        <p:spPr>
          <a:xfrm>
            <a:off x="2143125" y="5610225"/>
            <a:ext cx="9429750" cy="714375"/>
          </a:xfrm>
          <a:prstGeom prst="rect">
            <a:avLst/>
          </a:prstGeom>
          <a:noFill/>
          <a:ln w="0">
            <a:noFill/>
          </a:ln>
        </p:spPr>
        <p:txBody>
          <a:bodyPr wrap="square" lIns="0" tIns="0" rIns="0" bIns="0" anchor="t">
            <a:noAutofit/>
          </a:bodyPr>
          <a:lstStyle>
            <a:defPPr algn="l">
              <a:defRPr sz="2025" b="0" i="0">
                <a:solidFill>
                  <a:srgbClr val="202020"/>
                </a:solidFill>
                <a:latin typeface="Arial"/>
                <a:ea typeface="Arial"/>
                <a:cs typeface="Arial"/>
              </a:defRPr>
            </a:defPPr>
          </a:lstStyle>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α controls the adjustment strength. Sort y′ to obtain the new ranking.</a:t>
            </a:r>
          </a:p>
        </p:txBody>
      </p:sp>
    </p:spTree>
    <p:extLst>
      <p:ext uri="{BB962C8B-B14F-4D97-AF65-F5344CB8AC3E}">
        <p14:creationId xmlns:p14="http://schemas.microsoft.com/office/powerpoint/2010/main" val="3830942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321716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3.7</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An example of score adjustment</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DA059D71-A056-4091-8FAC-C3A81D4517F2}"/>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7DAA5E46-2529-4A8E-93C5-20C5503B9158}"/>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14 / 20</a:t>
            </a:r>
          </a:p>
        </p:txBody>
      </p:sp>
      <p:sp>
        <p:nvSpPr>
          <p:cNvPr id="29" name="content-13">
            <a:extLst>
              <a:ext uri="{FF2B5EF4-FFF2-40B4-BE49-F238E27FC236}">
                <a16:creationId xmlns:a16="http://schemas.microsoft.com/office/drawing/2014/main" id="{F6AAED22-B364-4FDC-961B-B8E0848FBA9B}"/>
              </a:ext>
            </a:extLst>
          </p:cNvPr>
          <p:cNvSpPr>
            <a:spLocks noGrp="1"/>
          </p:cNvSpPr>
          <p:nvPr/>
        </p:nvSpPr>
        <p:spPr>
          <a:xfrm>
            <a:off x="2143125" y="1619250"/>
            <a:ext cx="9429750" cy="476250"/>
          </a:xfrm>
          <a:prstGeom prst="rect">
            <a:avLst/>
          </a:prstGeom>
          <a:noFill/>
          <a:ln w="0">
            <a:noFill/>
          </a:ln>
        </p:spPr>
        <p:txBody>
          <a:bodyPr wrap="square" lIns="0" tIns="0" rIns="0" bIns="0" anchor="t">
            <a:noAutofit/>
          </a:bodyPr>
          <a:lstStyle>
            <a:defPPr algn="l">
              <a:defRPr sz="2100" b="0" i="0">
                <a:solidFill>
                  <a:srgbClr val="202020"/>
                </a:solidFill>
                <a:latin typeface="Arial"/>
                <a:ea typeface="Arial"/>
                <a:cs typeface="Arial"/>
              </a:defRPr>
            </a:defPPr>
          </a:lstStyle>
          <a:p>
            <a:pPr algn="l">
              <a:buNone/>
              <a:defRPr sz="2100" b="0" i="0">
                <a:solidFill>
                  <a:srgbClr val="202020"/>
                </a:solidFill>
                <a:latin typeface="Arial"/>
                <a:ea typeface="Arial"/>
                <a:cs typeface="Arial"/>
              </a:defRPr>
            </a:pPr>
            <a:r>
              <a:rPr sz="2100" b="0" i="0">
                <a:solidFill>
                  <a:srgbClr val="202020"/>
                </a:solidFill>
                <a:latin typeface="Arial"/>
                <a:ea typeface="Arial"/>
                <a:cs typeface="Arial"/>
              </a:rPr>
              <a:t>Illustrative example with α = 0.5</a:t>
            </a:r>
          </a:p>
        </p:txBody>
      </p:sp>
      <p:graphicFrame>
        <p:nvGraphicFramePr>
          <p:cNvPr id="30" name="表格 29">
            <a:extLst>
              <a:ext uri="{FF2B5EF4-FFF2-40B4-BE49-F238E27FC236}">
                <a16:creationId xmlns:a16="http://schemas.microsoft.com/office/drawing/2014/main" id="{5C8F5F50-ED82-4BB6-A6B4-9030C68645AB}"/>
              </a:ext>
            </a:extLst>
          </p:cNvPr>
          <p:cNvGraphicFramePr/>
          <p:nvPr/>
        </p:nvGraphicFramePr>
        <p:xfrm>
          <a:off x="2143125" y="2362200"/>
          <a:ext cx="9429750" cy="2590800"/>
        </p:xfrm>
        <a:graphic>
          <a:graphicData uri="http://schemas.openxmlformats.org/drawingml/2006/table">
            <a:tbl>
              <a:tblPr/>
              <a:tblGrid>
                <a:gridCol w="219075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381250">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tblGrid>
              <a:tr h="647700">
                <a:tc>
                  <a:txBody>
                    <a:bodyPr/>
                    <a:lstStyle/>
                    <a:p>
                      <a:pPr algn="l">
                        <a:buNone/>
                      </a:pPr>
                      <a:r>
                        <a:rPr sz="2025" b="1">
                          <a:solidFill>
                            <a:srgbClr val="122E66"/>
                          </a:solidFill>
                          <a:latin typeface="Arial"/>
                          <a:ea typeface="Arial"/>
                          <a:cs typeface="Arial"/>
                        </a:rPr>
                        <a:t>Candidate</a:t>
                      </a:r>
                    </a:p>
                  </a:txBody>
                  <a:tcPr marL="95250" marR="95250" marT="95250" marB="9525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a:lstStyle/>
                    <a:p>
                      <a:pPr algn="ctr">
                        <a:buNone/>
                      </a:pPr>
                      <a:r>
                        <a:rPr sz="2025" b="1">
                          <a:solidFill>
                            <a:srgbClr val="122E66"/>
                          </a:solidFill>
                          <a:latin typeface="Arial"/>
                          <a:ea typeface="Arial"/>
                          <a:cs typeface="Arial"/>
                        </a:rPr>
                        <a:t>Score y</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a:solidFill>
                        <a:srgbClr val="FFFFFF"/>
                      </a:solidFill>
                    </a:lnT>
                    <a:lnB w="0">
                      <a:solidFill>
                        <a:srgbClr val="FFFFFF"/>
                      </a:solidFill>
                    </a:lnB>
                    <a:solidFill>
                      <a:srgbClr val="FFFFFF"/>
                    </a:solidFill>
                  </a:tcPr>
                </a:tc>
                <a:tc>
                  <a:txBody>
                    <a:bodyPr/>
                    <a:lstStyle/>
                    <a:p>
                      <a:pPr algn="ctr">
                        <a:buNone/>
                      </a:pPr>
                      <a:r>
                        <a:rPr sz="2025" b="1">
                          <a:solidFill>
                            <a:srgbClr val="122E66"/>
                          </a:solidFill>
                          <a:latin typeface="Arial"/>
                          <a:ea typeface="Arial"/>
                          <a:cs typeface="Arial"/>
                        </a:rPr>
                        <a:t>Weight w</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a:solidFill>
                        <a:srgbClr val="FFFFFF"/>
                      </a:solidFill>
                    </a:lnT>
                    <a:lnB w="0">
                      <a:solidFill>
                        <a:srgbClr val="FFFFFF"/>
                      </a:solidFill>
                    </a:lnB>
                    <a:solidFill>
                      <a:srgbClr val="FFFFFF"/>
                    </a:solidFill>
                  </a:tcPr>
                </a:tc>
                <a:tc>
                  <a:txBody>
                    <a:bodyPr/>
                    <a:lstStyle/>
                    <a:p>
                      <a:pPr algn="ctr">
                        <a:buNone/>
                      </a:pPr>
                      <a:r>
                        <a:rPr sz="2025" b="1">
                          <a:solidFill>
                            <a:srgbClr val="122E66"/>
                          </a:solidFill>
                          <a:latin typeface="Arial"/>
                          <a:ea typeface="Arial"/>
                          <a:cs typeface="Arial"/>
                        </a:rPr>
                        <a:t>Adjusted y′</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a:solidFill>
                        <a:srgbClr val="FFFFFF"/>
                      </a:solidFill>
                    </a:lnT>
                    <a:lnB w="0">
                      <a:solidFill>
                        <a:srgbClr val="FFFFFF"/>
                      </a:solidFill>
                    </a:lnB>
                    <a:solidFill>
                      <a:srgbClr val="FFFFFF"/>
                    </a:solidFill>
                  </a:tcPr>
                </a:tc>
                <a:extLst>
                  <a:ext uri="{0D108BD9-81ED-4DB2-BD59-A6C34878D82A}">
                    <a16:rowId xmlns:a16="http://schemas.microsoft.com/office/drawing/2014/main" val="10000"/>
                  </a:ext>
                </a:extLst>
              </a:tr>
              <a:tr h="647700">
                <a:tc>
                  <a:txBody>
                    <a:bodyPr/>
                    <a:lstStyle/>
                    <a:p>
                      <a:pPr algn="l">
                        <a:buNone/>
                      </a:pPr>
                      <a:r>
                        <a:rPr sz="2025" b="0">
                          <a:solidFill>
                            <a:srgbClr val="202020"/>
                          </a:solidFill>
                          <a:latin typeface="Arial"/>
                          <a:ea typeface="Arial"/>
                          <a:cs typeface="Arial"/>
                        </a:rPr>
                        <a:t>A</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0.90</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0.80</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0.54</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1"/>
                  </a:ext>
                </a:extLst>
              </a:tr>
              <a:tr h="647700">
                <a:tc>
                  <a:txBody>
                    <a:bodyPr/>
                    <a:lstStyle/>
                    <a:p>
                      <a:pPr algn="l">
                        <a:buNone/>
                      </a:pPr>
                      <a:r>
                        <a:rPr sz="2025" b="0">
                          <a:solidFill>
                            <a:srgbClr val="202020"/>
                          </a:solidFill>
                          <a:latin typeface="Arial"/>
                          <a:ea typeface="Arial"/>
                          <a:cs typeface="Arial"/>
                        </a:rPr>
                        <a:t>B</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0.80</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0.00</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0.80</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2"/>
                  </a:ext>
                </a:extLst>
              </a:tr>
              <a:tr h="647700">
                <a:tc>
                  <a:txBody>
                    <a:bodyPr/>
                    <a:lstStyle/>
                    <a:p>
                      <a:pPr algn="l">
                        <a:buNone/>
                      </a:pPr>
                      <a:r>
                        <a:rPr sz="2025" b="0">
                          <a:solidFill>
                            <a:srgbClr val="202020"/>
                          </a:solidFill>
                          <a:latin typeface="Arial"/>
                          <a:ea typeface="Arial"/>
                          <a:cs typeface="Arial"/>
                        </a:rPr>
                        <a:t>C</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0.70</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0.20</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2025" b="0">
                          <a:solidFill>
                            <a:srgbClr val="202020"/>
                          </a:solidFill>
                          <a:latin typeface="Arial"/>
                          <a:ea typeface="Arial"/>
                          <a:cs typeface="Arial"/>
                        </a:rPr>
                        <a:t>0.63</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3"/>
                  </a:ext>
                </a:extLst>
              </a:tr>
            </a:tbl>
          </a:graphicData>
        </a:graphic>
      </p:graphicFrame>
      <p:sp>
        <p:nvSpPr>
          <p:cNvPr id="31" name="table-rule">
            <a:extLst>
              <a:ext uri="{FF2B5EF4-FFF2-40B4-BE49-F238E27FC236}">
                <a16:creationId xmlns:a16="http://schemas.microsoft.com/office/drawing/2014/main" id="{36EA9754-768D-48CB-8C49-6E5568533E4E}"/>
              </a:ext>
            </a:extLst>
          </p:cNvPr>
          <p:cNvSpPr>
            <a:spLocks noGrp="1"/>
          </p:cNvSpPr>
          <p:nvPr/>
        </p:nvSpPr>
        <p:spPr>
          <a:xfrm>
            <a:off x="2143125" y="2362200"/>
            <a:ext cx="9429750" cy="14288"/>
          </a:xfrm>
          <a:prstGeom prst="rect">
            <a:avLst/>
          </a:prstGeom>
          <a:solidFill>
            <a:srgbClr val="122E66"/>
          </a:solidFill>
          <a:ln w="0">
            <a:noFill/>
          </a:ln>
        </p:spPr>
        <p:txBody>
          <a:bodyPr/>
          <a:lstStyle/>
          <a:p>
            <a:endParaRPr lang="zh-CN" altLang="en-US"/>
          </a:p>
        </p:txBody>
      </p:sp>
      <p:sp>
        <p:nvSpPr>
          <p:cNvPr id="32" name="table-rule">
            <a:extLst>
              <a:ext uri="{FF2B5EF4-FFF2-40B4-BE49-F238E27FC236}">
                <a16:creationId xmlns:a16="http://schemas.microsoft.com/office/drawing/2014/main" id="{EF040549-E6EB-41DF-8DB9-A1CD98CE5A75}"/>
              </a:ext>
            </a:extLst>
          </p:cNvPr>
          <p:cNvSpPr>
            <a:spLocks noGrp="1"/>
          </p:cNvSpPr>
          <p:nvPr/>
        </p:nvSpPr>
        <p:spPr>
          <a:xfrm>
            <a:off x="2143125" y="3009900"/>
            <a:ext cx="9429750" cy="9525"/>
          </a:xfrm>
          <a:prstGeom prst="rect">
            <a:avLst/>
          </a:prstGeom>
          <a:solidFill>
            <a:srgbClr val="A0A0A0"/>
          </a:solidFill>
          <a:ln w="0">
            <a:noFill/>
          </a:ln>
        </p:spPr>
        <p:txBody>
          <a:bodyPr/>
          <a:lstStyle/>
          <a:p>
            <a:endParaRPr lang="zh-CN" altLang="en-US"/>
          </a:p>
        </p:txBody>
      </p:sp>
      <p:sp>
        <p:nvSpPr>
          <p:cNvPr id="33" name="table-rule">
            <a:extLst>
              <a:ext uri="{FF2B5EF4-FFF2-40B4-BE49-F238E27FC236}">
                <a16:creationId xmlns:a16="http://schemas.microsoft.com/office/drawing/2014/main" id="{F9559FE5-517E-4B4B-B44C-8FAB7F3A191A}"/>
              </a:ext>
            </a:extLst>
          </p:cNvPr>
          <p:cNvSpPr>
            <a:spLocks noGrp="1"/>
          </p:cNvSpPr>
          <p:nvPr/>
        </p:nvSpPr>
        <p:spPr>
          <a:xfrm>
            <a:off x="2143125" y="4953000"/>
            <a:ext cx="9429750" cy="14288"/>
          </a:xfrm>
          <a:prstGeom prst="rect">
            <a:avLst/>
          </a:prstGeom>
          <a:solidFill>
            <a:srgbClr val="122E66"/>
          </a:solidFill>
          <a:ln w="0">
            <a:noFill/>
          </a:ln>
        </p:spPr>
        <p:txBody>
          <a:bodyPr/>
          <a:lstStyle/>
          <a:p>
            <a:endParaRPr lang="zh-CN" altLang="en-US"/>
          </a:p>
        </p:txBody>
      </p:sp>
      <p:sp>
        <p:nvSpPr>
          <p:cNvPr id="34" name="content-17">
            <a:extLst>
              <a:ext uri="{FF2B5EF4-FFF2-40B4-BE49-F238E27FC236}">
                <a16:creationId xmlns:a16="http://schemas.microsoft.com/office/drawing/2014/main" id="{59491F63-8FF9-4C99-8B24-AE2D6588B441}"/>
              </a:ext>
            </a:extLst>
          </p:cNvPr>
          <p:cNvSpPr>
            <a:spLocks noGrp="1"/>
          </p:cNvSpPr>
          <p:nvPr/>
        </p:nvSpPr>
        <p:spPr>
          <a:xfrm>
            <a:off x="2143125" y="5343525"/>
            <a:ext cx="4667250" cy="523875"/>
          </a:xfrm>
          <a:prstGeom prst="rect">
            <a:avLst/>
          </a:prstGeom>
          <a:noFill/>
          <a:ln w="0">
            <a:noFill/>
          </a:ln>
        </p:spPr>
        <p:txBody>
          <a:bodyPr wrap="square" lIns="0" tIns="0" rIns="0" bIns="0" anchor="t">
            <a:noAutofit/>
          </a:bodyPr>
          <a:lstStyle>
            <a:defPPr algn="l">
              <a:defRPr sz="2100" b="0" i="0">
                <a:solidFill>
                  <a:srgbClr val="202020"/>
                </a:solidFill>
                <a:latin typeface="Arial"/>
                <a:ea typeface="Arial"/>
                <a:cs typeface="Arial"/>
              </a:defRPr>
            </a:defPPr>
          </a:lstStyle>
          <a:p>
            <a:pPr algn="l">
              <a:buNone/>
              <a:defRPr sz="2100" b="0" i="0">
                <a:solidFill>
                  <a:srgbClr val="202020"/>
                </a:solidFill>
                <a:latin typeface="Arial"/>
                <a:ea typeface="Arial"/>
                <a:cs typeface="Arial"/>
              </a:defRPr>
            </a:pPr>
            <a:r>
              <a:rPr sz="2100" b="0" i="0">
                <a:solidFill>
                  <a:srgbClr val="202020"/>
                </a:solidFill>
                <a:latin typeface="Arial"/>
                <a:ea typeface="Arial"/>
                <a:cs typeface="Arial"/>
              </a:rPr>
              <a:t>Original ranking:  A, B, C</a:t>
            </a:r>
          </a:p>
        </p:txBody>
      </p:sp>
      <p:sp>
        <p:nvSpPr>
          <p:cNvPr id="35" name="content-18">
            <a:extLst>
              <a:ext uri="{FF2B5EF4-FFF2-40B4-BE49-F238E27FC236}">
                <a16:creationId xmlns:a16="http://schemas.microsoft.com/office/drawing/2014/main" id="{167E3820-A066-4869-A1C6-600A301D5697}"/>
              </a:ext>
            </a:extLst>
          </p:cNvPr>
          <p:cNvSpPr>
            <a:spLocks noGrp="1"/>
          </p:cNvSpPr>
          <p:nvPr/>
        </p:nvSpPr>
        <p:spPr>
          <a:xfrm>
            <a:off x="7191375" y="5343525"/>
            <a:ext cx="4524375" cy="523875"/>
          </a:xfrm>
          <a:prstGeom prst="rect">
            <a:avLst/>
          </a:prstGeom>
          <a:noFill/>
          <a:ln w="0">
            <a:noFill/>
          </a:ln>
        </p:spPr>
        <p:txBody>
          <a:bodyPr wrap="square" lIns="0" tIns="0" rIns="0" bIns="0" anchor="t">
            <a:noAutofit/>
          </a:bodyPr>
          <a:lstStyle>
            <a:defPPr algn="l">
              <a:defRPr sz="2100" b="0" i="0">
                <a:solidFill>
                  <a:srgbClr val="122E66"/>
                </a:solidFill>
                <a:latin typeface="Arial"/>
                <a:ea typeface="Arial"/>
                <a:cs typeface="Arial"/>
              </a:defRPr>
            </a:defPPr>
          </a:lstStyle>
          <a:p>
            <a:pPr algn="l">
              <a:buNone/>
              <a:defRPr sz="2100" b="0" i="0">
                <a:solidFill>
                  <a:srgbClr val="122E66"/>
                </a:solidFill>
                <a:latin typeface="Arial"/>
                <a:ea typeface="Arial"/>
                <a:cs typeface="Arial"/>
              </a:defRPr>
            </a:pPr>
            <a:r>
              <a:rPr sz="2100" b="0" i="0">
                <a:solidFill>
                  <a:srgbClr val="122E66"/>
                </a:solidFill>
                <a:latin typeface="Arial"/>
                <a:ea typeface="Arial"/>
                <a:cs typeface="Arial"/>
              </a:rPr>
              <a:t>Adjusted ranking:  B, C, A</a:t>
            </a:r>
          </a:p>
        </p:txBody>
      </p:sp>
      <p:sp>
        <p:nvSpPr>
          <p:cNvPr id="36" name="content-19">
            <a:extLst>
              <a:ext uri="{FF2B5EF4-FFF2-40B4-BE49-F238E27FC236}">
                <a16:creationId xmlns:a16="http://schemas.microsoft.com/office/drawing/2014/main" id="{8EDCB1D8-CB5A-4838-A157-B47C9B2F82DD}"/>
              </a:ext>
            </a:extLst>
          </p:cNvPr>
          <p:cNvSpPr>
            <a:spLocks noGrp="1"/>
          </p:cNvSpPr>
          <p:nvPr/>
        </p:nvSpPr>
        <p:spPr>
          <a:xfrm>
            <a:off x="2047875" y="6067425"/>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B has no attributed dependence on the forgotten interaction and keeps its original score.</a:t>
            </a:r>
          </a:p>
        </p:txBody>
      </p:sp>
    </p:spTree>
    <p:extLst>
      <p:ext uri="{BB962C8B-B14F-4D97-AF65-F5344CB8AC3E}">
        <p14:creationId xmlns:p14="http://schemas.microsoft.com/office/powerpoint/2010/main" val="38309420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321716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3.8</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The forgetting request workflow</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A1208BE5-AB4D-4F3D-8C78-D9218964C56B}"/>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BE508B44-1B84-4E73-B2D6-2C7D5A4703DE}"/>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15 / 20</a:t>
            </a:r>
          </a:p>
        </p:txBody>
      </p:sp>
      <p:sp>
        <p:nvSpPr>
          <p:cNvPr id="29" name="content-13">
            <a:extLst>
              <a:ext uri="{FF2B5EF4-FFF2-40B4-BE49-F238E27FC236}">
                <a16:creationId xmlns:a16="http://schemas.microsoft.com/office/drawing/2014/main" id="{D1ED3848-0C13-4177-9718-D126F34F124F}"/>
              </a:ext>
            </a:extLst>
          </p:cNvPr>
          <p:cNvSpPr>
            <a:spLocks noGrp="1"/>
          </p:cNvSpPr>
          <p:nvPr/>
        </p:nvSpPr>
        <p:spPr>
          <a:xfrm>
            <a:off x="2143125" y="1619250"/>
            <a:ext cx="9429750" cy="428625"/>
          </a:xfrm>
          <a:prstGeom prst="rect">
            <a:avLst/>
          </a:prstGeom>
          <a:noFill/>
          <a:ln w="0">
            <a:noFill/>
          </a:ln>
        </p:spPr>
        <p:txBody>
          <a:bodyPr wrap="square" lIns="0" tIns="0" rIns="0" bIns="0" anchor="t">
            <a:noAutofit/>
          </a:bodyPr>
          <a:lstStyle>
            <a:defPPr algn="l">
              <a:defRPr sz="2175" b="1" i="0">
                <a:solidFill>
                  <a:srgbClr val="122E66"/>
                </a:solidFill>
                <a:latin typeface="Arial"/>
                <a:ea typeface="Arial"/>
                <a:cs typeface="Arial"/>
              </a:defRPr>
            </a:defPPr>
          </a:lstStyle>
          <a:p>
            <a:pPr algn="l">
              <a:buNone/>
              <a:defRPr sz="2175" b="1" i="0">
                <a:solidFill>
                  <a:srgbClr val="122E66"/>
                </a:solidFill>
                <a:latin typeface="Arial"/>
                <a:ea typeface="Arial"/>
                <a:cs typeface="Arial"/>
              </a:defRPr>
            </a:pPr>
            <a:r>
              <a:rPr sz="2175" b="1" i="0">
                <a:solidFill>
                  <a:srgbClr val="122E66"/>
                </a:solidFill>
                <a:latin typeface="Arial"/>
                <a:ea typeface="Arial"/>
                <a:cs typeface="Arial"/>
              </a:rPr>
              <a:t>Explanation preparation at the provider</a:t>
            </a:r>
          </a:p>
        </p:txBody>
      </p:sp>
      <p:sp>
        <p:nvSpPr>
          <p:cNvPr id="30" name="content-14">
            <a:extLst>
              <a:ext uri="{FF2B5EF4-FFF2-40B4-BE49-F238E27FC236}">
                <a16:creationId xmlns:a16="http://schemas.microsoft.com/office/drawing/2014/main" id="{DE7C4425-5FB2-4B5B-8901-9E556612CC62}"/>
              </a:ext>
            </a:extLst>
          </p:cNvPr>
          <p:cNvSpPr>
            <a:spLocks noGrp="1"/>
          </p:cNvSpPr>
          <p:nvPr/>
        </p:nvSpPr>
        <p:spPr>
          <a:xfrm>
            <a:off x="2143125" y="2133600"/>
            <a:ext cx="9429750" cy="1047750"/>
          </a:xfrm>
          <a:prstGeom prst="rect">
            <a:avLst/>
          </a:prstGeom>
          <a:noFill/>
          <a:ln w="0">
            <a:noFill/>
          </a:ln>
        </p:spPr>
        <p:txBody>
          <a:bodyPr wrap="square" lIns="0" tIns="0" rIns="0" bIns="0" anchor="t">
            <a:noAutofit/>
          </a:bodyPr>
          <a:lstStyle>
            <a:defPPr algn="l">
              <a:defRPr sz="2100" b="0" i="0">
                <a:solidFill>
                  <a:srgbClr val="202020"/>
                </a:solidFill>
                <a:latin typeface="Arial"/>
                <a:ea typeface="Arial"/>
                <a:cs typeface="Arial"/>
              </a:defRPr>
            </a:defPPr>
          </a:lstStyle>
          <a:p>
            <a:pPr algn="l">
              <a:buNone/>
              <a:defRPr sz="2100" b="0" i="0">
                <a:solidFill>
                  <a:srgbClr val="202020"/>
                </a:solidFill>
                <a:latin typeface="Arial"/>
                <a:ea typeface="Arial"/>
                <a:cs typeface="Arial"/>
              </a:defRPr>
            </a:pPr>
            <a:r>
              <a:rPr sz="2100" b="0" i="0">
                <a:solidFill>
                  <a:srgbClr val="202020"/>
                </a:solidFill>
                <a:latin typeface="Arial"/>
                <a:ea typeface="Arial"/>
                <a:cs typeface="Arial"/>
              </a:rPr>
              <a:t>Produce candidate scores and explanations.</a:t>
            </a:r>
          </a:p>
          <a:p>
            <a:pPr algn="l">
              <a:buNone/>
              <a:defRPr sz="2100" b="0" i="0">
                <a:solidFill>
                  <a:srgbClr val="202020"/>
                </a:solidFill>
                <a:latin typeface="Arial"/>
                <a:ea typeface="Arial"/>
                <a:cs typeface="Arial"/>
              </a:defRPr>
            </a:pPr>
            <a:r>
              <a:rPr sz="2100" b="0" i="0">
                <a:solidFill>
                  <a:srgbClr val="202020"/>
                </a:solidFill>
                <a:latin typeface="Arial"/>
                <a:ea typeface="Arial"/>
                <a:cs typeface="Arial"/>
              </a:rPr>
              <a:t>Cache explanations ahead of time, or compute them on demand.</a:t>
            </a:r>
          </a:p>
        </p:txBody>
      </p:sp>
      <p:sp>
        <p:nvSpPr>
          <p:cNvPr id="31" name="content-15">
            <a:extLst>
              <a:ext uri="{FF2B5EF4-FFF2-40B4-BE49-F238E27FC236}">
                <a16:creationId xmlns:a16="http://schemas.microsoft.com/office/drawing/2014/main" id="{2630459F-7EB0-4C94-9E80-F7A0A61B6E62}"/>
              </a:ext>
            </a:extLst>
          </p:cNvPr>
          <p:cNvSpPr>
            <a:spLocks noGrp="1"/>
          </p:cNvSpPr>
          <p:nvPr/>
        </p:nvSpPr>
        <p:spPr>
          <a:xfrm>
            <a:off x="2143125" y="3600450"/>
            <a:ext cx="9429750" cy="428625"/>
          </a:xfrm>
          <a:prstGeom prst="rect">
            <a:avLst/>
          </a:prstGeom>
          <a:noFill/>
          <a:ln w="0">
            <a:noFill/>
          </a:ln>
        </p:spPr>
        <p:txBody>
          <a:bodyPr wrap="square" lIns="0" tIns="0" rIns="0" bIns="0" anchor="t">
            <a:noAutofit/>
          </a:bodyPr>
          <a:lstStyle>
            <a:defPPr algn="l">
              <a:defRPr sz="2175" b="1" i="0">
                <a:solidFill>
                  <a:srgbClr val="122E66"/>
                </a:solidFill>
                <a:latin typeface="Arial"/>
                <a:ea typeface="Arial"/>
                <a:cs typeface="Arial"/>
              </a:defRPr>
            </a:defPPr>
          </a:lstStyle>
          <a:p>
            <a:pPr algn="l">
              <a:buNone/>
              <a:defRPr sz="2175" b="1" i="0">
                <a:solidFill>
                  <a:srgbClr val="122E66"/>
                </a:solidFill>
                <a:latin typeface="Arial"/>
                <a:ea typeface="Arial"/>
                <a:cs typeface="Arial"/>
              </a:defRPr>
            </a:pPr>
            <a:r>
              <a:rPr sz="2175" b="1" i="0">
                <a:solidFill>
                  <a:srgbClr val="122E66"/>
                </a:solidFill>
                <a:latin typeface="Arial"/>
                <a:ea typeface="Arial"/>
                <a:cs typeface="Arial"/>
              </a:rPr>
              <a:t>Request handling at the operator</a:t>
            </a:r>
          </a:p>
        </p:txBody>
      </p:sp>
      <p:sp>
        <p:nvSpPr>
          <p:cNvPr id="32" name="content-16">
            <a:extLst>
              <a:ext uri="{FF2B5EF4-FFF2-40B4-BE49-F238E27FC236}">
                <a16:creationId xmlns:a16="http://schemas.microsoft.com/office/drawing/2014/main" id="{E1E78C6F-1598-4126-B8DA-0BC3D731457A}"/>
              </a:ext>
            </a:extLst>
          </p:cNvPr>
          <p:cNvSpPr>
            <a:spLocks noGrp="1"/>
          </p:cNvSpPr>
          <p:nvPr/>
        </p:nvSpPr>
        <p:spPr>
          <a:xfrm>
            <a:off x="2190750" y="4171950"/>
            <a:ext cx="9286875" cy="1676400"/>
          </a:xfrm>
          <a:prstGeom prst="rect">
            <a:avLst/>
          </a:prstGeom>
          <a:noFill/>
          <a:ln w="0">
            <a:noFill/>
          </a:ln>
        </p:spPr>
        <p:txBody>
          <a:bodyPr wrap="square" lIns="0" tIns="0" rIns="0" bIns="0" anchor="t">
            <a:noAutofit/>
          </a:bodyPr>
          <a:lstStyle>
            <a:defPPr algn="l">
              <a:defRPr sz="2025" b="0" i="0">
                <a:solidFill>
                  <a:srgbClr val="202020"/>
                </a:solidFill>
                <a:latin typeface="Arial"/>
                <a:ea typeface="Arial"/>
                <a:cs typeface="Arial"/>
              </a:defRPr>
            </a:defPPr>
          </a:lstStyle>
          <a:p>
            <a:pPr marL="228600" indent="-139700" algn="l">
              <a:spcAft>
                <a:spcPts val="1500"/>
              </a:spcAft>
              <a:buChar char="•"/>
              <a:defRPr sz="2025" b="0" i="0">
                <a:solidFill>
                  <a:srgbClr val="202020"/>
                </a:solidFill>
                <a:latin typeface="Arial"/>
                <a:ea typeface="Arial"/>
                <a:cs typeface="Arial"/>
              </a:defRPr>
            </a:pPr>
            <a:r>
              <a:t>Retrieve each candidate’s support set and weights.</a:t>
            </a:r>
          </a:p>
          <a:p>
            <a:pPr marL="228600" indent="-139700" algn="l">
              <a:spcAft>
                <a:spcPts val="1500"/>
              </a:spcAft>
              <a:buChar char="•"/>
              <a:defRPr sz="2025" b="0" i="0">
                <a:solidFill>
                  <a:srgbClr val="202020"/>
                </a:solidFill>
                <a:latin typeface="Arial"/>
                <a:ea typeface="Arial"/>
                <a:cs typeface="Arial"/>
              </a:defRPr>
            </a:pPr>
            <a:r>
              <a:t>Adjust scores supported by the forgotten interaction.</a:t>
            </a:r>
          </a:p>
          <a:p>
            <a:pPr marL="228600" indent="-139700" algn="l">
              <a:spcAft>
                <a:spcPts val="1500"/>
              </a:spcAft>
              <a:buChar char="•"/>
              <a:defRPr sz="2025" b="0" i="0">
                <a:solidFill>
                  <a:srgbClr val="202020"/>
                </a:solidFill>
                <a:latin typeface="Arial"/>
                <a:ea typeface="Arial"/>
                <a:cs typeface="Arial"/>
              </a:defRPr>
            </a:pPr>
            <a:r>
              <a:t>Sort the adjusted scores and return the new list.</a:t>
            </a:r>
          </a:p>
        </p:txBody>
      </p:sp>
      <p:sp>
        <p:nvSpPr>
          <p:cNvPr id="33" name="content-17">
            <a:extLst>
              <a:ext uri="{FF2B5EF4-FFF2-40B4-BE49-F238E27FC236}">
                <a16:creationId xmlns:a16="http://schemas.microsoft.com/office/drawing/2014/main" id="{1C3D8438-5949-4BC0-808D-4D3E8E3A103E}"/>
              </a:ext>
            </a:extLst>
          </p:cNvPr>
          <p:cNvSpPr>
            <a:spLocks noGrp="1"/>
          </p:cNvSpPr>
          <p:nvPr/>
        </p:nvSpPr>
        <p:spPr>
          <a:xfrm>
            <a:off x="2047875" y="6086475"/>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Preparation has a separate cost. Explanations must match the current model and candidate context.</a:t>
            </a:r>
          </a:p>
        </p:txBody>
      </p:sp>
    </p:spTree>
    <p:extLst>
      <p:ext uri="{BB962C8B-B14F-4D97-AF65-F5344CB8AC3E}">
        <p14:creationId xmlns:p14="http://schemas.microsoft.com/office/powerpoint/2010/main" val="3830942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3874389"/>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4.1</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Recommendation utility and forgetting</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83A517A3-A67F-4DE6-9CCC-05702BF90312}"/>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21671664-86D6-4258-9039-E04948FCE223}"/>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16 / 20</a:t>
            </a:r>
          </a:p>
        </p:txBody>
      </p:sp>
      <p:sp>
        <p:nvSpPr>
          <p:cNvPr id="29" name="content-13">
            <a:extLst>
              <a:ext uri="{FF2B5EF4-FFF2-40B4-BE49-F238E27FC236}">
                <a16:creationId xmlns:a16="http://schemas.microsoft.com/office/drawing/2014/main" id="{711F80BA-DFED-4A11-8B4B-15EB85A4A4A0}"/>
              </a:ext>
            </a:extLst>
          </p:cNvPr>
          <p:cNvSpPr>
            <a:spLocks noGrp="1"/>
          </p:cNvSpPr>
          <p:nvPr/>
        </p:nvSpPr>
        <p:spPr>
          <a:xfrm>
            <a:off x="2143125" y="1600200"/>
            <a:ext cx="9429750" cy="457200"/>
          </a:xfrm>
          <a:prstGeom prst="rect">
            <a:avLst/>
          </a:prstGeom>
          <a:noFill/>
          <a:ln w="0">
            <a:noFill/>
          </a:ln>
        </p:spPr>
        <p:txBody>
          <a:bodyPr wrap="square" lIns="0" tIns="0" rIns="0" bIns="0" anchor="t">
            <a:noAutofit/>
          </a:bodyPr>
          <a:lstStyle>
            <a:defPPr algn="l">
              <a:defRPr sz="2100" b="0" i="0">
                <a:solidFill>
                  <a:srgbClr val="202020"/>
                </a:solidFill>
                <a:latin typeface="Arial"/>
                <a:ea typeface="Arial"/>
                <a:cs typeface="Arial"/>
              </a:defRPr>
            </a:defPPr>
          </a:lstStyle>
          <a:p>
            <a:pPr algn="l">
              <a:buNone/>
              <a:defRPr sz="2100" b="0" i="0">
                <a:solidFill>
                  <a:srgbClr val="202020"/>
                </a:solidFill>
                <a:latin typeface="Arial"/>
                <a:ea typeface="Arial"/>
                <a:cs typeface="Arial"/>
              </a:defRPr>
            </a:pPr>
            <a:r>
              <a:rPr sz="2100" b="0" i="0">
                <a:solidFill>
                  <a:srgbClr val="202020"/>
                </a:solidFill>
                <a:latin typeface="Arial"/>
                <a:ea typeface="Arial"/>
                <a:cs typeface="Arial"/>
              </a:rPr>
              <a:t>LightGCN, 1% forgetting</a:t>
            </a:r>
          </a:p>
        </p:txBody>
      </p:sp>
      <p:graphicFrame>
        <p:nvGraphicFramePr>
          <p:cNvPr id="30" name="表格 29">
            <a:extLst>
              <a:ext uri="{FF2B5EF4-FFF2-40B4-BE49-F238E27FC236}">
                <a16:creationId xmlns:a16="http://schemas.microsoft.com/office/drawing/2014/main" id="{52FB2A68-F2D2-40FA-87D7-73E08467D139}"/>
              </a:ext>
            </a:extLst>
          </p:cNvPr>
          <p:cNvGraphicFramePr/>
          <p:nvPr/>
        </p:nvGraphicFramePr>
        <p:xfrm>
          <a:off x="2143125" y="2343150"/>
          <a:ext cx="9429750" cy="2571750"/>
        </p:xfrm>
        <a:graphic>
          <a:graphicData uri="http://schemas.openxmlformats.org/drawingml/2006/table">
            <a:tbl>
              <a:tblPr/>
              <a:tblGrid>
                <a:gridCol w="1905000">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gridCol w="1857375">
                  <a:extLst>
                    <a:ext uri="{9D8B030D-6E8A-4147-A177-3AD203B41FA5}">
                      <a16:colId xmlns:a16="http://schemas.microsoft.com/office/drawing/2014/main" val="20002"/>
                    </a:ext>
                  </a:extLst>
                </a:gridCol>
                <a:gridCol w="1905000">
                  <a:extLst>
                    <a:ext uri="{9D8B030D-6E8A-4147-A177-3AD203B41FA5}">
                      <a16:colId xmlns:a16="http://schemas.microsoft.com/office/drawing/2014/main" val="20003"/>
                    </a:ext>
                  </a:extLst>
                </a:gridCol>
                <a:gridCol w="1905000">
                  <a:extLst>
                    <a:ext uri="{9D8B030D-6E8A-4147-A177-3AD203B41FA5}">
                      <a16:colId xmlns:a16="http://schemas.microsoft.com/office/drawing/2014/main" val="20004"/>
                    </a:ext>
                  </a:extLst>
                </a:gridCol>
              </a:tblGrid>
              <a:tr h="857250">
                <a:tc>
                  <a:txBody>
                    <a:bodyPr/>
                    <a:lstStyle/>
                    <a:p>
                      <a:pPr algn="l">
                        <a:buNone/>
                      </a:pPr>
                      <a:r>
                        <a:rPr sz="1875" b="1">
                          <a:solidFill>
                            <a:srgbClr val="122E66"/>
                          </a:solidFill>
                          <a:latin typeface="Arial"/>
                          <a:ea typeface="Arial"/>
                          <a:cs typeface="Arial"/>
                        </a:rPr>
                        <a:t>Dataset</a:t>
                      </a:r>
                    </a:p>
                  </a:txBody>
                  <a:tcPr marL="95250" marR="95250" marT="95250" marB="95250" anchor="ctr">
                    <a:lnL w="0">
                      <a:solidFill>
                        <a:srgbClr val="FFFFFF"/>
                      </a:solidFill>
                    </a:lnL>
                    <a:lnR w="0">
                      <a:solidFill>
                        <a:srgbClr val="FFFFFF"/>
                      </a:solidFill>
                    </a:lnR>
                    <a:lnT w="0">
                      <a:solidFill>
                        <a:srgbClr val="FFFFFF"/>
                      </a:solidFill>
                    </a:lnT>
                    <a:lnB w="0">
                      <a:solidFill>
                        <a:srgbClr val="FFFFFF"/>
                      </a:solidFill>
                    </a:lnB>
                    <a:solidFill>
                      <a:srgbClr val="FFFFFF"/>
                    </a:solidFill>
                  </a:tcPr>
                </a:tc>
                <a:tc>
                  <a:txBody>
                    <a:bodyPr/>
                    <a:lstStyle/>
                    <a:p>
                      <a:pPr algn="ctr">
                        <a:buNone/>
                      </a:pPr>
                      <a:r>
                        <a:rPr sz="1875" b="1">
                          <a:solidFill>
                            <a:srgbClr val="122E66"/>
                          </a:solidFill>
                          <a:latin typeface="Arial"/>
                          <a:ea typeface="Arial"/>
                          <a:cs typeface="Arial"/>
                        </a:rPr>
                        <a:t>HR@10</a:t>
                      </a:r>
                    </a:p>
                    <a:p>
                      <a:pPr algn="ctr">
                        <a:buNone/>
                      </a:pPr>
                      <a:r>
                        <a:rPr sz="1875" b="1">
                          <a:solidFill>
                            <a:srgbClr val="122E66"/>
                          </a:solidFill>
                          <a:latin typeface="Arial"/>
                          <a:ea typeface="Arial"/>
                          <a:cs typeface="Arial"/>
                        </a:rPr>
                        <a:t>Origin</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a:solidFill>
                        <a:srgbClr val="FFFFFF"/>
                      </a:solidFill>
                    </a:lnT>
                    <a:lnB w="0">
                      <a:solidFill>
                        <a:srgbClr val="FFFFFF"/>
                      </a:solidFill>
                    </a:lnB>
                    <a:solidFill>
                      <a:srgbClr val="FFFFFF"/>
                    </a:solidFill>
                  </a:tcPr>
                </a:tc>
                <a:tc>
                  <a:txBody>
                    <a:bodyPr/>
                    <a:lstStyle/>
                    <a:p>
                      <a:pPr algn="ctr">
                        <a:buNone/>
                      </a:pPr>
                      <a:r>
                        <a:rPr sz="1875" b="1">
                          <a:solidFill>
                            <a:srgbClr val="122E66"/>
                          </a:solidFill>
                          <a:latin typeface="Arial"/>
                          <a:ea typeface="Arial"/>
                          <a:cs typeface="Arial"/>
                        </a:rPr>
                        <a:t>HR@10</a:t>
                      </a:r>
                    </a:p>
                    <a:p>
                      <a:pPr algn="ctr">
                        <a:buNone/>
                      </a:pPr>
                      <a:r>
                        <a:rPr sz="1875" b="1">
                          <a:solidFill>
                            <a:srgbClr val="122E66"/>
                          </a:solidFill>
                          <a:latin typeface="Arial"/>
                          <a:ea typeface="Arial"/>
                          <a:cs typeface="Arial"/>
                        </a:rPr>
                        <a:t>CEU</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a:solidFill>
                        <a:srgbClr val="FFFFFF"/>
                      </a:solidFill>
                    </a:lnT>
                    <a:lnB w="0">
                      <a:solidFill>
                        <a:srgbClr val="FFFFFF"/>
                      </a:solidFill>
                    </a:lnB>
                    <a:solidFill>
                      <a:srgbClr val="FFFFFF"/>
                    </a:solidFill>
                  </a:tcPr>
                </a:tc>
                <a:tc>
                  <a:txBody>
                    <a:bodyPr/>
                    <a:lstStyle/>
                    <a:p>
                      <a:pPr algn="ctr">
                        <a:buNone/>
                      </a:pPr>
                      <a:r>
                        <a:rPr sz="1875" b="1">
                          <a:solidFill>
                            <a:srgbClr val="122E66"/>
                          </a:solidFill>
                          <a:latin typeface="Arial"/>
                          <a:ea typeface="Arial"/>
                          <a:cs typeface="Arial"/>
                        </a:rPr>
                        <a:t>MIA ACC</a:t>
                      </a:r>
                    </a:p>
                    <a:p>
                      <a:pPr algn="ctr">
                        <a:buNone/>
                      </a:pPr>
                      <a:r>
                        <a:rPr sz="1875" b="1">
                          <a:solidFill>
                            <a:srgbClr val="122E66"/>
                          </a:solidFill>
                          <a:latin typeface="Arial"/>
                          <a:ea typeface="Arial"/>
                          <a:cs typeface="Arial"/>
                        </a:rPr>
                        <a:t>Origin</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a:solidFill>
                        <a:srgbClr val="FFFFFF"/>
                      </a:solidFill>
                    </a:lnT>
                    <a:lnB w="0">
                      <a:solidFill>
                        <a:srgbClr val="FFFFFF"/>
                      </a:solidFill>
                    </a:lnB>
                    <a:solidFill>
                      <a:srgbClr val="FFFFFF"/>
                    </a:solidFill>
                  </a:tcPr>
                </a:tc>
                <a:tc>
                  <a:txBody>
                    <a:bodyPr/>
                    <a:lstStyle/>
                    <a:p>
                      <a:pPr algn="ctr">
                        <a:buNone/>
                      </a:pPr>
                      <a:r>
                        <a:rPr sz="1875" b="1">
                          <a:solidFill>
                            <a:srgbClr val="122E66"/>
                          </a:solidFill>
                          <a:latin typeface="Arial"/>
                          <a:ea typeface="Arial"/>
                          <a:cs typeface="Arial"/>
                        </a:rPr>
                        <a:t>MIA ACC</a:t>
                      </a:r>
                    </a:p>
                    <a:p>
                      <a:pPr algn="ctr">
                        <a:buNone/>
                      </a:pPr>
                      <a:r>
                        <a:rPr sz="1875" b="1">
                          <a:solidFill>
                            <a:srgbClr val="122E66"/>
                          </a:solidFill>
                          <a:latin typeface="Arial"/>
                          <a:ea typeface="Arial"/>
                          <a:cs typeface="Arial"/>
                        </a:rPr>
                        <a:t>CEU</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a:solidFill>
                        <a:srgbClr val="FFFFFF"/>
                      </a:solidFill>
                    </a:lnT>
                    <a:lnB w="0">
                      <a:solidFill>
                        <a:srgbClr val="FFFFFF"/>
                      </a:solidFill>
                    </a:lnB>
                    <a:solidFill>
                      <a:srgbClr val="FFFFFF"/>
                    </a:solidFill>
                  </a:tcPr>
                </a:tc>
                <a:extLst>
                  <a:ext uri="{0D108BD9-81ED-4DB2-BD59-A6C34878D82A}">
                    <a16:rowId xmlns:a16="http://schemas.microsoft.com/office/drawing/2014/main" val="10000"/>
                  </a:ext>
                </a:extLst>
              </a:tr>
              <a:tr h="857250">
                <a:tc>
                  <a:txBody>
                    <a:bodyPr/>
                    <a:lstStyle/>
                    <a:p>
                      <a:pPr algn="l">
                        <a:buNone/>
                      </a:pPr>
                      <a:r>
                        <a:rPr sz="1875" b="0">
                          <a:solidFill>
                            <a:srgbClr val="202020"/>
                          </a:solidFill>
                          <a:latin typeface="Arial"/>
                          <a:ea typeface="Arial"/>
                          <a:cs typeface="Arial"/>
                        </a:rPr>
                        <a:t>ML-1M</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1875" b="0">
                          <a:solidFill>
                            <a:srgbClr val="202020"/>
                          </a:solidFill>
                          <a:latin typeface="Arial"/>
                          <a:ea typeface="Arial"/>
                          <a:cs typeface="Arial"/>
                        </a:rPr>
                        <a:t>0.7680</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1875" b="0">
                          <a:solidFill>
                            <a:srgbClr val="202020"/>
                          </a:solidFill>
                          <a:latin typeface="Arial"/>
                          <a:ea typeface="Arial"/>
                          <a:cs typeface="Arial"/>
                        </a:rPr>
                        <a:t>0.7584</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1875" b="0">
                          <a:solidFill>
                            <a:srgbClr val="202020"/>
                          </a:solidFill>
                          <a:latin typeface="Arial"/>
                          <a:ea typeface="Arial"/>
                          <a:cs typeface="Arial"/>
                        </a:rPr>
                        <a:t>0.9678</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1875" b="0">
                          <a:solidFill>
                            <a:srgbClr val="202020"/>
                          </a:solidFill>
                          <a:latin typeface="Arial"/>
                          <a:ea typeface="Arial"/>
                          <a:cs typeface="Arial"/>
                        </a:rPr>
                        <a:t>0.4789</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1"/>
                  </a:ext>
                </a:extLst>
              </a:tr>
              <a:tr h="857250">
                <a:tc>
                  <a:txBody>
                    <a:bodyPr/>
                    <a:lstStyle/>
                    <a:p>
                      <a:pPr algn="l">
                        <a:buNone/>
                      </a:pPr>
                      <a:r>
                        <a:rPr sz="1875" b="0">
                          <a:solidFill>
                            <a:srgbClr val="202020"/>
                          </a:solidFill>
                          <a:latin typeface="Arial"/>
                          <a:ea typeface="Arial"/>
                          <a:cs typeface="Arial"/>
                        </a:rPr>
                        <a:t>Netflix</a:t>
                      </a:r>
                    </a:p>
                  </a:txBody>
                  <a:tcPr marL="95250" marR="95250" marT="95250" marB="95250" anchor="ctr">
                    <a:lnL w="0">
                      <a:solidFill>
                        <a:srgbClr val="FFFFFF"/>
                      </a:solidFill>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1875" b="0">
                          <a:solidFill>
                            <a:srgbClr val="202020"/>
                          </a:solidFill>
                          <a:latin typeface="Arial"/>
                          <a:ea typeface="Arial"/>
                          <a:cs typeface="Arial"/>
                        </a:rPr>
                        <a:t>0.8647</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1875" b="0">
                          <a:solidFill>
                            <a:srgbClr val="202020"/>
                          </a:solidFill>
                          <a:latin typeface="Arial"/>
                          <a:ea typeface="Arial"/>
                          <a:cs typeface="Arial"/>
                        </a:rPr>
                        <a:t>0.8627</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1875" b="0">
                          <a:solidFill>
                            <a:srgbClr val="202020"/>
                          </a:solidFill>
                          <a:latin typeface="Arial"/>
                          <a:ea typeface="Arial"/>
                          <a:cs typeface="Arial"/>
                        </a:rPr>
                        <a:t>0.9885</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tc>
                  <a:txBody>
                    <a:bodyPr/>
                    <a:lstStyle/>
                    <a:p>
                      <a:pPr algn="ctr">
                        <a:buNone/>
                      </a:pPr>
                      <a:r>
                        <a:rPr sz="1875" b="0">
                          <a:solidFill>
                            <a:srgbClr val="202020"/>
                          </a:solidFill>
                          <a:latin typeface="Arial"/>
                          <a:ea typeface="Arial"/>
                          <a:cs typeface="Arial"/>
                        </a:rPr>
                        <a:t>0.5581</a:t>
                      </a:r>
                    </a:p>
                  </a:txBody>
                  <a:tcPr marL="95250" marR="95250" marT="95250" marB="95250" anchor="ctr">
                    <a:lnL w="0" cap="flat" cmpd="sng" algn="ctr">
                      <a:solidFill>
                        <a:srgbClr val="FFFFFF"/>
                      </a:solidFill>
                      <a:prstDash val="solid"/>
                      <a:round/>
                      <a:headEnd type="none" w="med" len="med"/>
                      <a:tailEnd type="none" w="med" len="med"/>
                    </a:lnL>
                    <a:lnR w="0">
                      <a:solidFill>
                        <a:srgbClr val="FFFFFF"/>
                      </a:solidFill>
                    </a:lnR>
                    <a:lnT w="0" cap="flat" cmpd="sng" algn="ctr">
                      <a:solidFill>
                        <a:srgbClr val="FFFFFF"/>
                      </a:solidFill>
                      <a:prstDash val="solid"/>
                      <a:round/>
                      <a:headEnd type="none" w="med" len="med"/>
                      <a:tailEnd type="none" w="med" len="med"/>
                    </a:lnT>
                    <a:lnB w="0">
                      <a:solidFill>
                        <a:srgbClr val="FFFFFF"/>
                      </a:solidFill>
                    </a:lnB>
                    <a:solidFill>
                      <a:srgbClr val="FFFFFF"/>
                    </a:solidFill>
                  </a:tcPr>
                </a:tc>
                <a:extLst>
                  <a:ext uri="{0D108BD9-81ED-4DB2-BD59-A6C34878D82A}">
                    <a16:rowId xmlns:a16="http://schemas.microsoft.com/office/drawing/2014/main" val="10002"/>
                  </a:ext>
                </a:extLst>
              </a:tr>
            </a:tbl>
          </a:graphicData>
        </a:graphic>
      </p:graphicFrame>
      <p:sp>
        <p:nvSpPr>
          <p:cNvPr id="31" name="table-rule">
            <a:extLst>
              <a:ext uri="{FF2B5EF4-FFF2-40B4-BE49-F238E27FC236}">
                <a16:creationId xmlns:a16="http://schemas.microsoft.com/office/drawing/2014/main" id="{04E19123-BA3A-4059-B8F4-56147AF9F8FF}"/>
              </a:ext>
            </a:extLst>
          </p:cNvPr>
          <p:cNvSpPr>
            <a:spLocks noGrp="1"/>
          </p:cNvSpPr>
          <p:nvPr/>
        </p:nvSpPr>
        <p:spPr>
          <a:xfrm>
            <a:off x="2143125" y="2343150"/>
            <a:ext cx="9429750" cy="14288"/>
          </a:xfrm>
          <a:prstGeom prst="rect">
            <a:avLst/>
          </a:prstGeom>
          <a:solidFill>
            <a:srgbClr val="122E66"/>
          </a:solidFill>
          <a:ln w="0">
            <a:noFill/>
          </a:ln>
        </p:spPr>
        <p:txBody>
          <a:bodyPr/>
          <a:lstStyle/>
          <a:p>
            <a:endParaRPr lang="zh-CN" altLang="en-US"/>
          </a:p>
        </p:txBody>
      </p:sp>
      <p:sp>
        <p:nvSpPr>
          <p:cNvPr id="32" name="table-rule">
            <a:extLst>
              <a:ext uri="{FF2B5EF4-FFF2-40B4-BE49-F238E27FC236}">
                <a16:creationId xmlns:a16="http://schemas.microsoft.com/office/drawing/2014/main" id="{8A6970A1-BE9B-46AD-8FE8-0DF074DF0F92}"/>
              </a:ext>
            </a:extLst>
          </p:cNvPr>
          <p:cNvSpPr>
            <a:spLocks noGrp="1"/>
          </p:cNvSpPr>
          <p:nvPr/>
        </p:nvSpPr>
        <p:spPr>
          <a:xfrm>
            <a:off x="2143125" y="3200400"/>
            <a:ext cx="9429750" cy="9525"/>
          </a:xfrm>
          <a:prstGeom prst="rect">
            <a:avLst/>
          </a:prstGeom>
          <a:solidFill>
            <a:srgbClr val="A0A0A0"/>
          </a:solidFill>
          <a:ln w="0">
            <a:noFill/>
          </a:ln>
        </p:spPr>
        <p:txBody>
          <a:bodyPr/>
          <a:lstStyle/>
          <a:p>
            <a:endParaRPr lang="zh-CN" altLang="en-US"/>
          </a:p>
        </p:txBody>
      </p:sp>
      <p:sp>
        <p:nvSpPr>
          <p:cNvPr id="33" name="table-rule">
            <a:extLst>
              <a:ext uri="{FF2B5EF4-FFF2-40B4-BE49-F238E27FC236}">
                <a16:creationId xmlns:a16="http://schemas.microsoft.com/office/drawing/2014/main" id="{53BF9667-4265-4E8E-872D-0FC7E88D956A}"/>
              </a:ext>
            </a:extLst>
          </p:cNvPr>
          <p:cNvSpPr>
            <a:spLocks noGrp="1"/>
          </p:cNvSpPr>
          <p:nvPr/>
        </p:nvSpPr>
        <p:spPr>
          <a:xfrm>
            <a:off x="2143125" y="4914900"/>
            <a:ext cx="9429750" cy="14288"/>
          </a:xfrm>
          <a:prstGeom prst="rect">
            <a:avLst/>
          </a:prstGeom>
          <a:solidFill>
            <a:srgbClr val="122E66"/>
          </a:solidFill>
          <a:ln w="0">
            <a:noFill/>
          </a:ln>
        </p:spPr>
        <p:txBody>
          <a:bodyPr/>
          <a:lstStyle/>
          <a:p>
            <a:endParaRPr lang="zh-CN" altLang="en-US"/>
          </a:p>
        </p:txBody>
      </p:sp>
      <p:sp>
        <p:nvSpPr>
          <p:cNvPr id="34" name="content-17">
            <a:extLst>
              <a:ext uri="{FF2B5EF4-FFF2-40B4-BE49-F238E27FC236}">
                <a16:creationId xmlns:a16="http://schemas.microsoft.com/office/drawing/2014/main" id="{A8E0BDB2-5B71-4B7B-8662-41F0E1896C6D}"/>
              </a:ext>
            </a:extLst>
          </p:cNvPr>
          <p:cNvSpPr>
            <a:spLocks noGrp="1"/>
          </p:cNvSpPr>
          <p:nvPr/>
        </p:nvSpPr>
        <p:spPr>
          <a:xfrm>
            <a:off x="2143125" y="5257800"/>
            <a:ext cx="9429750" cy="847725"/>
          </a:xfrm>
          <a:prstGeom prst="rect">
            <a:avLst/>
          </a:prstGeom>
          <a:noFill/>
          <a:ln w="0">
            <a:noFill/>
          </a:ln>
        </p:spPr>
        <p:txBody>
          <a:bodyPr wrap="square" lIns="0" tIns="0" rIns="0" bIns="0" anchor="t">
            <a:noAutofit/>
          </a:bodyPr>
          <a:lstStyle>
            <a:defPPr algn="l">
              <a:defRPr sz="2025" b="0" i="0">
                <a:solidFill>
                  <a:srgbClr val="202020"/>
                </a:solidFill>
                <a:latin typeface="Arial"/>
                <a:ea typeface="Arial"/>
                <a:cs typeface="Arial"/>
              </a:defRPr>
            </a:defPPr>
          </a:lstStyle>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Utility remains close to the original model.</a:t>
            </a:r>
          </a:p>
          <a:p>
            <a:pPr algn="l">
              <a:buNone/>
              <a:defRPr sz="2025" b="0" i="0">
                <a:solidFill>
                  <a:srgbClr val="202020"/>
                </a:solidFill>
                <a:latin typeface="Arial"/>
                <a:ea typeface="Arial"/>
                <a:cs typeface="Arial"/>
              </a:defRPr>
            </a:pPr>
            <a:r>
              <a:rPr sz="2025" b="0" i="0">
                <a:solidFill>
                  <a:srgbClr val="202020"/>
                </a:solidFill>
                <a:latin typeface="Arial"/>
                <a:ea typeface="Arial"/>
                <a:cs typeface="Arial"/>
              </a:rPr>
              <a:t>Membership evidence falls, with residual gaps in some settings.</a:t>
            </a:r>
          </a:p>
        </p:txBody>
      </p:sp>
      <p:sp>
        <p:nvSpPr>
          <p:cNvPr id="35" name="content-18">
            <a:extLst>
              <a:ext uri="{FF2B5EF4-FFF2-40B4-BE49-F238E27FC236}">
                <a16:creationId xmlns:a16="http://schemas.microsoft.com/office/drawing/2014/main" id="{339CE760-15F6-49BA-9EBD-5F18CA5EE500}"/>
              </a:ext>
            </a:extLst>
          </p:cNvPr>
          <p:cNvSpPr>
            <a:spLocks noGrp="1"/>
          </p:cNvSpPr>
          <p:nvPr/>
        </p:nvSpPr>
        <p:spPr>
          <a:xfrm>
            <a:off x="2047875" y="6153150"/>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MIA chance reference: 0.5. The full study uses BPR / LightGCN on three datasets.</a:t>
            </a:r>
          </a:p>
        </p:txBody>
      </p:sp>
    </p:spTree>
    <p:extLst>
      <p:ext uri="{BB962C8B-B14F-4D97-AF65-F5344CB8AC3E}">
        <p14:creationId xmlns:p14="http://schemas.microsoft.com/office/powerpoint/2010/main" val="3830942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3874389"/>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4.2</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Efficiency and causal targeting</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A9E7463E-C73F-4247-8D51-D83207E753EE}"/>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D8F90CC0-23B3-45F8-AA0B-E5F7640ABB00}"/>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17 / 20</a:t>
            </a:r>
          </a:p>
        </p:txBody>
      </p:sp>
      <p:sp>
        <p:nvSpPr>
          <p:cNvPr id="29" name="content-13">
            <a:extLst>
              <a:ext uri="{FF2B5EF4-FFF2-40B4-BE49-F238E27FC236}">
                <a16:creationId xmlns:a16="http://schemas.microsoft.com/office/drawing/2014/main" id="{F008186E-4D65-443F-A542-12958207D4D8}"/>
              </a:ext>
            </a:extLst>
          </p:cNvPr>
          <p:cNvSpPr>
            <a:spLocks noGrp="1"/>
          </p:cNvSpPr>
          <p:nvPr/>
        </p:nvSpPr>
        <p:spPr>
          <a:xfrm>
            <a:off x="2143125" y="1562100"/>
            <a:ext cx="9429750" cy="552450"/>
          </a:xfrm>
          <a:prstGeom prst="rect">
            <a:avLst/>
          </a:prstGeom>
          <a:noFill/>
          <a:ln w="0">
            <a:noFill/>
          </a:ln>
        </p:spPr>
        <p:txBody>
          <a:bodyPr wrap="square" lIns="0" tIns="0" rIns="0" bIns="0" anchor="t">
            <a:noAutofit/>
          </a:bodyPr>
          <a:lstStyle>
            <a:defPPr algn="l">
              <a:defRPr sz="2475" b="0" i="0">
                <a:solidFill>
                  <a:srgbClr val="122E66"/>
                </a:solidFill>
                <a:latin typeface="Arial"/>
                <a:ea typeface="Arial"/>
                <a:cs typeface="Arial"/>
              </a:defRPr>
            </a:defPPr>
          </a:lstStyle>
          <a:p>
            <a:pPr algn="l">
              <a:buNone/>
              <a:defRPr sz="2475" b="0" i="0">
                <a:solidFill>
                  <a:srgbClr val="122E66"/>
                </a:solidFill>
                <a:latin typeface="Arial"/>
                <a:ea typeface="Arial"/>
                <a:cs typeface="Arial"/>
              </a:defRPr>
            </a:pPr>
            <a:r>
              <a:rPr sz="2475" b="0" i="0">
                <a:solidFill>
                  <a:srgbClr val="122E66"/>
                </a:solidFill>
                <a:latin typeface="Arial"/>
                <a:ea typeface="Arial"/>
                <a:cs typeface="Arial"/>
              </a:rPr>
              <a:t>Online latency: 0.34–6.37 s</a:t>
            </a:r>
          </a:p>
        </p:txBody>
      </p:sp>
      <p:sp>
        <p:nvSpPr>
          <p:cNvPr id="30" name="content-14">
            <a:extLst>
              <a:ext uri="{FF2B5EF4-FFF2-40B4-BE49-F238E27FC236}">
                <a16:creationId xmlns:a16="http://schemas.microsoft.com/office/drawing/2014/main" id="{E3D3A6B9-CCCA-4FF8-B2A8-4921CF90A48D}"/>
              </a:ext>
            </a:extLst>
          </p:cNvPr>
          <p:cNvSpPr>
            <a:spLocks noGrp="1"/>
          </p:cNvSpPr>
          <p:nvPr/>
        </p:nvSpPr>
        <p:spPr>
          <a:xfrm>
            <a:off x="2143125" y="2190750"/>
            <a:ext cx="9429750" cy="571500"/>
          </a:xfrm>
          <a:prstGeom prst="rect">
            <a:avLst/>
          </a:prstGeom>
          <a:noFill/>
          <a:ln w="0">
            <a:noFill/>
          </a:ln>
        </p:spPr>
        <p:txBody>
          <a:bodyPr wrap="square" lIns="0" tIns="0" rIns="0" bIns="0" anchor="t">
            <a:noAutofit/>
          </a:bodyPr>
          <a:lstStyle>
            <a:defPPr algn="l">
              <a:defRPr sz="1950" b="0" i="0">
                <a:solidFill>
                  <a:srgbClr val="202020"/>
                </a:solidFill>
                <a:latin typeface="Arial"/>
                <a:ea typeface="Arial"/>
                <a:cs typeface="Arial"/>
              </a:defRPr>
            </a:defPPr>
          </a:lstStyle>
          <a:p>
            <a:pPr algn="l">
              <a:buNone/>
              <a:defRPr sz="1950" b="0" i="0">
                <a:solidFill>
                  <a:srgbClr val="202020"/>
                </a:solidFill>
                <a:latin typeface="Arial"/>
                <a:ea typeface="Arial"/>
                <a:cs typeface="Arial"/>
              </a:defRPr>
            </a:pPr>
            <a:r>
              <a:rPr sz="1950" b="0" i="0">
                <a:solidFill>
                  <a:srgbClr val="202020"/>
                </a:solidFill>
                <a:latin typeface="Arial"/>
                <a:ea typeface="Arial"/>
                <a:cs typeface="Arial"/>
              </a:rPr>
              <a:t>9.31–52.74× faster than the next best method in the latency table.</a:t>
            </a:r>
          </a:p>
        </p:txBody>
      </p:sp>
      <p:pic>
        <p:nvPicPr>
          <p:cNvPr id="31" name="图片 30">
            <a:extLst>
              <a:ext uri="{FF2B5EF4-FFF2-40B4-BE49-F238E27FC236}">
                <a16:creationId xmlns:a16="http://schemas.microsoft.com/office/drawing/2014/main" id="{21C8D814-BC1B-4554-AE15-495892B2598E}"/>
              </a:ext>
            </a:extLst>
          </p:cNvPr>
          <p:cNvPicPr>
            <a:picLocks noChangeAspect="1"/>
          </p:cNvPicPr>
          <p:nvPr/>
        </p:nvPicPr>
        <p:blipFill>
          <a:blip r:embed="rId4"/>
          <a:stretch/>
        </p:blipFill>
        <p:spPr>
          <a:xfrm>
            <a:off x="2000250" y="3122571"/>
            <a:ext cx="9667875" cy="2336883"/>
          </a:xfrm>
          <a:prstGeom prst="rect">
            <a:avLst/>
          </a:prstGeom>
        </p:spPr>
      </p:pic>
      <p:sp>
        <p:nvSpPr>
          <p:cNvPr id="32" name="content-15">
            <a:extLst>
              <a:ext uri="{FF2B5EF4-FFF2-40B4-BE49-F238E27FC236}">
                <a16:creationId xmlns:a16="http://schemas.microsoft.com/office/drawing/2014/main" id="{7C23B189-DF7D-4822-BBB5-BBA4E4379993}"/>
              </a:ext>
            </a:extLst>
          </p:cNvPr>
          <p:cNvSpPr>
            <a:spLocks noGrp="1"/>
          </p:cNvSpPr>
          <p:nvPr/>
        </p:nvSpPr>
        <p:spPr>
          <a:xfrm>
            <a:off x="2047875" y="5819775"/>
            <a:ext cx="9601200" cy="457200"/>
          </a:xfrm>
          <a:prstGeom prst="rect">
            <a:avLst/>
          </a:prstGeom>
          <a:noFill/>
          <a:ln w="0">
            <a:noFill/>
          </a:ln>
        </p:spPr>
        <p:txBody>
          <a:bodyPr wrap="square" lIns="0" tIns="0" rIns="0" bIns="0" anchor="t">
            <a:noAutofit/>
          </a:bodyPr>
          <a:lstStyle>
            <a:defPPr algn="l">
              <a:defRPr sz="1500" b="0" i="0">
                <a:solidFill>
                  <a:srgbClr val="666666"/>
                </a:solidFill>
                <a:latin typeface="Arial"/>
                <a:ea typeface="Arial"/>
                <a:cs typeface="Arial"/>
              </a:defRPr>
            </a:defPPr>
          </a:lstStyle>
          <a:p>
            <a:pPr algn="l">
              <a:buNone/>
              <a:defRPr sz="1500" b="0" i="0">
                <a:solidFill>
                  <a:srgbClr val="666666"/>
                </a:solidFill>
                <a:latin typeface="Arial"/>
                <a:ea typeface="Arial"/>
                <a:cs typeface="Arial"/>
              </a:defRPr>
            </a:pPr>
            <a:r>
              <a:rPr sz="1500" b="0" i="0">
                <a:solidFill>
                  <a:srgbClr val="666666"/>
                </a:solidFill>
                <a:latin typeface="Arial"/>
                <a:ea typeface="Arial"/>
                <a:cs typeface="Arial"/>
              </a:rPr>
              <a:t>CCI preparation is separate: 3.10–10.10 s/user on RTX 4090. Online timings assume explanations are available.</a:t>
            </a:r>
          </a:p>
        </p:txBody>
      </p:sp>
    </p:spTree>
    <p:extLst>
      <p:ext uri="{BB962C8B-B14F-4D97-AF65-F5344CB8AC3E}">
        <p14:creationId xmlns:p14="http://schemas.microsoft.com/office/powerpoint/2010/main" val="38309420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453161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5.1</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Scope and limitations</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4CD6C7C4-7D90-47C8-AC6F-E78EB750A687}"/>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6BB58F90-CF14-4B83-80BE-0771CF03A2B3}"/>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18 / 20</a:t>
            </a:r>
          </a:p>
        </p:txBody>
      </p:sp>
      <p:sp>
        <p:nvSpPr>
          <p:cNvPr id="29" name="content-13">
            <a:extLst>
              <a:ext uri="{FF2B5EF4-FFF2-40B4-BE49-F238E27FC236}">
                <a16:creationId xmlns:a16="http://schemas.microsoft.com/office/drawing/2014/main" id="{A3A2E8CE-F9EB-4342-8B7D-B8C6FAC4BD63}"/>
              </a:ext>
            </a:extLst>
          </p:cNvPr>
          <p:cNvSpPr>
            <a:spLocks noGrp="1"/>
          </p:cNvSpPr>
          <p:nvPr/>
        </p:nvSpPr>
        <p:spPr>
          <a:xfrm>
            <a:off x="2143125" y="1619250"/>
            <a:ext cx="9429750" cy="428625"/>
          </a:xfrm>
          <a:prstGeom prst="rect">
            <a:avLst/>
          </a:prstGeom>
          <a:noFill/>
          <a:ln w="0">
            <a:noFill/>
          </a:ln>
        </p:spPr>
        <p:txBody>
          <a:bodyPr wrap="square" lIns="0" tIns="0" rIns="0" bIns="0" anchor="t">
            <a:noAutofit/>
          </a:bodyPr>
          <a:lstStyle>
            <a:defPPr algn="l">
              <a:defRPr sz="2250" b="1" i="0">
                <a:solidFill>
                  <a:srgbClr val="122E66"/>
                </a:solidFill>
                <a:latin typeface="Arial"/>
                <a:ea typeface="Arial"/>
                <a:cs typeface="Arial"/>
              </a:defRPr>
            </a:defPPr>
          </a:lstStyle>
          <a:p>
            <a:pPr algn="l">
              <a:buNone/>
              <a:defRPr sz="2250" b="1" i="0">
                <a:solidFill>
                  <a:srgbClr val="122E66"/>
                </a:solidFill>
                <a:latin typeface="Arial"/>
                <a:ea typeface="Arial"/>
                <a:cs typeface="Arial"/>
              </a:defRPr>
            </a:pPr>
            <a:r>
              <a:rPr sz="2250" b="1" i="0">
                <a:solidFill>
                  <a:srgbClr val="122E66"/>
                </a:solidFill>
                <a:latin typeface="Arial"/>
                <a:ea typeface="Arial"/>
                <a:cs typeface="Arial"/>
              </a:rPr>
              <a:t>Cooperative deployment</a:t>
            </a:r>
          </a:p>
        </p:txBody>
      </p:sp>
      <p:sp>
        <p:nvSpPr>
          <p:cNvPr id="30" name="content-14">
            <a:extLst>
              <a:ext uri="{FF2B5EF4-FFF2-40B4-BE49-F238E27FC236}">
                <a16:creationId xmlns:a16="http://schemas.microsoft.com/office/drawing/2014/main" id="{3C0A0053-B631-4628-B238-72CA8E4C66C3}"/>
              </a:ext>
            </a:extLst>
          </p:cNvPr>
          <p:cNvSpPr>
            <a:spLocks noGrp="1"/>
          </p:cNvSpPr>
          <p:nvPr/>
        </p:nvSpPr>
        <p:spPr>
          <a:xfrm>
            <a:off x="2143125" y="2105025"/>
            <a:ext cx="9429750" cy="762000"/>
          </a:xfrm>
          <a:prstGeom prst="rect">
            <a:avLst/>
          </a:prstGeom>
          <a:noFill/>
          <a:ln w="0">
            <a:noFill/>
          </a:ln>
        </p:spPr>
        <p:txBody>
          <a:bodyPr wrap="square" lIns="0" tIns="0" rIns="0" bIns="0" anchor="t">
            <a:noAutofit/>
          </a:bodyPr>
          <a:lstStyle>
            <a:defPPr algn="l">
              <a:defRPr sz="2100" b="0" i="0">
                <a:solidFill>
                  <a:srgbClr val="202020"/>
                </a:solidFill>
                <a:latin typeface="Arial"/>
                <a:ea typeface="Arial"/>
                <a:cs typeface="Arial"/>
              </a:defRPr>
            </a:defPPr>
          </a:lstStyle>
          <a:p>
            <a:pPr algn="l">
              <a:buNone/>
              <a:defRPr sz="2100" b="0" i="0">
                <a:solidFill>
                  <a:srgbClr val="202020"/>
                </a:solidFill>
                <a:latin typeface="Arial"/>
                <a:ea typeface="Arial"/>
                <a:cs typeface="Arial"/>
              </a:defRPr>
            </a:pPr>
            <a:r>
              <a:rPr sz="2100" b="0" i="0">
                <a:solidFill>
                  <a:srgbClr val="202020"/>
                </a:solidFill>
                <a:latin typeface="Arial"/>
                <a:ea typeface="Arial"/>
                <a:cs typeface="Arial"/>
              </a:rPr>
              <a:t>The provider supplies model-side attributions through an API.</a:t>
            </a:r>
          </a:p>
        </p:txBody>
      </p:sp>
      <p:sp>
        <p:nvSpPr>
          <p:cNvPr id="31" name="content-15">
            <a:extLst>
              <a:ext uri="{FF2B5EF4-FFF2-40B4-BE49-F238E27FC236}">
                <a16:creationId xmlns:a16="http://schemas.microsoft.com/office/drawing/2014/main" id="{8B4D08AA-A882-4B77-8BCC-5F661EE55EA4}"/>
              </a:ext>
            </a:extLst>
          </p:cNvPr>
          <p:cNvSpPr>
            <a:spLocks noGrp="1"/>
          </p:cNvSpPr>
          <p:nvPr/>
        </p:nvSpPr>
        <p:spPr>
          <a:xfrm>
            <a:off x="2143125" y="3152775"/>
            <a:ext cx="9429750" cy="428625"/>
          </a:xfrm>
          <a:prstGeom prst="rect">
            <a:avLst/>
          </a:prstGeom>
          <a:noFill/>
          <a:ln w="0">
            <a:noFill/>
          </a:ln>
        </p:spPr>
        <p:txBody>
          <a:bodyPr wrap="square" lIns="0" tIns="0" rIns="0" bIns="0" anchor="t">
            <a:noAutofit/>
          </a:bodyPr>
          <a:lstStyle>
            <a:defPPr algn="l">
              <a:defRPr sz="2250" b="1" i="0">
                <a:solidFill>
                  <a:srgbClr val="122E66"/>
                </a:solidFill>
                <a:latin typeface="Arial"/>
                <a:ea typeface="Arial"/>
                <a:cs typeface="Arial"/>
              </a:defRPr>
            </a:defPPr>
          </a:lstStyle>
          <a:p>
            <a:pPr algn="l">
              <a:buNone/>
              <a:defRPr sz="2250" b="1" i="0">
                <a:solidFill>
                  <a:srgbClr val="122E66"/>
                </a:solidFill>
                <a:latin typeface="Arial"/>
                <a:ea typeface="Arial"/>
                <a:cs typeface="Arial"/>
              </a:defRPr>
            </a:pPr>
            <a:r>
              <a:rPr sz="2250" b="1" i="0">
                <a:solidFill>
                  <a:srgbClr val="122E66"/>
                </a:solidFill>
                <a:latin typeface="Arial"/>
                <a:ea typeface="Arial"/>
                <a:cs typeface="Arial"/>
              </a:rPr>
              <a:t>Intervention on observable outputs</a:t>
            </a:r>
          </a:p>
        </p:txBody>
      </p:sp>
      <p:sp>
        <p:nvSpPr>
          <p:cNvPr id="32" name="content-16">
            <a:extLst>
              <a:ext uri="{FF2B5EF4-FFF2-40B4-BE49-F238E27FC236}">
                <a16:creationId xmlns:a16="http://schemas.microsoft.com/office/drawing/2014/main" id="{61171AA3-873A-4834-99E0-FD1EC8DD77A9}"/>
              </a:ext>
            </a:extLst>
          </p:cNvPr>
          <p:cNvSpPr>
            <a:spLocks noGrp="1"/>
          </p:cNvSpPr>
          <p:nvPr/>
        </p:nvSpPr>
        <p:spPr>
          <a:xfrm>
            <a:off x="2143125" y="3648075"/>
            <a:ext cx="9429750" cy="1047750"/>
          </a:xfrm>
          <a:prstGeom prst="rect">
            <a:avLst/>
          </a:prstGeom>
          <a:noFill/>
          <a:ln w="0">
            <a:noFill/>
          </a:ln>
        </p:spPr>
        <p:txBody>
          <a:bodyPr wrap="square" lIns="0" tIns="0" rIns="0" bIns="0" anchor="t">
            <a:noAutofit/>
          </a:bodyPr>
          <a:lstStyle>
            <a:defPPr algn="l">
              <a:defRPr sz="2100" b="0" i="0">
                <a:solidFill>
                  <a:srgbClr val="202020"/>
                </a:solidFill>
                <a:latin typeface="Arial"/>
                <a:ea typeface="Arial"/>
                <a:cs typeface="Arial"/>
              </a:defRPr>
            </a:defPPr>
          </a:lstStyle>
          <a:p>
            <a:pPr algn="l">
              <a:buNone/>
              <a:defRPr sz="2100" b="0" i="0">
                <a:solidFill>
                  <a:srgbClr val="202020"/>
                </a:solidFill>
                <a:latin typeface="Arial"/>
                <a:ea typeface="Arial"/>
                <a:cs typeface="Arial"/>
              </a:defRPr>
            </a:pPr>
            <a:r>
              <a:rPr sz="2100" b="0" i="0">
                <a:solidFill>
                  <a:srgbClr val="202020"/>
                </a:solidFill>
                <a:latin typeface="Arial"/>
                <a:ea typeface="Arial"/>
                <a:cs typeface="Arial"/>
              </a:rPr>
              <a:t>Scores and rankings change. Model parameters remain fixed.</a:t>
            </a:r>
          </a:p>
          <a:p>
            <a:pPr algn="l">
              <a:buNone/>
              <a:defRPr sz="2100" b="0" i="0">
                <a:solidFill>
                  <a:srgbClr val="202020"/>
                </a:solidFill>
                <a:latin typeface="Arial"/>
                <a:ea typeface="Arial"/>
                <a:cs typeface="Arial"/>
              </a:defRPr>
            </a:pPr>
            <a:r>
              <a:rPr sz="2100" b="0" i="0">
                <a:solidFill>
                  <a:srgbClr val="202020"/>
                </a:solidFill>
                <a:latin typeface="Arial"/>
                <a:ea typeface="Arial"/>
                <a:cs typeface="Arial"/>
              </a:rPr>
              <a:t>The evidence is empirical, without certified deletion from weights.</a:t>
            </a:r>
          </a:p>
        </p:txBody>
      </p:sp>
      <p:sp>
        <p:nvSpPr>
          <p:cNvPr id="33" name="content-17">
            <a:extLst>
              <a:ext uri="{FF2B5EF4-FFF2-40B4-BE49-F238E27FC236}">
                <a16:creationId xmlns:a16="http://schemas.microsoft.com/office/drawing/2014/main" id="{09416B0D-37CD-4903-ADD8-12A902951E70}"/>
              </a:ext>
            </a:extLst>
          </p:cNvPr>
          <p:cNvSpPr>
            <a:spLocks noGrp="1"/>
          </p:cNvSpPr>
          <p:nvPr/>
        </p:nvSpPr>
        <p:spPr>
          <a:xfrm>
            <a:off x="2143125" y="5162550"/>
            <a:ext cx="9429750" cy="428625"/>
          </a:xfrm>
          <a:prstGeom prst="rect">
            <a:avLst/>
          </a:prstGeom>
          <a:noFill/>
          <a:ln w="0">
            <a:noFill/>
          </a:ln>
        </p:spPr>
        <p:txBody>
          <a:bodyPr wrap="square" lIns="0" tIns="0" rIns="0" bIns="0" anchor="t">
            <a:noAutofit/>
          </a:bodyPr>
          <a:lstStyle>
            <a:defPPr algn="l">
              <a:defRPr sz="2250" b="1" i="0">
                <a:solidFill>
                  <a:srgbClr val="122E66"/>
                </a:solidFill>
                <a:latin typeface="Arial"/>
                <a:ea typeface="Arial"/>
                <a:cs typeface="Arial"/>
              </a:defRPr>
            </a:defPPr>
          </a:lstStyle>
          <a:p>
            <a:pPr algn="l">
              <a:buNone/>
              <a:defRPr sz="2250" b="1" i="0">
                <a:solidFill>
                  <a:srgbClr val="122E66"/>
                </a:solidFill>
                <a:latin typeface="Arial"/>
                <a:ea typeface="Arial"/>
                <a:cs typeface="Arial"/>
              </a:defRPr>
            </a:pPr>
            <a:r>
              <a:rPr sz="2250" b="1" i="0">
                <a:solidFill>
                  <a:srgbClr val="122E66"/>
                </a:solidFill>
                <a:latin typeface="Arial"/>
                <a:ea typeface="Arial"/>
                <a:cs typeface="Arial"/>
              </a:rPr>
              <a:t>Open questions</a:t>
            </a:r>
          </a:p>
        </p:txBody>
      </p:sp>
      <p:sp>
        <p:nvSpPr>
          <p:cNvPr id="34" name="content-18">
            <a:extLst>
              <a:ext uri="{FF2B5EF4-FFF2-40B4-BE49-F238E27FC236}">
                <a16:creationId xmlns:a16="http://schemas.microsoft.com/office/drawing/2014/main" id="{72CBF6D5-22E7-44F8-BC44-0F59FC65C2AD}"/>
              </a:ext>
            </a:extLst>
          </p:cNvPr>
          <p:cNvSpPr>
            <a:spLocks noGrp="1"/>
          </p:cNvSpPr>
          <p:nvPr/>
        </p:nvSpPr>
        <p:spPr>
          <a:xfrm>
            <a:off x="2143125" y="5648325"/>
            <a:ext cx="9429750" cy="714375"/>
          </a:xfrm>
          <a:prstGeom prst="rect">
            <a:avLst/>
          </a:prstGeom>
          <a:noFill/>
          <a:ln w="0">
            <a:noFill/>
          </a:ln>
        </p:spPr>
        <p:txBody>
          <a:bodyPr wrap="square" lIns="0" tIns="0" rIns="0" bIns="0" anchor="t">
            <a:noAutofit/>
          </a:bodyPr>
          <a:lstStyle>
            <a:defPPr algn="l">
              <a:defRPr sz="2100" b="0" i="0">
                <a:solidFill>
                  <a:srgbClr val="202020"/>
                </a:solidFill>
                <a:latin typeface="Arial"/>
                <a:ea typeface="Arial"/>
                <a:cs typeface="Arial"/>
              </a:defRPr>
            </a:defPPr>
          </a:lstStyle>
          <a:p>
            <a:pPr algn="l">
              <a:buNone/>
              <a:defRPr sz="2100" b="0" i="0">
                <a:solidFill>
                  <a:srgbClr val="202020"/>
                </a:solidFill>
                <a:latin typeface="Arial"/>
                <a:ea typeface="Arial"/>
                <a:cs typeface="Arial"/>
              </a:defRPr>
            </a:pPr>
            <a:r>
              <a:rPr sz="2100" b="0" i="0">
                <a:solidFill>
                  <a:srgbClr val="202020"/>
                </a:solidFill>
                <a:latin typeface="Arial"/>
                <a:ea typeface="Arial"/>
                <a:cs typeface="Arial"/>
              </a:rPr>
              <a:t>Stronger attackers, cache refresh and sequential forgetting requests.</a:t>
            </a:r>
          </a:p>
        </p:txBody>
      </p:sp>
    </p:spTree>
    <p:extLst>
      <p:ext uri="{BB962C8B-B14F-4D97-AF65-F5344CB8AC3E}">
        <p14:creationId xmlns:p14="http://schemas.microsoft.com/office/powerpoint/2010/main" val="38309420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6849FAEE-AEC4-C5C5-C0BD-C47BFC060404}"/>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矩形 6">
            <a:extLst>
              <a:ext uri="{FF2B5EF4-FFF2-40B4-BE49-F238E27FC236}">
                <a16:creationId xmlns:a16="http://schemas.microsoft.com/office/drawing/2014/main" id="{43558F83-DECD-8F4C-2899-EBC5E3D54EA1}"/>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圆角 3">
            <a:extLst>
              <a:ext uri="{FF2B5EF4-FFF2-40B4-BE49-F238E27FC236}">
                <a16:creationId xmlns:a16="http://schemas.microsoft.com/office/drawing/2014/main" id="{2F61C1E0-6AED-C1A5-A361-B45CF29EC1DB}"/>
              </a:ext>
            </a:extLst>
          </p:cNvPr>
          <p:cNvSpPr>
            <a:spLocks noGrp="1"/>
          </p:cNvSpPr>
          <p:nvPr/>
        </p:nvSpPr>
        <p:spPr>
          <a:xfrm>
            <a:off x="114300" y="453161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5" name="文本框 4">
            <a:extLst>
              <a:ext uri="{FF2B5EF4-FFF2-40B4-BE49-F238E27FC236}">
                <a16:creationId xmlns:a16="http://schemas.microsoft.com/office/drawing/2014/main" id="{2AC64E5E-FC4B-0347-F8AA-A290B4ED3ADA}"/>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tx1">
                  <a:lumMod val="85000"/>
                  <a:lumOff val="15000"/>
                </a:schemeClr>
              </a:solidFill>
              <a:latin typeface="阿里巴巴普惠体 R"/>
              <a:ea typeface="阿里巴巴普惠体 R"/>
              <a:cs typeface="阿里巴巴普惠体 R"/>
            </a:endParaRPr>
          </a:p>
        </p:txBody>
      </p:sp>
      <p:sp>
        <p:nvSpPr>
          <p:cNvPr id="18" name="文本框 17">
            <a:extLst>
              <a:ext uri="{FF2B5EF4-FFF2-40B4-BE49-F238E27FC236}">
                <a16:creationId xmlns:a16="http://schemas.microsoft.com/office/drawing/2014/main" id="{F9F7166F-07A0-6C76-5070-3FFF3681A041}"/>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EAF0D29E-5145-053F-FAAA-7C1A57C182D0}"/>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20" name="文本框 19">
            <a:extLst>
              <a:ext uri="{FF2B5EF4-FFF2-40B4-BE49-F238E27FC236}">
                <a16:creationId xmlns:a16="http://schemas.microsoft.com/office/drawing/2014/main" id="{A4E11644-CB8C-0AFB-2DEA-7AC394F3474B}"/>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latin typeface="阿里巴巴普惠体 R"/>
              <a:ea typeface="阿里巴巴普惠体 R"/>
              <a:cs typeface="阿里巴巴普惠体 R"/>
            </a:endParaRPr>
          </a:p>
        </p:txBody>
      </p:sp>
      <p:sp>
        <p:nvSpPr>
          <p:cNvPr id="26" name="文本框 25">
            <a:extLst>
              <a:ext uri="{FF2B5EF4-FFF2-40B4-BE49-F238E27FC236}">
                <a16:creationId xmlns:a16="http://schemas.microsoft.com/office/drawing/2014/main" id="{8192AA93-BC5F-4FA9-8606-7DD306F058A8}"/>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Conclusions</a:t>
            </a:r>
            <a:endParaRPr sz="1400">
              <a:solidFill>
                <a:schemeClr val="bg1">
                  <a:lumMod val="50000"/>
                </a:schemeClr>
              </a:solidFill>
              <a:latin typeface="阿里巴巴普惠体 R"/>
              <a:ea typeface="阿里巴巴普惠体 R"/>
              <a:cs typeface="阿里巴巴普惠体 R"/>
            </a:endParaRPr>
          </a:p>
        </p:txBody>
      </p:sp>
      <p:sp>
        <p:nvSpPr>
          <p:cNvPr id="17" name="直接连接符 16">
            <a:extLst>
              <a:ext uri="{FF2B5EF4-FFF2-40B4-BE49-F238E27FC236}">
                <a16:creationId xmlns:a16="http://schemas.microsoft.com/office/drawing/2014/main" id="{F82EA389-D50A-49A6-8A22-9D41C8C74950}"/>
              </a:ext>
            </a:extLst>
          </p:cNvPr>
          <p:cNvSpPr>
            <a:spLocks noGrp="1"/>
          </p:cNvSpPr>
          <p:nvPr/>
        </p:nvSpPr>
        <p:spPr>
          <a:xfrm>
            <a:off x="1774438" y="439921"/>
            <a:ext cx="0" cy="345325"/>
          </a:xfrm>
          <a:prstGeom prst="line">
            <a:avLst/>
          </a:prstGeom>
          <a:ln w="92075">
            <a:solidFill>
              <a:srgbClr val="122E66"/>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24" name="文本框 23">
            <a:extLst>
              <a:ext uri="{FF2B5EF4-FFF2-40B4-BE49-F238E27FC236}">
                <a16:creationId xmlns:a16="http://schemas.microsoft.com/office/drawing/2014/main" id="{B6E29A59-059C-9809-D6C8-2D9C23CE6B6A}"/>
              </a:ext>
            </a:extLst>
          </p:cNvPr>
          <p:cNvSpPr>
            <a:spLocks noGrp="1"/>
          </p:cNvSpPr>
          <p:nvPr/>
        </p:nvSpPr>
        <p:spPr>
          <a:xfrm>
            <a:off x="1943100" y="447675"/>
            <a:ext cx="600075" cy="400050"/>
          </a:xfrm>
          <a:prstGeom prst="rect">
            <a:avLst/>
          </a:prstGeom>
          <a:noFill/>
        </p:spPr>
        <p:txBody>
          <a:bodyPr wrap="square" lIns="0" tIns="0" rIns="0" bIns="0" anchor="t">
            <a:noAutofit/>
          </a:bodyPr>
          <a:lstStyle>
            <a:defPPr algn="l">
              <a:defRPr sz="2025" b="0">
                <a:solidFill>
                  <a:srgbClr val="202020"/>
                </a:solidFill>
                <a:latin typeface="Calibri"/>
                <a:ea typeface="Calibri"/>
                <a:cs typeface="Calibri"/>
              </a:defRPr>
            </a:defPPr>
          </a:lstStyle>
          <a:p>
            <a:pPr algn="l">
              <a:buNone/>
              <a:defRPr sz="2025" b="0">
                <a:solidFill>
                  <a:srgbClr val="202020"/>
                </a:solidFill>
                <a:latin typeface="Calibri"/>
                <a:ea typeface="Calibri"/>
                <a:cs typeface="Calibri"/>
              </a:defRPr>
            </a:pPr>
            <a:r>
              <a:rPr sz="2025" b="0">
                <a:solidFill>
                  <a:srgbClr val="202020"/>
                </a:solidFill>
                <a:latin typeface="Calibri"/>
                <a:ea typeface="Calibri"/>
                <a:cs typeface="Calibri"/>
              </a:rPr>
              <a:t>5.2</a:t>
            </a:r>
            <a:endParaRPr sz="2000">
              <a:latin typeface="OPPOSans B"/>
              <a:ea typeface="OPPOSans B"/>
              <a:cs typeface="OPPOSans B"/>
            </a:endParaRPr>
          </a:p>
        </p:txBody>
      </p:sp>
      <p:sp>
        <p:nvSpPr>
          <p:cNvPr id="23" name="文本框 22">
            <a:extLst>
              <a:ext uri="{FF2B5EF4-FFF2-40B4-BE49-F238E27FC236}">
                <a16:creationId xmlns:a16="http://schemas.microsoft.com/office/drawing/2014/main" id="{ED03D09C-0A85-EABD-E98F-FFA55D8BC84E}"/>
              </a:ext>
            </a:extLst>
          </p:cNvPr>
          <p:cNvSpPr>
            <a:spLocks noGrp="1"/>
          </p:cNvSpPr>
          <p:nvPr/>
        </p:nvSpPr>
        <p:spPr>
          <a:xfrm>
            <a:off x="2590800" y="447675"/>
            <a:ext cx="9144000" cy="411480"/>
          </a:xfrm>
          <a:prstGeom prst="rect">
            <a:avLst/>
          </a:prstGeom>
          <a:noFill/>
        </p:spPr>
        <p:txBody>
          <a:bodyPr wrap="square" lIns="0" tIns="0" rIns="0" bIns="0" anchor="t">
            <a:noAutofit/>
          </a:bodyPr>
          <a:lstStyle>
            <a:defPPr algn="l">
              <a:defRPr sz="2100" b="0">
                <a:solidFill>
                  <a:srgbClr val="202020"/>
                </a:solidFill>
                <a:latin typeface="Calibri"/>
                <a:ea typeface="Calibri"/>
                <a:cs typeface="Calibri"/>
              </a:defRPr>
            </a:defPPr>
          </a:lstStyle>
          <a:p>
            <a:pPr algn="l">
              <a:buNone/>
              <a:defRPr sz="2100" b="0">
                <a:solidFill>
                  <a:srgbClr val="202020"/>
                </a:solidFill>
                <a:latin typeface="Calibri"/>
                <a:ea typeface="Calibri"/>
                <a:cs typeface="Calibri"/>
              </a:defRPr>
            </a:pPr>
            <a:r>
              <a:rPr sz="2100" b="0">
                <a:solidFill>
                  <a:srgbClr val="202020"/>
                </a:solidFill>
                <a:latin typeface="Calibri"/>
                <a:ea typeface="Calibri"/>
                <a:cs typeface="Calibri"/>
              </a:rPr>
              <a:t>Conclusions</a:t>
            </a:r>
            <a:endParaRPr sz="2000">
              <a:latin typeface="OPPOSans B"/>
              <a:ea typeface="OPPOSans B"/>
              <a:cs typeface="OPPOSans B"/>
            </a:endParaRPr>
          </a:p>
        </p:txBody>
      </p:sp>
      <p:sp>
        <p:nvSpPr>
          <p:cNvPr id="8" name="直接连接符 7">
            <a:extLst>
              <a:ext uri="{FF2B5EF4-FFF2-40B4-BE49-F238E27FC236}">
                <a16:creationId xmlns:a16="http://schemas.microsoft.com/office/drawing/2014/main" id="{E3930EAB-7373-455B-A9EA-CCC193AF6EDE}"/>
              </a:ext>
            </a:extLst>
          </p:cNvPr>
          <p:cNvSpPr>
            <a:spLocks noGrp="1"/>
          </p:cNvSpPr>
          <p:nvPr/>
        </p:nvSpPr>
        <p:spPr>
          <a:xfrm>
            <a:off x="1626114" y="1121789"/>
            <a:ext cx="102940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pic>
        <p:nvPicPr>
          <p:cNvPr id="27" name="图片 26">
            <a:extLst>
              <a:ext uri="{FF2B5EF4-FFF2-40B4-BE49-F238E27FC236}">
                <a16:creationId xmlns:a16="http://schemas.microsoft.com/office/drawing/2014/main" id="{1B5F8A6D-9471-4AA6-AB2F-04F40CB7DCC7}"/>
              </a:ext>
            </a:extLst>
          </p:cNvPr>
          <p:cNvPicPr>
            <a:picLocks noChangeAspect="1"/>
          </p:cNvPicPr>
          <p:nvPr/>
        </p:nvPicPr>
        <p:blipFill>
          <a:blip r:embed="rId3"/>
          <a:stretch/>
        </p:blipFill>
        <p:spPr>
          <a:xfrm>
            <a:off x="114300" y="647254"/>
            <a:ext cx="1400175" cy="277118"/>
          </a:xfrm>
          <a:prstGeom prst="rect">
            <a:avLst/>
          </a:prstGeom>
        </p:spPr>
      </p:pic>
      <p:sp>
        <p:nvSpPr>
          <p:cNvPr id="28" name="page-number">
            <a:extLst>
              <a:ext uri="{FF2B5EF4-FFF2-40B4-BE49-F238E27FC236}">
                <a16:creationId xmlns:a16="http://schemas.microsoft.com/office/drawing/2014/main" id="{0E202413-ECE5-411C-B42C-76DF573081C5}"/>
              </a:ext>
            </a:extLst>
          </p:cNvPr>
          <p:cNvSpPr>
            <a:spLocks noGrp="1"/>
          </p:cNvSpPr>
          <p:nvPr/>
        </p:nvSpPr>
        <p:spPr>
          <a:xfrm>
            <a:off x="11029950" y="6562725"/>
            <a:ext cx="914400" cy="228600"/>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19 / 20</a:t>
            </a:r>
          </a:p>
        </p:txBody>
      </p:sp>
      <p:sp>
        <p:nvSpPr>
          <p:cNvPr id="29" name="content-13">
            <a:extLst>
              <a:ext uri="{FF2B5EF4-FFF2-40B4-BE49-F238E27FC236}">
                <a16:creationId xmlns:a16="http://schemas.microsoft.com/office/drawing/2014/main" id="{82DBF0AB-EF28-406E-9158-29BA7B292CC6}"/>
              </a:ext>
            </a:extLst>
          </p:cNvPr>
          <p:cNvSpPr>
            <a:spLocks noGrp="1"/>
          </p:cNvSpPr>
          <p:nvPr/>
        </p:nvSpPr>
        <p:spPr>
          <a:xfrm>
            <a:off x="2190750" y="1752600"/>
            <a:ext cx="9286875" cy="3429000"/>
          </a:xfrm>
          <a:prstGeom prst="rect">
            <a:avLst/>
          </a:prstGeom>
          <a:noFill/>
          <a:ln w="0">
            <a:noFill/>
          </a:ln>
        </p:spPr>
        <p:txBody>
          <a:bodyPr wrap="square" lIns="0" tIns="0" rIns="0" bIns="0" anchor="t">
            <a:noAutofit/>
          </a:bodyPr>
          <a:lstStyle>
            <a:defPPr algn="l">
              <a:defRPr sz="2325" b="0" i="0">
                <a:solidFill>
                  <a:srgbClr val="202020"/>
                </a:solidFill>
                <a:latin typeface="Arial"/>
                <a:ea typeface="Arial"/>
                <a:cs typeface="Arial"/>
              </a:defRPr>
            </a:defPPr>
          </a:lstStyle>
          <a:p>
            <a:pPr marL="228600" indent="-139700" algn="l">
              <a:spcAft>
                <a:spcPts val="2900"/>
              </a:spcAft>
              <a:buChar char="•"/>
              <a:defRPr sz="2325" b="0" i="0">
                <a:solidFill>
                  <a:srgbClr val="202020"/>
                </a:solidFill>
                <a:latin typeface="Arial"/>
                <a:ea typeface="Arial"/>
                <a:cs typeface="Arial"/>
              </a:defRPr>
            </a:pPr>
            <a:r>
              <a:t>Asymmetric access separates the forgetting request from control of model parameters.</a:t>
            </a:r>
          </a:p>
          <a:p>
            <a:pPr marL="228600" indent="-139700" algn="l">
              <a:spcAft>
                <a:spcPts val="2900"/>
              </a:spcAft>
              <a:buChar char="•"/>
              <a:defRPr sz="2325" b="0" i="0">
                <a:solidFill>
                  <a:srgbClr val="202020"/>
                </a:solidFill>
                <a:latin typeface="Arial"/>
                <a:ea typeface="Arial"/>
                <a:cs typeface="Arial"/>
              </a:defRPr>
            </a:pPr>
            <a:r>
              <a:t>Counterfactual explanations identify which candidates to adjust and the strength of the adjustment.</a:t>
            </a:r>
          </a:p>
          <a:p>
            <a:pPr marL="228600" indent="-139700" algn="l">
              <a:spcAft>
                <a:spcPts val="2900"/>
              </a:spcAft>
              <a:buChar char="•"/>
              <a:defRPr sz="2325" b="0" i="0">
                <a:solidFill>
                  <a:srgbClr val="202020"/>
                </a:solidFill>
                <a:latin typeface="Arial"/>
                <a:ea typeface="Arial"/>
                <a:cs typeface="Arial"/>
              </a:defRPr>
            </a:pPr>
            <a:r>
              <a:t>Targeted score adjustment preserves useful recommendations and reduces online cost in the reported experiments.</a:t>
            </a:r>
          </a:p>
        </p:txBody>
      </p:sp>
      <p:sp>
        <p:nvSpPr>
          <p:cNvPr id="30" name="content-14">
            <a:extLst>
              <a:ext uri="{FF2B5EF4-FFF2-40B4-BE49-F238E27FC236}">
                <a16:creationId xmlns:a16="http://schemas.microsoft.com/office/drawing/2014/main" id="{F8961D64-BAF5-438C-A287-9E1D5118B9B4}"/>
              </a:ext>
            </a:extLst>
          </p:cNvPr>
          <p:cNvSpPr>
            <a:spLocks noGrp="1"/>
          </p:cNvSpPr>
          <p:nvPr/>
        </p:nvSpPr>
        <p:spPr>
          <a:xfrm>
            <a:off x="2143125" y="5762625"/>
            <a:ext cx="9429750" cy="609600"/>
          </a:xfrm>
          <a:prstGeom prst="rect">
            <a:avLst/>
          </a:prstGeom>
          <a:noFill/>
          <a:ln w="0">
            <a:noFill/>
          </a:ln>
        </p:spPr>
        <p:txBody>
          <a:bodyPr wrap="square" lIns="0" tIns="0" rIns="0" bIns="0" anchor="t">
            <a:noAutofit/>
          </a:bodyPr>
          <a:lstStyle>
            <a:defPPr algn="l">
              <a:defRPr sz="2175" b="0" i="0">
                <a:solidFill>
                  <a:srgbClr val="122E66"/>
                </a:solidFill>
                <a:latin typeface="Arial"/>
                <a:ea typeface="Arial"/>
                <a:cs typeface="Arial"/>
              </a:defRPr>
            </a:defPPr>
          </a:lstStyle>
          <a:p>
            <a:pPr algn="l">
              <a:buNone/>
              <a:defRPr sz="2175" b="0" i="0">
                <a:solidFill>
                  <a:srgbClr val="122E66"/>
                </a:solidFill>
                <a:latin typeface="Arial"/>
                <a:ea typeface="Arial"/>
                <a:cs typeface="Arial"/>
              </a:defRPr>
            </a:pPr>
            <a:r>
              <a:rPr sz="2175" b="0" i="0">
                <a:solidFill>
                  <a:srgbClr val="122E66"/>
                </a:solidFill>
                <a:latin typeface="Arial"/>
                <a:ea typeface="Arial"/>
                <a:cs typeface="Arial"/>
              </a:rPr>
              <a:t>Explanation quality is central to the utility–forgetting balance.</a:t>
            </a:r>
          </a:p>
        </p:txBody>
      </p:sp>
    </p:spTree>
    <p:extLst>
      <p:ext uri="{BB962C8B-B14F-4D97-AF65-F5344CB8AC3E}">
        <p14:creationId xmlns:p14="http://schemas.microsoft.com/office/powerpoint/2010/main" val="3830942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863E7087-659C-4476-8032-97095AEDB337}"/>
              </a:ext>
            </a:extLst>
          </p:cNvPr>
          <p:cNvSpPr>
            <a:spLocks noGrp="1"/>
          </p:cNvSpPr>
          <p:nvPr/>
        </p:nvSpPr>
        <p:spPr>
          <a:xfrm>
            <a:off x="179223" y="997360"/>
            <a:ext cx="11991009" cy="3468914"/>
          </a:xfrm>
          <a:prstGeom prst="rect">
            <a:avLst/>
          </a:prstGeom>
          <a:blipFill>
            <a:blip r:embed="rId3"/>
            <a:stretch>
              <a:fillRect/>
            </a:stretch>
          </a:blipFill>
        </p:spPr>
        <p:txBody>
          <a:bodyPr wrap="square" lIns="0" tIns="0" rIns="0" bIns="0"/>
          <a:lstStyle/>
          <a:p>
            <a:endParaRPr/>
          </a:p>
        </p:txBody>
      </p:sp>
      <p:sp>
        <p:nvSpPr>
          <p:cNvPr id="9" name="object 9">
            <a:extLst>
              <a:ext uri="{FF2B5EF4-FFF2-40B4-BE49-F238E27FC236}">
                <a16:creationId xmlns:a16="http://schemas.microsoft.com/office/drawing/2014/main" id="{932EBCCF-FC14-4DBA-843A-BC6A519C1B3D}"/>
              </a:ext>
            </a:extLst>
          </p:cNvPr>
          <p:cNvSpPr>
            <a:spLocks noGrp="1"/>
          </p:cNvSpPr>
          <p:nvPr>
            <p:ph type="title"/>
          </p:nvPr>
        </p:nvSpPr>
        <p:spPr>
          <a:xfrm>
            <a:off x="4531519" y="3799713"/>
            <a:ext cx="4733258" cy="807085"/>
          </a:xfrm>
          <a:prstGeom prst="rect">
            <a:avLst/>
          </a:prstGeom>
          <a:solidFill>
            <a:srgbClr val="122E66"/>
          </a:solidFill>
        </p:spPr>
        <p:txBody>
          <a:bodyPr vert="horz" wrap="square" lIns="0" tIns="0" rIns="0" bIns="0" anchor="t">
            <a:noAutofit/>
          </a:bodyPr>
          <a:lstStyle>
            <a:defPPr algn="ctr">
              <a:defRPr sz="5100" b="1">
                <a:solidFill>
                  <a:srgbClr val="FFFFFF"/>
                </a:solidFill>
                <a:latin typeface="Calibri"/>
                <a:ea typeface="Calibri"/>
                <a:cs typeface="Calibri"/>
              </a:defRPr>
            </a:defPPr>
          </a:lstStyle>
          <a:p>
            <a:pPr marL="477520" algn="ctr">
              <a:lnSpc>
                <a:spcPct val="100000"/>
              </a:lnSpc>
              <a:spcBef>
                <a:spcPts val="235"/>
              </a:spcBef>
              <a:buNone/>
              <a:defRPr sz="5100" b="1">
                <a:solidFill>
                  <a:srgbClr val="FFFFFF"/>
                </a:solidFill>
                <a:latin typeface="Calibri"/>
                <a:ea typeface="Calibri"/>
                <a:cs typeface="Calibri"/>
              </a:defRPr>
            </a:pPr>
            <a:r>
              <a:rPr sz="5100" b="1" spc="-5">
                <a:solidFill>
                  <a:srgbClr val="FFFFFF"/>
                </a:solidFill>
                <a:latin typeface="Calibri"/>
                <a:ea typeface="Calibri"/>
                <a:cs typeface="Calibri"/>
              </a:rPr>
              <a:t>THANK YOU</a:t>
            </a:r>
            <a:endParaRPr sz="6000">
              <a:latin typeface="Calibri"/>
              <a:ea typeface="Calibri"/>
              <a:cs typeface="Calibri"/>
            </a:endParaRPr>
          </a:p>
        </p:txBody>
      </p:sp>
      <p:sp>
        <p:nvSpPr>
          <p:cNvPr id="12" name="矩形 11">
            <a:extLst>
              <a:ext uri="{FF2B5EF4-FFF2-40B4-BE49-F238E27FC236}">
                <a16:creationId xmlns:a16="http://schemas.microsoft.com/office/drawing/2014/main" id="{6AAE2C03-A594-C037-8F86-75E30CF14440}"/>
              </a:ext>
            </a:extLst>
          </p:cNvPr>
          <p:cNvSpPr>
            <a:spLocks noGrp="1"/>
          </p:cNvSpPr>
          <p:nvPr/>
        </p:nvSpPr>
        <p:spPr>
          <a:xfrm>
            <a:off x="0" y="0"/>
            <a:ext cx="12192000" cy="163640"/>
          </a:xfrm>
          <a:prstGeom prst="rect">
            <a:avLst/>
          </a:prstGeom>
          <a:solidFill>
            <a:srgbClr val="122E66"/>
          </a:solidFill>
          <a:ln>
            <a:noFill/>
          </a:ln>
          <a:effectLst>
            <a:outerShdw blurRad="2159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矩形 13">
            <a:extLst>
              <a:ext uri="{FF2B5EF4-FFF2-40B4-BE49-F238E27FC236}">
                <a16:creationId xmlns:a16="http://schemas.microsoft.com/office/drawing/2014/main" id="{4F4D95AE-ABDF-142D-34B7-CA584B938549}"/>
              </a:ext>
            </a:extLst>
          </p:cNvPr>
          <p:cNvSpPr>
            <a:spLocks noGrp="1"/>
          </p:cNvSpPr>
          <p:nvPr/>
        </p:nvSpPr>
        <p:spPr>
          <a:xfrm>
            <a:off x="-2" y="163629"/>
            <a:ext cx="1626111" cy="6686208"/>
          </a:xfrm>
          <a:prstGeom prst="rect">
            <a:avLst/>
          </a:prstGeom>
          <a:solidFill>
            <a:schemeClr val="bg1"/>
          </a:solidFill>
          <a:ln>
            <a:noFill/>
          </a:ln>
          <a:effectLst>
            <a:outerShdw blurRad="139700" dist="38100" algn="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矩形: 圆角 3">
            <a:extLst>
              <a:ext uri="{FF2B5EF4-FFF2-40B4-BE49-F238E27FC236}">
                <a16:creationId xmlns:a16="http://schemas.microsoft.com/office/drawing/2014/main" id="{C9A00E83-0BDD-1D45-83A9-ECD49D50B81B}"/>
              </a:ext>
            </a:extLst>
          </p:cNvPr>
          <p:cNvSpPr>
            <a:spLocks noGrp="1"/>
          </p:cNvSpPr>
          <p:nvPr/>
        </p:nvSpPr>
        <p:spPr>
          <a:xfrm>
            <a:off x="114300" y="4531614"/>
            <a:ext cx="1400175" cy="364808"/>
          </a:xfrm>
          <a:prstGeom prst="roundRect">
            <a:avLst>
              <a:gd name="adj" fmla="val 50000"/>
            </a:avLst>
          </a:prstGeom>
          <a:solidFill>
            <a:schemeClr val="bg1">
              <a:lumMod val="95000"/>
            </a:schemeClr>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400"/>
          </a:p>
        </p:txBody>
      </p:sp>
      <p:sp>
        <p:nvSpPr>
          <p:cNvPr id="16" name="文本框 15">
            <a:extLst>
              <a:ext uri="{FF2B5EF4-FFF2-40B4-BE49-F238E27FC236}">
                <a16:creationId xmlns:a16="http://schemas.microsoft.com/office/drawing/2014/main" id="{2E56D08E-2609-BCF6-AA90-18F85A4CFF88}"/>
              </a:ext>
            </a:extLst>
          </p:cNvPr>
          <p:cNvSpPr>
            <a:spLocks noGrp="1"/>
          </p:cNvSpPr>
          <p:nvPr/>
        </p:nvSpPr>
        <p:spPr>
          <a:xfrm>
            <a:off x="76200" y="192405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Motivation</a:t>
            </a:r>
            <a:endParaRPr sz="1400">
              <a:solidFill>
                <a:schemeClr val="bg1">
                  <a:lumMod val="50000"/>
                </a:schemeClr>
              </a:solidFill>
            </a:endParaRPr>
          </a:p>
        </p:txBody>
      </p:sp>
      <p:sp>
        <p:nvSpPr>
          <p:cNvPr id="17" name="文本框 16">
            <a:extLst>
              <a:ext uri="{FF2B5EF4-FFF2-40B4-BE49-F238E27FC236}">
                <a16:creationId xmlns:a16="http://schemas.microsoft.com/office/drawing/2014/main" id="{7FE0884C-763D-2DFA-9B87-E73315A2DE0E}"/>
              </a:ext>
            </a:extLst>
          </p:cNvPr>
          <p:cNvSpPr>
            <a:spLocks noGrp="1"/>
          </p:cNvSpPr>
          <p:nvPr/>
        </p:nvSpPr>
        <p:spPr>
          <a:xfrm>
            <a:off x="76200" y="258127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Contributions</a:t>
            </a:r>
            <a:endParaRPr sz="1400">
              <a:solidFill>
                <a:schemeClr val="bg1">
                  <a:lumMod val="50000"/>
                </a:schemeClr>
              </a:solidFill>
            </a:endParaRPr>
          </a:p>
        </p:txBody>
      </p:sp>
      <p:sp>
        <p:nvSpPr>
          <p:cNvPr id="18" name="文本框 17">
            <a:extLst>
              <a:ext uri="{FF2B5EF4-FFF2-40B4-BE49-F238E27FC236}">
                <a16:creationId xmlns:a16="http://schemas.microsoft.com/office/drawing/2014/main" id="{E164CDD9-E1CF-530E-3756-F8C60CEA2234}"/>
              </a:ext>
            </a:extLst>
          </p:cNvPr>
          <p:cNvSpPr>
            <a:spLocks noGrp="1"/>
          </p:cNvSpPr>
          <p:nvPr/>
        </p:nvSpPr>
        <p:spPr>
          <a:xfrm>
            <a:off x="76200" y="3238500"/>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Method</a:t>
            </a:r>
            <a:endParaRPr sz="1400">
              <a:solidFill>
                <a:schemeClr val="bg1">
                  <a:lumMod val="50000"/>
                </a:schemeClr>
              </a:solidFill>
              <a:latin typeface="阿里巴巴普惠体 R"/>
              <a:ea typeface="阿里巴巴普惠体 R"/>
              <a:cs typeface="阿里巴巴普惠体 R"/>
            </a:endParaRPr>
          </a:p>
        </p:txBody>
      </p:sp>
      <p:sp>
        <p:nvSpPr>
          <p:cNvPr id="19" name="文本框 18">
            <a:extLst>
              <a:ext uri="{FF2B5EF4-FFF2-40B4-BE49-F238E27FC236}">
                <a16:creationId xmlns:a16="http://schemas.microsoft.com/office/drawing/2014/main" id="{BF1B6818-8196-6C73-C56B-483933A05EC0}"/>
              </a:ext>
            </a:extLst>
          </p:cNvPr>
          <p:cNvSpPr>
            <a:spLocks noGrp="1"/>
          </p:cNvSpPr>
          <p:nvPr/>
        </p:nvSpPr>
        <p:spPr>
          <a:xfrm>
            <a:off x="76200" y="3895725"/>
            <a:ext cx="1466850" cy="417195"/>
          </a:xfrm>
          <a:prstGeom prst="rect">
            <a:avLst/>
          </a:prstGeom>
          <a:noFill/>
        </p:spPr>
        <p:txBody>
          <a:bodyPr wrap="square" lIns="0" tIns="0" rIns="0" bIns="0" anchor="t">
            <a:noAutofit/>
          </a:bodyPr>
          <a:lstStyle>
            <a:defPPr algn="ctr">
              <a:defRPr sz="1425" b="0">
                <a:solidFill>
                  <a:srgbClr val="777777"/>
                </a:solidFill>
                <a:latin typeface="Calibri"/>
                <a:ea typeface="Calibri"/>
                <a:cs typeface="Calibri"/>
              </a:defRPr>
            </a:defPPr>
          </a:lstStyle>
          <a:p>
            <a:pPr algn="ctr">
              <a:lnSpc>
                <a:spcPct val="150000"/>
              </a:lnSpc>
              <a:buNone/>
              <a:defRPr sz="1425" b="0">
                <a:solidFill>
                  <a:srgbClr val="777777"/>
                </a:solidFill>
                <a:latin typeface="Calibri"/>
                <a:ea typeface="Calibri"/>
                <a:cs typeface="Calibri"/>
              </a:defRPr>
            </a:pPr>
            <a:r>
              <a:rPr sz="1425" b="0">
                <a:solidFill>
                  <a:srgbClr val="777777"/>
                </a:solidFill>
                <a:latin typeface="Calibri"/>
                <a:ea typeface="Calibri"/>
                <a:cs typeface="Calibri"/>
              </a:rPr>
              <a:t>Experiments</a:t>
            </a:r>
            <a:endParaRPr sz="1400">
              <a:solidFill>
                <a:schemeClr val="bg1">
                  <a:lumMod val="50000"/>
                </a:schemeClr>
              </a:solidFill>
            </a:endParaRPr>
          </a:p>
        </p:txBody>
      </p:sp>
      <p:sp>
        <p:nvSpPr>
          <p:cNvPr id="20" name="文本框 19">
            <a:extLst>
              <a:ext uri="{FF2B5EF4-FFF2-40B4-BE49-F238E27FC236}">
                <a16:creationId xmlns:a16="http://schemas.microsoft.com/office/drawing/2014/main" id="{4BCD5795-BC10-4498-5058-025446D15C2F}"/>
              </a:ext>
            </a:extLst>
          </p:cNvPr>
          <p:cNvSpPr>
            <a:spLocks noGrp="1"/>
          </p:cNvSpPr>
          <p:nvPr/>
        </p:nvSpPr>
        <p:spPr>
          <a:xfrm>
            <a:off x="76200" y="4552950"/>
            <a:ext cx="1466850" cy="417195"/>
          </a:xfrm>
          <a:prstGeom prst="rect">
            <a:avLst/>
          </a:prstGeom>
          <a:noFill/>
        </p:spPr>
        <p:txBody>
          <a:bodyPr wrap="square" lIns="0" tIns="0" rIns="0" bIns="0" anchor="t">
            <a:noAutofit/>
          </a:bodyPr>
          <a:lstStyle>
            <a:defPPr algn="ctr">
              <a:defRPr sz="1425" b="1">
                <a:solidFill>
                  <a:srgbClr val="122E66"/>
                </a:solidFill>
                <a:latin typeface="Calibri"/>
                <a:ea typeface="Calibri"/>
                <a:cs typeface="Calibri"/>
              </a:defRPr>
            </a:defPPr>
          </a:lstStyle>
          <a:p>
            <a:pPr algn="ctr">
              <a:lnSpc>
                <a:spcPct val="150000"/>
              </a:lnSpc>
              <a:buNone/>
              <a:defRPr sz="1425" b="1">
                <a:solidFill>
                  <a:srgbClr val="122E66"/>
                </a:solidFill>
                <a:latin typeface="Calibri"/>
                <a:ea typeface="Calibri"/>
                <a:cs typeface="Calibri"/>
              </a:defRPr>
            </a:pPr>
            <a:r>
              <a:rPr sz="1425" b="1">
                <a:solidFill>
                  <a:srgbClr val="122E66"/>
                </a:solidFill>
                <a:latin typeface="Calibri"/>
                <a:ea typeface="Calibri"/>
                <a:cs typeface="Calibri"/>
              </a:rPr>
              <a:t>Conclusions</a:t>
            </a:r>
            <a:endParaRPr sz="1400">
              <a:solidFill>
                <a:schemeClr val="tx1">
                  <a:lumMod val="85000"/>
                  <a:lumOff val="15000"/>
                </a:schemeClr>
              </a:solidFill>
            </a:endParaRPr>
          </a:p>
        </p:txBody>
      </p:sp>
      <p:pic>
        <p:nvPicPr>
          <p:cNvPr id="21" name="图片 20">
            <a:extLst>
              <a:ext uri="{FF2B5EF4-FFF2-40B4-BE49-F238E27FC236}">
                <a16:creationId xmlns:a16="http://schemas.microsoft.com/office/drawing/2014/main" id="{FD240E9A-4FD0-4740-A143-5C256AF914B6}"/>
              </a:ext>
            </a:extLst>
          </p:cNvPr>
          <p:cNvPicPr>
            <a:picLocks noChangeAspect="1"/>
          </p:cNvPicPr>
          <p:nvPr/>
        </p:nvPicPr>
        <p:blipFill>
          <a:blip r:embed="rId4"/>
          <a:stretch/>
        </p:blipFill>
        <p:spPr>
          <a:xfrm>
            <a:off x="114300" y="647254"/>
            <a:ext cx="1400175" cy="277118"/>
          </a:xfrm>
          <a:prstGeom prst="rect">
            <a:avLst/>
          </a:prstGeom>
        </p:spPr>
      </p:pic>
      <p:sp>
        <p:nvSpPr>
          <p:cNvPr id="22" name="content-10">
            <a:extLst>
              <a:ext uri="{FF2B5EF4-FFF2-40B4-BE49-F238E27FC236}">
                <a16:creationId xmlns:a16="http://schemas.microsoft.com/office/drawing/2014/main" id="{87803021-49B6-4951-9948-CF73068C0EB2}"/>
              </a:ext>
            </a:extLst>
          </p:cNvPr>
          <p:cNvSpPr>
            <a:spLocks noGrp="1"/>
          </p:cNvSpPr>
          <p:nvPr/>
        </p:nvSpPr>
        <p:spPr>
          <a:xfrm>
            <a:off x="1943100" y="447675"/>
            <a:ext cx="9715500" cy="476250"/>
          </a:xfrm>
          <a:prstGeom prst="rect">
            <a:avLst/>
          </a:prstGeom>
          <a:noFill/>
          <a:ln w="0">
            <a:noFill/>
          </a:ln>
        </p:spPr>
        <p:txBody>
          <a:bodyPr wrap="square" lIns="0" tIns="0" rIns="0" bIns="0" anchor="t">
            <a:noAutofit/>
          </a:bodyPr>
          <a:lstStyle>
            <a:defPPr algn="l">
              <a:defRPr sz="2100" b="0" i="0">
                <a:solidFill>
                  <a:srgbClr val="202020"/>
                </a:solidFill>
                <a:latin typeface="Calibri"/>
                <a:ea typeface="Calibri"/>
                <a:cs typeface="Calibri"/>
              </a:defRPr>
            </a:defPPr>
          </a:lstStyle>
          <a:p>
            <a:pPr algn="l">
              <a:buNone/>
              <a:defRPr sz="2100" b="0" i="0">
                <a:solidFill>
                  <a:srgbClr val="202020"/>
                </a:solidFill>
                <a:latin typeface="Calibri"/>
                <a:ea typeface="Calibri"/>
                <a:cs typeface="Calibri"/>
              </a:defRPr>
            </a:pPr>
            <a:r>
              <a:rPr sz="2100" b="0" i="0">
                <a:solidFill>
                  <a:srgbClr val="202020"/>
                </a:solidFill>
                <a:latin typeface="Calibri"/>
                <a:ea typeface="Calibri"/>
                <a:cs typeface="Calibri"/>
              </a:rPr>
              <a:t>5.3  Thank you</a:t>
            </a:r>
          </a:p>
        </p:txBody>
      </p:sp>
      <p:sp>
        <p:nvSpPr>
          <p:cNvPr id="23" name="content-11">
            <a:extLst>
              <a:ext uri="{FF2B5EF4-FFF2-40B4-BE49-F238E27FC236}">
                <a16:creationId xmlns:a16="http://schemas.microsoft.com/office/drawing/2014/main" id="{A54878E3-E280-400C-82AF-966294FD5EAF}"/>
              </a:ext>
            </a:extLst>
          </p:cNvPr>
          <p:cNvSpPr>
            <a:spLocks noGrp="1"/>
          </p:cNvSpPr>
          <p:nvPr/>
        </p:nvSpPr>
        <p:spPr>
          <a:xfrm>
            <a:off x="2143125" y="5257800"/>
            <a:ext cx="9429750" cy="428625"/>
          </a:xfrm>
          <a:prstGeom prst="rect">
            <a:avLst/>
          </a:prstGeom>
          <a:noFill/>
          <a:ln w="0">
            <a:noFill/>
          </a:ln>
        </p:spPr>
        <p:txBody>
          <a:bodyPr wrap="square" lIns="0" tIns="0" rIns="0" bIns="0" anchor="t">
            <a:noAutofit/>
          </a:bodyPr>
          <a:lstStyle>
            <a:defPPr algn="ctr">
              <a:defRPr sz="2175" b="0" i="0">
                <a:solidFill>
                  <a:srgbClr val="122E66"/>
                </a:solidFill>
                <a:latin typeface="Arial"/>
                <a:ea typeface="Arial"/>
                <a:cs typeface="Arial"/>
              </a:defRPr>
            </a:defPPr>
          </a:lstStyle>
          <a:p>
            <a:pPr algn="ctr">
              <a:buNone/>
              <a:defRPr sz="2175" b="0" i="0">
                <a:solidFill>
                  <a:srgbClr val="122E66"/>
                </a:solidFill>
                <a:latin typeface="Arial"/>
                <a:ea typeface="Arial"/>
                <a:cs typeface="Arial"/>
              </a:defRPr>
            </a:pPr>
            <a:r>
              <a:rPr sz="2175" b="0" i="0">
                <a:solidFill>
                  <a:srgbClr val="122E66"/>
                </a:solidFill>
                <a:latin typeface="Arial"/>
                <a:ea typeface="Arial"/>
                <a:cs typeface="Arial"/>
              </a:rPr>
              <a:t>Haichao Zhang</a:t>
            </a:r>
          </a:p>
        </p:txBody>
      </p:sp>
      <p:sp>
        <p:nvSpPr>
          <p:cNvPr id="24" name="content-12">
            <a:extLst>
              <a:ext uri="{FF2B5EF4-FFF2-40B4-BE49-F238E27FC236}">
                <a16:creationId xmlns:a16="http://schemas.microsoft.com/office/drawing/2014/main" id="{C6A4276E-0D61-40C7-A95C-18E94168BCEC}"/>
              </a:ext>
            </a:extLst>
          </p:cNvPr>
          <p:cNvSpPr>
            <a:spLocks noGrp="1"/>
          </p:cNvSpPr>
          <p:nvPr/>
        </p:nvSpPr>
        <p:spPr>
          <a:xfrm>
            <a:off x="2143125" y="5772150"/>
            <a:ext cx="9429750" cy="381000"/>
          </a:xfrm>
          <a:prstGeom prst="rect">
            <a:avLst/>
          </a:prstGeom>
          <a:noFill/>
          <a:ln w="0">
            <a:noFill/>
          </a:ln>
        </p:spPr>
        <p:txBody>
          <a:bodyPr wrap="square" lIns="0" tIns="0" rIns="0" bIns="0" anchor="t">
            <a:noAutofit/>
          </a:bodyPr>
          <a:lstStyle>
            <a:defPPr algn="ctr">
              <a:defRPr sz="1875" b="0" i="0">
                <a:solidFill>
                  <a:srgbClr val="122E66"/>
                </a:solidFill>
                <a:latin typeface="Arial"/>
                <a:ea typeface="Arial"/>
                <a:cs typeface="Arial"/>
              </a:defRPr>
            </a:defPPr>
          </a:lstStyle>
          <a:p>
            <a:pPr algn="ctr">
              <a:buNone/>
              <a:defRPr sz="1875" b="0" i="0">
                <a:solidFill>
                  <a:srgbClr val="122E66"/>
                </a:solidFill>
                <a:latin typeface="Arial"/>
                <a:ea typeface="Arial"/>
                <a:cs typeface="Arial"/>
              </a:defRPr>
            </a:pPr>
            <a:r>
              <a:rPr sz="1875" b="0" i="0">
                <a:solidFill>
                  <a:srgbClr val="122E66"/>
                </a:solidFill>
                <a:latin typeface="Arial"/>
                <a:ea typeface="Arial"/>
                <a:cs typeface="Arial"/>
                <a:hlinkClick r:id="rId5"/>
              </a:rPr>
              <a:t>github.com/zhang-haichao/Explain-and-Forget</a:t>
            </a:r>
          </a:p>
        </p:txBody>
      </p:sp>
      <p:sp>
        <p:nvSpPr>
          <p:cNvPr id="25" name="content-13">
            <a:extLst>
              <a:ext uri="{FF2B5EF4-FFF2-40B4-BE49-F238E27FC236}">
                <a16:creationId xmlns:a16="http://schemas.microsoft.com/office/drawing/2014/main" id="{8C39E0C4-3D0E-46EB-99F0-45D8E2C1CC3D}"/>
              </a:ext>
            </a:extLst>
          </p:cNvPr>
          <p:cNvSpPr>
            <a:spLocks noGrp="1"/>
          </p:cNvSpPr>
          <p:nvPr/>
        </p:nvSpPr>
        <p:spPr>
          <a:xfrm>
            <a:off x="2143125" y="6191250"/>
            <a:ext cx="9429750" cy="361950"/>
          </a:xfrm>
          <a:prstGeom prst="rect">
            <a:avLst/>
          </a:prstGeom>
          <a:noFill/>
          <a:ln w="0">
            <a:noFill/>
          </a:ln>
        </p:spPr>
        <p:txBody>
          <a:bodyPr wrap="square" lIns="0" tIns="0" rIns="0" bIns="0" anchor="t">
            <a:noAutofit/>
          </a:bodyPr>
          <a:lstStyle>
            <a:defPPr algn="ctr">
              <a:defRPr sz="1800" b="0" i="0">
                <a:solidFill>
                  <a:srgbClr val="202020"/>
                </a:solidFill>
                <a:latin typeface="Arial"/>
                <a:ea typeface="Arial"/>
                <a:cs typeface="Arial"/>
              </a:defRPr>
            </a:defPPr>
          </a:lstStyle>
          <a:p>
            <a:pPr algn="ctr">
              <a:buNone/>
              <a:defRPr sz="1800" b="0" i="0">
                <a:solidFill>
                  <a:srgbClr val="202020"/>
                </a:solidFill>
                <a:latin typeface="Arial"/>
                <a:ea typeface="Arial"/>
                <a:cs typeface="Arial"/>
              </a:defRPr>
            </a:pPr>
            <a:r>
              <a:rPr sz="1800" b="0" i="0">
                <a:solidFill>
                  <a:srgbClr val="202020"/>
                </a:solidFill>
                <a:latin typeface="Arial"/>
                <a:ea typeface="Arial"/>
                <a:cs typeface="Arial"/>
              </a:rPr>
              <a:t>haichao.zhang22@student.xjtlu.edu.cn</a:t>
            </a:r>
          </a:p>
        </p:txBody>
      </p:sp>
      <p:sp>
        <p:nvSpPr>
          <p:cNvPr id="26" name="content-14">
            <a:extLst>
              <a:ext uri="{FF2B5EF4-FFF2-40B4-BE49-F238E27FC236}">
                <a16:creationId xmlns:a16="http://schemas.microsoft.com/office/drawing/2014/main" id="{64D8C532-8031-4AAF-9C0F-D70C379ECC1C}"/>
              </a:ext>
            </a:extLst>
          </p:cNvPr>
          <p:cNvSpPr>
            <a:spLocks noGrp="1"/>
          </p:cNvSpPr>
          <p:nvPr/>
        </p:nvSpPr>
        <p:spPr>
          <a:xfrm>
            <a:off x="11125200" y="6562725"/>
            <a:ext cx="819150" cy="219075"/>
          </a:xfrm>
          <a:prstGeom prst="rect">
            <a:avLst/>
          </a:prstGeom>
          <a:noFill/>
          <a:ln w="0">
            <a:noFill/>
          </a:ln>
        </p:spPr>
        <p:txBody>
          <a:bodyPr wrap="square" lIns="0" tIns="0" rIns="0" bIns="0" anchor="t">
            <a:noAutofit/>
          </a:bodyPr>
          <a:lstStyle>
            <a:defPPr algn="r">
              <a:defRPr sz="1200" b="0" i="0">
                <a:solidFill>
                  <a:srgbClr val="999999"/>
                </a:solidFill>
                <a:latin typeface="Calibri"/>
                <a:ea typeface="Calibri"/>
                <a:cs typeface="Calibri"/>
              </a:defRPr>
            </a:defPPr>
          </a:lstStyle>
          <a:p>
            <a:pPr algn="r">
              <a:buNone/>
              <a:defRPr sz="1200" b="0" i="0">
                <a:solidFill>
                  <a:srgbClr val="999999"/>
                </a:solidFill>
                <a:latin typeface="Calibri"/>
                <a:ea typeface="Calibri"/>
                <a:cs typeface="Calibri"/>
              </a:defRPr>
            </a:pPr>
            <a:r>
              <a:rPr sz="1200" b="0" i="0">
                <a:solidFill>
                  <a:srgbClr val="999999"/>
                </a:solidFill>
                <a:latin typeface="Calibri"/>
                <a:ea typeface="Calibri"/>
                <a:cs typeface="Calibri"/>
              </a:rPr>
              <a:t>20 / 20</a:t>
            </a:r>
          </a:p>
        </p:txBody>
      </p:sp>
    </p:spTree>
    <p:extLst>
      <p:ext uri="{BB962C8B-B14F-4D97-AF65-F5344CB8AC3E}">
        <p14:creationId xmlns:p14="http://schemas.microsoft.com/office/powerpoint/2010/main" val="1507682213"/>
      </p:ext>
    </p:extLst>
  </p:cSld>
  <p:clrMapOvr>
    <a:masterClrMapping/>
  </p:clrMapOvr>
</p:sld>
</file>

<file path=ppt/theme/theme1.xml><?xml version="1.0" encoding="utf-8"?>
<a:theme xmlns:a="http://schemas.openxmlformats.org/drawingml/2006/main" name="Office 主题">
  <a:themeElements>
    <a:clrScheme name="学术蓝">
      <a:dk1>
        <a:srgbClr val="000000"/>
      </a:dk1>
      <a:lt1>
        <a:srgbClr val="FFFFFF"/>
      </a:lt1>
      <a:dk2>
        <a:srgbClr val="778495"/>
      </a:dk2>
      <a:lt2>
        <a:srgbClr val="F0F0F0"/>
      </a:lt2>
      <a:accent1>
        <a:srgbClr val="0E58A3"/>
      </a:accent1>
      <a:accent2>
        <a:srgbClr val="2673B7"/>
      </a:accent2>
      <a:accent3>
        <a:srgbClr val="122E66"/>
      </a:accent3>
      <a:accent4>
        <a:srgbClr val="4C7CA0"/>
      </a:accent4>
      <a:accent5>
        <a:srgbClr val="5E7A86"/>
      </a:accent5>
      <a:accent6>
        <a:srgbClr val="D9D9D9"/>
      </a:accent6>
      <a:hlink>
        <a:srgbClr val="F84D4D"/>
      </a:hlink>
      <a:folHlink>
        <a:srgbClr val="BFBFBF"/>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学术蓝">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学术蓝">
      <a:dk1>
        <a:srgbClr val="000000"/>
      </a:dk1>
      <a:lt1>
        <a:srgbClr val="FFFFFF"/>
      </a:lt1>
      <a:dk2>
        <a:srgbClr val="778495"/>
      </a:dk2>
      <a:lt2>
        <a:srgbClr val="F0F0F0"/>
      </a:lt2>
      <a:accent1>
        <a:srgbClr val="0E58A3"/>
      </a:accent1>
      <a:accent2>
        <a:srgbClr val="2673B7"/>
      </a:accent2>
      <a:accent3>
        <a:srgbClr val="122E66"/>
      </a:accent3>
      <a:accent4>
        <a:srgbClr val="4C7CA0"/>
      </a:accent4>
      <a:accent5>
        <a:srgbClr val="5E7A86"/>
      </a:accent5>
      <a:accent6>
        <a:srgbClr val="D9D9D9"/>
      </a:accent6>
      <a:hlink>
        <a:srgbClr val="F84D4D"/>
      </a:hlink>
      <a:folHlink>
        <a:srgbClr val="BFBFBF"/>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学术蓝">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4139</Words>
  <Application>Microsoft Office PowerPoint</Application>
  <DocSecurity>0</DocSecurity>
  <PresentationFormat>宽屏</PresentationFormat>
  <Paragraphs>392</Paragraphs>
  <Slides>20</Slides>
  <Notes>20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20</vt:i4>
      </vt:variant>
    </vt:vector>
  </HeadingPairs>
  <TitlesOfParts>
    <vt:vector size="26" baseType="lpstr">
      <vt:lpstr>OPPOSans B</vt:lpstr>
      <vt:lpstr>OPPOSans R</vt:lpstr>
      <vt:lpstr>阿里巴巴普惠体 R</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haichao zhang</cp:lastModifiedBy>
  <cp:revision>1</cp:revision>
  <dcterms:created xsi:type="dcterms:W3CDTF">2026-10-16T00:31:55Z</dcterms:created>
  <dcterms:modified xsi:type="dcterms:W3CDTF">2026-10-17T11:09:46Z</dcterms:modified>
</cp:coreProperties>
</file>